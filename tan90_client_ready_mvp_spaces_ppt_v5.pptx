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image" Target="../media/image-38-3.png"/><Relationship Id="rId4" Type="http://schemas.openxmlformats.org/officeDocument/2006/relationships/image" Target="../media/image-38-4.png"/><Relationship Id="rId5" Type="http://schemas.openxmlformats.org/officeDocument/2006/relationships/image" Target="../media/image-38-5.png"/><Relationship Id="rId6" Type="http://schemas.openxmlformats.org/officeDocument/2006/relationships/image" Target="../media/image-3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47548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T90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1078992" y="448056"/>
            <a:ext cx="2057400" cy="256032"/>
          </a:xfrm>
          <a:prstGeom prst="roundRect">
            <a:avLst>
              <a:gd name="adj" fmla="val 28571"/>
            </a:avLst>
          </a:prstGeom>
          <a:solidFill>
            <a:srgbClr val="DCFCE7"/>
          </a:solidFill>
          <a:ln w="12700">
            <a:solidFill>
              <a:srgbClr val="DCFCE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52144" y="498348"/>
            <a:ext cx="1911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047857"/>
                </a:solidFill>
              </a:rPr>
              <a:t>CLIENT-READY MVP BLUEPRINT</a:t>
            </a:r>
            <a:endParaRPr lang="en-US" sz="730" dirty="0"/>
          </a:p>
        </p:txBody>
      </p:sp>
      <p:sp>
        <p:nvSpPr>
          <p:cNvPr id="5" name="Text 3"/>
          <p:cNvSpPr/>
          <p:nvPr/>
        </p:nvSpPr>
        <p:spPr>
          <a:xfrm>
            <a:off x="566928" y="1097280"/>
            <a:ext cx="6309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Tan90 Unified Manufacturing ERP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85216" y="1938528"/>
            <a:ext cx="56692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CBD5E1"/>
                </a:solidFill>
              </a:rPr>
              <a:t>Complete MVP architecture with bundled spaces, modules, flows, role features, permissions, screenshots and delivery roadmap.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94360" y="2962656"/>
            <a:ext cx="1353312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7512" y="3081528"/>
            <a:ext cx="1207008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9224" y="3383280"/>
            <a:ext cx="1243584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47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BUNDLED SPACES</a:t>
            </a:r>
            <a:endParaRPr lang="en-US" sz="650" dirty="0"/>
          </a:p>
        </p:txBody>
      </p:sp>
      <p:sp>
        <p:nvSpPr>
          <p:cNvPr id="10" name="Shape 8"/>
          <p:cNvSpPr/>
          <p:nvPr/>
        </p:nvSpPr>
        <p:spPr>
          <a:xfrm>
            <a:off x="2176272" y="2962656"/>
            <a:ext cx="1444752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249424" y="3081528"/>
            <a:ext cx="1298448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56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231136" y="3383280"/>
            <a:ext cx="1335024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MAPPED CAPABILITIES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3840480" y="2962656"/>
            <a:ext cx="141732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913632" y="3081528"/>
            <a:ext cx="1271016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895344" y="3383280"/>
            <a:ext cx="1307592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HIERARCHY LEVELS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5394960" y="2962656"/>
            <a:ext cx="141732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68112" y="3081528"/>
            <a:ext cx="1271016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100%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449824" y="3383280"/>
            <a:ext cx="1307592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EA58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E2E TRACEABILITY</a:t>
            </a:r>
            <a:endParaRPr lang="en-US" sz="650" dirty="0"/>
          </a:p>
        </p:txBody>
      </p:sp>
      <p:sp>
        <p:nvSpPr>
          <p:cNvPr id="19" name="Shape 17"/>
          <p:cNvSpPr/>
          <p:nvPr/>
        </p:nvSpPr>
        <p:spPr>
          <a:xfrm>
            <a:off x="7072884" y="763524"/>
            <a:ext cx="4599432" cy="4919472"/>
          </a:xfrm>
          <a:prstGeom prst="roundRect">
            <a:avLst>
              <a:gd name="adj" fmla="val 1392"/>
            </a:avLst>
          </a:prstGeom>
          <a:solidFill>
            <a:srgbClr val="FFFFFF"/>
          </a:solidFill>
          <a:ln w="10160">
            <a:solidFill>
              <a:srgbClr val="CBD5E1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pic>
        <p:nvPicPr>
          <p:cNvPr id="20" name="Image 0" descr="/mnt/data/tan90-unified-mvp/preview-dashboard.png">    </p:cNvPr>
          <p:cNvPicPr>
            <a:picLocks noChangeAspect="1"/>
          </p:cNvPicPr>
          <p:nvPr/>
        </p:nvPicPr>
        <p:blipFill>
          <a:blip r:embed="rId1"/>
          <a:srcRect l="2000" r="44781" t="4000" b="14000"/>
          <a:stretch/>
        </p:blipFill>
        <p:spPr>
          <a:xfrm>
            <a:off x="7086600" y="777240"/>
            <a:ext cx="4572000" cy="489204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594360" y="5760720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From demand to dispatch closure — one operational system.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438912" y="6446520"/>
            <a:ext cx="11292840" cy="0"/>
          </a:xfrm>
          <a:prstGeom prst="line">
            <a:avLst/>
          </a:prstGeom>
          <a:noFill/>
          <a:ln w="7620">
            <a:solidFill>
              <a:srgbClr val="CBD5E1">
                <a:alpha val="55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38912" y="6565392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Tan90 Manufacturing ERP MVP • Client-ready architecture deck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11228832" y="654710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329184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047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SUMMARY</a:t>
            </a:r>
            <a:endParaRPr lang="en-US" sz="820" dirty="0"/>
          </a:p>
        </p:txBody>
      </p:sp>
      <p:sp>
        <p:nvSpPr>
          <p:cNvPr id="3" name="Text 1"/>
          <p:cNvSpPr/>
          <p:nvPr/>
        </p:nvSpPr>
        <p:spPr>
          <a:xfrm>
            <a:off x="438912" y="566928"/>
            <a:ext cx="9875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Build a focused MVP first, then scale to full ERP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38912" y="1133856"/>
            <a:ext cx="98755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The MVP should not copy a long 16-module sidebar. It should bundle related modules into spaces that match how departments actually work.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1737360"/>
            <a:ext cx="525780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E2E8F0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95528" y="1938528"/>
            <a:ext cx="640080" cy="256032"/>
          </a:xfrm>
          <a:prstGeom prst="roundRect">
            <a:avLst>
              <a:gd name="adj" fmla="val 28571"/>
            </a:avLst>
          </a:prstGeom>
          <a:solidFill>
            <a:srgbClr val="DCFCE7"/>
          </a:solidFill>
          <a:ln w="12700">
            <a:solidFill>
              <a:srgbClr val="DCFCE7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988820"/>
            <a:ext cx="4937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047857"/>
                </a:solidFill>
              </a:rPr>
              <a:t>01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527048" y="1938528"/>
            <a:ext cx="155448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goal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527048" y="2267712"/>
            <a:ext cx="397764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Reduce Excel/manual tracking and give live visibility from raw-material inward to final dispatch closure.</a:t>
            </a:r>
            <a:endParaRPr lang="en-US" sz="940" dirty="0"/>
          </a:p>
        </p:txBody>
      </p:sp>
      <p:sp>
        <p:nvSpPr>
          <p:cNvPr id="10" name="Shape 8"/>
          <p:cNvSpPr/>
          <p:nvPr/>
        </p:nvSpPr>
        <p:spPr>
          <a:xfrm>
            <a:off x="6217920" y="1737360"/>
            <a:ext cx="525780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E2E8F0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19088" y="1938528"/>
            <a:ext cx="640080" cy="256032"/>
          </a:xfrm>
          <a:prstGeom prst="roundRect">
            <a:avLst>
              <a:gd name="adj" fmla="val 28571"/>
            </a:avLst>
          </a:prstGeom>
          <a:solidFill>
            <a:srgbClr val="EDE9FE"/>
          </a:solidFill>
          <a:ln w="12700">
            <a:solidFill>
              <a:srgbClr val="EDE9FE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988820"/>
            <a:ext cx="4937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7C3AED"/>
                </a:solidFill>
              </a:rPr>
              <a:t>02</a:t>
            </a:r>
            <a:endParaRPr lang="en-US" sz="730" dirty="0"/>
          </a:p>
        </p:txBody>
      </p:sp>
      <p:sp>
        <p:nvSpPr>
          <p:cNvPr id="13" name="Text 11"/>
          <p:cNvSpPr/>
          <p:nvPr/>
        </p:nvSpPr>
        <p:spPr>
          <a:xfrm>
            <a:off x="7150608" y="1938528"/>
            <a:ext cx="155448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MVP approach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150608" y="2267712"/>
            <a:ext cx="397764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Bundle 16 ERP modules into 7 role-aware spaces with shared dashboards, approvals and traceability.</a:t>
            </a:r>
            <a:endParaRPr lang="en-US" sz="940" dirty="0"/>
          </a:p>
        </p:txBody>
      </p:sp>
      <p:sp>
        <p:nvSpPr>
          <p:cNvPr id="15" name="Shape 13"/>
          <p:cNvSpPr/>
          <p:nvPr/>
        </p:nvSpPr>
        <p:spPr>
          <a:xfrm>
            <a:off x="594360" y="3035808"/>
            <a:ext cx="525780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E2E8F0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95528" y="3236976"/>
            <a:ext cx="640080" cy="256032"/>
          </a:xfrm>
          <a:prstGeom prst="roundRect">
            <a:avLst>
              <a:gd name="adj" fmla="val 28571"/>
            </a:avLst>
          </a:prstGeom>
          <a:solidFill>
            <a:srgbClr val="DCFCE7"/>
          </a:solidFill>
          <a:ln w="12700">
            <a:solidFill>
              <a:srgbClr val="DCFCE7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287268"/>
            <a:ext cx="4937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047857"/>
                </a:solidFill>
              </a:rPr>
              <a:t>03</a:t>
            </a:r>
            <a:endParaRPr lang="en-US" sz="730" dirty="0"/>
          </a:p>
        </p:txBody>
      </p:sp>
      <p:sp>
        <p:nvSpPr>
          <p:cNvPr id="18" name="Text 16"/>
          <p:cNvSpPr/>
          <p:nvPr/>
        </p:nvSpPr>
        <p:spPr>
          <a:xfrm>
            <a:off x="1527048" y="3236976"/>
            <a:ext cx="155448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demo goal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527048" y="3566160"/>
            <a:ext cx="397764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one complete batch moving from demand → MRP → purchase → GRN/QC → production → warehouse → POD.</a:t>
            </a:r>
            <a:endParaRPr lang="en-US" sz="940" dirty="0"/>
          </a:p>
        </p:txBody>
      </p:sp>
      <p:sp>
        <p:nvSpPr>
          <p:cNvPr id="20" name="Shape 18"/>
          <p:cNvSpPr/>
          <p:nvPr/>
        </p:nvSpPr>
        <p:spPr>
          <a:xfrm>
            <a:off x="6217920" y="3035808"/>
            <a:ext cx="525780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E2E8F0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19088" y="3236976"/>
            <a:ext cx="640080" cy="256032"/>
          </a:xfrm>
          <a:prstGeom prst="roundRect">
            <a:avLst>
              <a:gd name="adj" fmla="val 28571"/>
            </a:avLst>
          </a:prstGeom>
          <a:solidFill>
            <a:srgbClr val="EDE9FE"/>
          </a:solidFill>
          <a:ln w="12700">
            <a:solidFill>
              <a:srgbClr val="EDE9FE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3287268"/>
            <a:ext cx="4937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7C3AED"/>
                </a:solidFill>
              </a:rPr>
              <a:t>04</a:t>
            </a:r>
            <a:endParaRPr lang="en-US" sz="730" dirty="0"/>
          </a:p>
        </p:txBody>
      </p:sp>
      <p:sp>
        <p:nvSpPr>
          <p:cNvPr id="23" name="Text 21"/>
          <p:cNvSpPr/>
          <p:nvPr/>
        </p:nvSpPr>
        <p:spPr>
          <a:xfrm>
            <a:off x="7150608" y="3236976"/>
            <a:ext cx="155448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 rule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150608" y="3566160"/>
            <a:ext cx="397764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new spaces beside current Tan90 pages. Do not break current screens, routes or workflows.</a:t>
            </a:r>
            <a:endParaRPr lang="en-US" sz="940" dirty="0"/>
          </a:p>
        </p:txBody>
      </p:sp>
      <p:sp>
        <p:nvSpPr>
          <p:cNvPr id="25" name="Shape 23"/>
          <p:cNvSpPr/>
          <p:nvPr/>
        </p:nvSpPr>
        <p:spPr>
          <a:xfrm>
            <a:off x="1024128" y="4663440"/>
            <a:ext cx="10149840" cy="777240"/>
          </a:xfrm>
          <a:prstGeom prst="roundRect">
            <a:avLst>
              <a:gd name="adj" fmla="val 8235"/>
            </a:avLst>
          </a:prstGeom>
          <a:solidFill>
            <a:srgbClr val="ECFDF5"/>
          </a:solidFill>
          <a:ln w="10160">
            <a:solidFill>
              <a:srgbClr val="A7F3D0">
                <a:alpha val="92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325880" y="4882896"/>
            <a:ext cx="950976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47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Recommended MVP name: Tan90 Operations Command OS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691640" y="5239512"/>
            <a:ext cx="877824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space-based manufacturing ERP for stock, production, quality, warehouse, delivery, access control and traceability.</a:t>
            </a:r>
            <a:endParaRPr lang="en-US" sz="940" dirty="0"/>
          </a:p>
        </p:txBody>
      </p:sp>
      <p:sp>
        <p:nvSpPr>
          <p:cNvPr id="28" name="Shape 26"/>
          <p:cNvSpPr/>
          <p:nvPr/>
        </p:nvSpPr>
        <p:spPr>
          <a:xfrm>
            <a:off x="438912" y="6446520"/>
            <a:ext cx="11292840" cy="0"/>
          </a:xfrm>
          <a:prstGeom prst="line">
            <a:avLst/>
          </a:prstGeom>
          <a:noFill/>
          <a:ln w="7620">
            <a:solidFill>
              <a:srgbClr val="CBD5E1">
                <a:alpha val="5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8912" y="6565392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Tan90 Manufacturing ERP MVP • Client-ready architecture deck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11228832" y="654710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329184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047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FOUNDATION</a:t>
            </a:r>
            <a:endParaRPr lang="en-US" sz="820" dirty="0"/>
          </a:p>
        </p:txBody>
      </p:sp>
      <p:sp>
        <p:nvSpPr>
          <p:cNvPr id="3" name="Text 1"/>
          <p:cNvSpPr/>
          <p:nvPr/>
        </p:nvSpPr>
        <p:spPr>
          <a:xfrm>
            <a:off x="438912" y="566928"/>
            <a:ext cx="9875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Inputs used to design the MVP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38912" y="1133856"/>
            <a:ext cx="98755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The deck combines live Tan90 blueprint pages, the uploaded requirement notes, current Laravel code structure, UI references and manufacturing/security standards.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10927080" cy="566928"/>
          </a:xfrm>
          <a:prstGeom prst="roundRect">
            <a:avLst>
              <a:gd name="adj" fmla="val 11290"/>
            </a:avLst>
          </a:prstGeom>
          <a:solidFill>
            <a:srgbClr val="F8FAFC"/>
          </a:solidFill>
          <a:ln w="10160">
            <a:solidFill>
              <a:srgbClr val="E5E7EB">
                <a:alpha val="9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755648"/>
            <a:ext cx="310896" cy="256032"/>
          </a:xfrm>
          <a:prstGeom prst="roundRect">
            <a:avLst>
              <a:gd name="adj" fmla="val 28571"/>
            </a:avLst>
          </a:prstGeom>
          <a:solidFill>
            <a:srgbClr val="DCFCE7"/>
          </a:solidFill>
          <a:ln w="12700">
            <a:solidFill>
              <a:srgbClr val="DCFCE7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1805940"/>
            <a:ext cx="164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047857"/>
                </a:solidFill>
              </a:rPr>
              <a:t>1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325880" y="1746504"/>
            <a:ext cx="214884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4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Tan90 live blueprint</a:t>
            </a:r>
            <a:endParaRPr lang="en-US" sz="1240" dirty="0"/>
          </a:p>
        </p:txBody>
      </p:sp>
      <p:sp>
        <p:nvSpPr>
          <p:cNvPr id="9" name="Text 7"/>
          <p:cNvSpPr/>
          <p:nvPr/>
        </p:nvSpPr>
        <p:spPr>
          <a:xfrm>
            <a:off x="3703320" y="1746504"/>
            <a:ext cx="731520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Positions the product as a cold-chain manufacturing ERP covering material, production, QC and dispatch; MVP weeks shown as 8–10.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40080" y="2368296"/>
            <a:ext cx="1092708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2523744"/>
            <a:ext cx="310896" cy="256032"/>
          </a:xfrm>
          <a:prstGeom prst="roundRect">
            <a:avLst>
              <a:gd name="adj" fmla="val 28571"/>
            </a:avLst>
          </a:prstGeom>
          <a:solidFill>
            <a:srgbClr val="DCFCE7"/>
          </a:solidFill>
          <a:ln w="12700">
            <a:solidFill>
              <a:srgbClr val="DCFCE7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1832" y="2574036"/>
            <a:ext cx="164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047857"/>
                </a:solidFill>
              </a:rPr>
              <a:t>2</a:t>
            </a:r>
            <a:endParaRPr lang="en-US" sz="730" dirty="0"/>
          </a:p>
        </p:txBody>
      </p:sp>
      <p:sp>
        <p:nvSpPr>
          <p:cNvPr id="13" name="Text 11"/>
          <p:cNvSpPr/>
          <p:nvPr/>
        </p:nvSpPr>
        <p:spPr>
          <a:xfrm>
            <a:off x="1325880" y="2514600"/>
            <a:ext cx="214884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4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Uploaded requirement notes</a:t>
            </a:r>
            <a:endParaRPr lang="en-US" sz="1240" dirty="0"/>
          </a:p>
        </p:txBody>
      </p:sp>
      <p:sp>
        <p:nvSpPr>
          <p:cNvPr id="14" name="Text 12"/>
          <p:cNvSpPr/>
          <p:nvPr/>
        </p:nvSpPr>
        <p:spPr>
          <a:xfrm>
            <a:off x="3703320" y="2514600"/>
            <a:ext cx="731520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Defines the E2E flow: demand, planning, procurement, GRN, QC, stock, production, FG, dispatch, POD and reports.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40080" y="3136392"/>
            <a:ext cx="10927080" cy="566928"/>
          </a:xfrm>
          <a:prstGeom prst="roundRect">
            <a:avLst>
              <a:gd name="adj" fmla="val 11290"/>
            </a:avLst>
          </a:prstGeom>
          <a:solidFill>
            <a:srgbClr val="F8FAFC"/>
          </a:solidFill>
          <a:ln w="10160">
            <a:solidFill>
              <a:srgbClr val="E5E7EB">
                <a:alpha val="9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" y="3291840"/>
            <a:ext cx="310896" cy="256032"/>
          </a:xfrm>
          <a:prstGeom prst="roundRect">
            <a:avLst>
              <a:gd name="adj" fmla="val 28571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1832" y="3342132"/>
            <a:ext cx="164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2563EB"/>
                </a:solidFill>
              </a:rPr>
              <a:t>3</a:t>
            </a:r>
            <a:endParaRPr lang="en-US" sz="730" dirty="0"/>
          </a:p>
        </p:txBody>
      </p:sp>
      <p:sp>
        <p:nvSpPr>
          <p:cNvPr id="18" name="Text 16"/>
          <p:cNvSpPr/>
          <p:nvPr/>
        </p:nvSpPr>
        <p:spPr>
          <a:xfrm>
            <a:off x="1325880" y="3282696"/>
            <a:ext cx="214884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4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Laravel code</a:t>
            </a:r>
            <a:endParaRPr lang="en-US" sz="1240" dirty="0"/>
          </a:p>
        </p:txBody>
      </p:sp>
      <p:sp>
        <p:nvSpPr>
          <p:cNvPr id="19" name="Text 17"/>
          <p:cNvSpPr/>
          <p:nvPr/>
        </p:nvSpPr>
        <p:spPr>
          <a:xfrm>
            <a:off x="3703320" y="3282696"/>
            <a:ext cx="731520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Shows existing operational roles plus Tan90 Master Data/BOM registry; new MVP should be additive.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40080" y="3904488"/>
            <a:ext cx="1092708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" y="4059936"/>
            <a:ext cx="310896" cy="256032"/>
          </a:xfrm>
          <a:prstGeom prst="roundRect">
            <a:avLst>
              <a:gd name="adj" fmla="val 28571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1832" y="4110228"/>
            <a:ext cx="164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2563EB"/>
                </a:solidFill>
              </a:rPr>
              <a:t>4</a:t>
            </a:r>
            <a:endParaRPr lang="en-US" sz="730" dirty="0"/>
          </a:p>
        </p:txBody>
      </p:sp>
      <p:sp>
        <p:nvSpPr>
          <p:cNvPr id="23" name="Text 21"/>
          <p:cNvSpPr/>
          <p:nvPr/>
        </p:nvSpPr>
        <p:spPr>
          <a:xfrm>
            <a:off x="1325880" y="4050792"/>
            <a:ext cx="214884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4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UI references</a:t>
            </a:r>
            <a:endParaRPr lang="en-US" sz="1240" dirty="0"/>
          </a:p>
        </p:txBody>
      </p:sp>
      <p:sp>
        <p:nvSpPr>
          <p:cNvPr id="24" name="Text 22"/>
          <p:cNvSpPr/>
          <p:nvPr/>
        </p:nvSpPr>
        <p:spPr>
          <a:xfrm>
            <a:off x="3703320" y="4050792"/>
            <a:ext cx="731520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Role/user management screens and MacBook-inspired prototype screenshots inform the admin UX.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40080" y="4672584"/>
            <a:ext cx="10927080" cy="566928"/>
          </a:xfrm>
          <a:prstGeom prst="roundRect">
            <a:avLst>
              <a:gd name="adj" fmla="val 11290"/>
            </a:avLst>
          </a:prstGeom>
          <a:solidFill>
            <a:srgbClr val="F8FAFC"/>
          </a:solidFill>
          <a:ln w="10160">
            <a:solidFill>
              <a:srgbClr val="E5E7EB">
                <a:alpha val="92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68680" y="4828032"/>
            <a:ext cx="310896" cy="256032"/>
          </a:xfrm>
          <a:prstGeom prst="roundRect">
            <a:avLst>
              <a:gd name="adj" fmla="val 28571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41832" y="4878324"/>
            <a:ext cx="164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2563EB"/>
                </a:solidFill>
              </a:rPr>
              <a:t>5</a:t>
            </a:r>
            <a:endParaRPr lang="en-US" sz="730" dirty="0"/>
          </a:p>
        </p:txBody>
      </p:sp>
      <p:sp>
        <p:nvSpPr>
          <p:cNvPr id="28" name="Text 26"/>
          <p:cNvSpPr/>
          <p:nvPr/>
        </p:nvSpPr>
        <p:spPr>
          <a:xfrm>
            <a:off x="1325880" y="4818888"/>
            <a:ext cx="214884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4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Standards alignment</a:t>
            </a:r>
            <a:endParaRPr lang="en-US" sz="1240" dirty="0"/>
          </a:p>
        </p:txBody>
      </p:sp>
      <p:sp>
        <p:nvSpPr>
          <p:cNvPr id="29" name="Text 27"/>
          <p:cNvSpPr/>
          <p:nvPr/>
        </p:nvSpPr>
        <p:spPr>
          <a:xfrm>
            <a:off x="3703320" y="4818888"/>
            <a:ext cx="731520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RBAC hierarchy, deny-by-default authorization, traceability events and manufacturing operations separation.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38912" y="6446520"/>
            <a:ext cx="11292840" cy="0"/>
          </a:xfrm>
          <a:prstGeom prst="line">
            <a:avLst/>
          </a:prstGeom>
          <a:noFill/>
          <a:ln w="7620">
            <a:solidFill>
              <a:srgbClr val="CBD5E1">
                <a:alpha val="5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8912" y="6565392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Tan90 Manufacturing ERP MVP • Client-ready architecture deck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11228832" y="654710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329184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86EFA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GAP</a:t>
            </a:r>
            <a:endParaRPr lang="en-US" sz="820" dirty="0"/>
          </a:p>
        </p:txBody>
      </p:sp>
      <p:sp>
        <p:nvSpPr>
          <p:cNvPr id="3" name="Text 1"/>
          <p:cNvSpPr/>
          <p:nvPr/>
        </p:nvSpPr>
        <p:spPr>
          <a:xfrm>
            <a:off x="438912" y="566928"/>
            <a:ext cx="9875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a space architecture is needed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38912" y="1133856"/>
            <a:ext cx="98755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The present app has useful pieces, but the client needs a single journey across material, production, quality and delivery.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77240" y="1627632"/>
            <a:ext cx="10698480" cy="621792"/>
          </a:xfrm>
          <a:prstGeom prst="roundRect">
            <a:avLst>
              <a:gd name="adj" fmla="val 10294"/>
            </a:avLst>
          </a:prstGeom>
          <a:solidFill>
            <a:srgbClr val="111827"/>
          </a:solidFill>
          <a:ln w="10160">
            <a:solidFill>
              <a:srgbClr val="334155">
                <a:alpha val="92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" y="1801368"/>
            <a:ext cx="187452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Existing strength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3154680" y="1801368"/>
            <a:ext cx="758952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Gate, unloading, QC, GRN posting, finance review, master-data registry, BOM/recipe/costing foundation.</a:t>
            </a:r>
            <a:endParaRPr lang="en-US" sz="890" dirty="0"/>
          </a:p>
        </p:txBody>
      </p:sp>
      <p:sp>
        <p:nvSpPr>
          <p:cNvPr id="8" name="Shape 6"/>
          <p:cNvSpPr/>
          <p:nvPr/>
        </p:nvSpPr>
        <p:spPr>
          <a:xfrm>
            <a:off x="777240" y="2468880"/>
            <a:ext cx="10698480" cy="621792"/>
          </a:xfrm>
          <a:prstGeom prst="roundRect">
            <a:avLst>
              <a:gd name="adj" fmla="val 10294"/>
            </a:avLst>
          </a:prstGeom>
          <a:solidFill>
            <a:srgbClr val="FEF3C7"/>
          </a:solidFill>
          <a:ln w="10160">
            <a:solidFill>
              <a:srgbClr val="FCD34D">
                <a:alpha val="92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8992" y="2642616"/>
            <a:ext cx="187452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92400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MVP flow</a:t>
            </a:r>
            <a:endParaRPr lang="en-US" sz="1220" dirty="0"/>
          </a:p>
        </p:txBody>
      </p:sp>
      <p:sp>
        <p:nvSpPr>
          <p:cNvPr id="10" name="Text 8"/>
          <p:cNvSpPr/>
          <p:nvPr/>
        </p:nvSpPr>
        <p:spPr>
          <a:xfrm>
            <a:off x="3154680" y="2642616"/>
            <a:ext cx="758952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92400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Demand/MRP, production planning, work orders, material issue, shop-floor execution, wastage, FG warehouse, dispatch/POD.</a:t>
            </a:r>
            <a:endParaRPr lang="en-US" sz="890" dirty="0"/>
          </a:p>
        </p:txBody>
      </p:sp>
      <p:sp>
        <p:nvSpPr>
          <p:cNvPr id="11" name="Shape 9"/>
          <p:cNvSpPr/>
          <p:nvPr/>
        </p:nvSpPr>
        <p:spPr>
          <a:xfrm>
            <a:off x="777240" y="3310128"/>
            <a:ext cx="10698480" cy="621792"/>
          </a:xfrm>
          <a:prstGeom prst="roundRect">
            <a:avLst>
              <a:gd name="adj" fmla="val 10294"/>
            </a:avLst>
          </a:prstGeom>
          <a:solidFill>
            <a:srgbClr val="111827"/>
          </a:solidFill>
          <a:ln w="10160">
            <a:solidFill>
              <a:srgbClr val="334155">
                <a:alpha val="92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78992" y="3483864"/>
            <a:ext cx="187452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 gap</a:t>
            </a:r>
            <a:endParaRPr lang="en-US" sz="1220" dirty="0"/>
          </a:p>
        </p:txBody>
      </p:sp>
      <p:sp>
        <p:nvSpPr>
          <p:cNvPr id="13" name="Text 11"/>
          <p:cNvSpPr/>
          <p:nvPr/>
        </p:nvSpPr>
        <p:spPr>
          <a:xfrm>
            <a:off x="3154680" y="3483864"/>
            <a:ext cx="758952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enum roles and Tan90 DB roles are not yet unified into one hierarchy + permission ceiling model.</a:t>
            </a:r>
            <a:endParaRPr lang="en-US" sz="890" dirty="0"/>
          </a:p>
        </p:txBody>
      </p:sp>
      <p:sp>
        <p:nvSpPr>
          <p:cNvPr id="14" name="Shape 12"/>
          <p:cNvSpPr/>
          <p:nvPr/>
        </p:nvSpPr>
        <p:spPr>
          <a:xfrm>
            <a:off x="777240" y="4151376"/>
            <a:ext cx="10698480" cy="621792"/>
          </a:xfrm>
          <a:prstGeom prst="roundRect">
            <a:avLst>
              <a:gd name="adj" fmla="val 10294"/>
            </a:avLst>
          </a:prstGeom>
          <a:solidFill>
            <a:srgbClr val="111827"/>
          </a:solidFill>
          <a:ln w="10160">
            <a:solidFill>
              <a:srgbClr val="334155">
                <a:alpha val="92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8992" y="4325112"/>
            <a:ext cx="187452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UI gap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3154680" y="4325112"/>
            <a:ext cx="758952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 screens need deeper permissions: route, action, field, saved view, widget and user-specific overrides.</a:t>
            </a:r>
            <a:endParaRPr lang="en-US" sz="890" dirty="0"/>
          </a:p>
        </p:txBody>
      </p:sp>
      <p:sp>
        <p:nvSpPr>
          <p:cNvPr id="17" name="Shape 15"/>
          <p:cNvSpPr/>
          <p:nvPr/>
        </p:nvSpPr>
        <p:spPr>
          <a:xfrm>
            <a:off x="1417320" y="5193792"/>
            <a:ext cx="9326880" cy="658368"/>
          </a:xfrm>
          <a:prstGeom prst="roundRect">
            <a:avLst>
              <a:gd name="adj" fmla="val 9722"/>
            </a:avLst>
          </a:prstGeom>
          <a:solidFill>
            <a:srgbClr val="064E3B"/>
          </a:solidFill>
          <a:ln w="10160">
            <a:solidFill>
              <a:srgbClr val="10B981">
                <a:alpha val="92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737360" y="5422392"/>
            <a:ext cx="868680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MVP target: complete operational slice + advanced access + dashboard builder, without replacing existing Tan90 pages.</a:t>
            </a:r>
            <a:endParaRPr lang="en-US" sz="1070" dirty="0"/>
          </a:p>
        </p:txBody>
      </p:sp>
      <p:sp>
        <p:nvSpPr>
          <p:cNvPr id="19" name="Shape 17"/>
          <p:cNvSpPr/>
          <p:nvPr/>
        </p:nvSpPr>
        <p:spPr>
          <a:xfrm>
            <a:off x="438912" y="6446520"/>
            <a:ext cx="11292840" cy="0"/>
          </a:xfrm>
          <a:prstGeom prst="line">
            <a:avLst/>
          </a:prstGeom>
          <a:noFill/>
          <a:ln w="7620">
            <a:solidFill>
              <a:srgbClr val="CBD5E1">
                <a:alpha val="5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6565392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Tan90 Manufacturing ERP MVP • Client-ready architecture deck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11228832" y="654710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329184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047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MVP DESIGN PRINCIPLES</a:t>
            </a:r>
            <a:endParaRPr lang="en-US" sz="820" dirty="0"/>
          </a:p>
        </p:txBody>
      </p:sp>
      <p:sp>
        <p:nvSpPr>
          <p:cNvPr id="3" name="Text 1"/>
          <p:cNvSpPr/>
          <p:nvPr/>
        </p:nvSpPr>
        <p:spPr>
          <a:xfrm>
            <a:off x="438912" y="566928"/>
            <a:ext cx="9875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Minimum, connected, demonstrable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38912" y="1133856"/>
            <a:ext cx="98755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Every space should produce a live business value, not just a menu item.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600200"/>
            <a:ext cx="3246120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23544" y="1801368"/>
            <a:ext cx="347472" cy="256032"/>
          </a:xfrm>
          <a:prstGeom prst="roundRect">
            <a:avLst>
              <a:gd name="adj" fmla="val 28571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96696" y="1851660"/>
            <a:ext cx="201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2563EB"/>
                </a:solidFill>
              </a:rPr>
              <a:t>1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453896" y="1801368"/>
            <a:ext cx="201168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Flow-first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87552" y="2185416"/>
            <a:ext cx="2615184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 vertical slice from demand to POD closure, not isolated CRUD pages.</a:t>
            </a:r>
            <a:endParaRPr lang="en-US" sz="870" dirty="0"/>
          </a:p>
        </p:txBody>
      </p:sp>
      <p:sp>
        <p:nvSpPr>
          <p:cNvPr id="10" name="Shape 8"/>
          <p:cNvSpPr/>
          <p:nvPr/>
        </p:nvSpPr>
        <p:spPr>
          <a:xfrm>
            <a:off x="4389120" y="1600200"/>
            <a:ext cx="3246120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0160">
            <a:solidFill>
              <a:srgbClr val="10B981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26864" y="1801368"/>
            <a:ext cx="347472" cy="256032"/>
          </a:xfrm>
          <a:prstGeom prst="roundRect">
            <a:avLst>
              <a:gd name="adj" fmla="val 28571"/>
            </a:avLst>
          </a:prstGeom>
          <a:solidFill>
            <a:srgbClr val="A7F3D0"/>
          </a:solidFill>
          <a:ln w="12700">
            <a:solidFill>
              <a:srgbClr val="A7F3D0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0016" y="1851660"/>
            <a:ext cx="201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047857"/>
                </a:solidFill>
              </a:rPr>
              <a:t>2</a:t>
            </a:r>
            <a:endParaRPr lang="en-US" sz="730" dirty="0"/>
          </a:p>
        </p:txBody>
      </p:sp>
      <p:sp>
        <p:nvSpPr>
          <p:cNvPr id="13" name="Text 11"/>
          <p:cNvSpPr/>
          <p:nvPr/>
        </p:nvSpPr>
        <p:spPr>
          <a:xfrm>
            <a:off x="5157216" y="1801368"/>
            <a:ext cx="201168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Space-based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90872" y="2185416"/>
            <a:ext cx="2615184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Bundle related modules into fewer workspaces so the sidebar is clean.</a:t>
            </a:r>
            <a:endParaRPr lang="en-US" sz="870" dirty="0"/>
          </a:p>
        </p:txBody>
      </p:sp>
      <p:sp>
        <p:nvSpPr>
          <p:cNvPr id="15" name="Shape 13"/>
          <p:cNvSpPr/>
          <p:nvPr/>
        </p:nvSpPr>
        <p:spPr>
          <a:xfrm>
            <a:off x="8092440" y="1600200"/>
            <a:ext cx="3246120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30184" y="1801368"/>
            <a:ext cx="347472" cy="256032"/>
          </a:xfrm>
          <a:prstGeom prst="roundRect">
            <a:avLst>
              <a:gd name="adj" fmla="val 28571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03336" y="1851660"/>
            <a:ext cx="201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2563EB"/>
                </a:solidFill>
              </a:rPr>
              <a:t>3</a:t>
            </a:r>
            <a:endParaRPr lang="en-US" sz="730" dirty="0"/>
          </a:p>
        </p:txBody>
      </p:sp>
      <p:sp>
        <p:nvSpPr>
          <p:cNvPr id="18" name="Text 16"/>
          <p:cNvSpPr/>
          <p:nvPr/>
        </p:nvSpPr>
        <p:spPr>
          <a:xfrm>
            <a:off x="8860536" y="1801368"/>
            <a:ext cx="201168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Role-aware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394192" y="2185416"/>
            <a:ext cx="2615184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Head, Manager and Executive sees only relevant screens, data and widgets.</a:t>
            </a:r>
            <a:endParaRPr lang="en-US" sz="870" dirty="0"/>
          </a:p>
        </p:txBody>
      </p:sp>
      <p:sp>
        <p:nvSpPr>
          <p:cNvPr id="20" name="Shape 18"/>
          <p:cNvSpPr/>
          <p:nvPr/>
        </p:nvSpPr>
        <p:spPr>
          <a:xfrm>
            <a:off x="685800" y="3081528"/>
            <a:ext cx="3246120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23544" y="3282696"/>
            <a:ext cx="347472" cy="256032"/>
          </a:xfrm>
          <a:prstGeom prst="roundRect">
            <a:avLst>
              <a:gd name="adj" fmla="val 28571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96696" y="3332988"/>
            <a:ext cx="201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2563EB"/>
                </a:solidFill>
              </a:rPr>
              <a:t>4</a:t>
            </a:r>
            <a:endParaRPr lang="en-US" sz="730" dirty="0"/>
          </a:p>
        </p:txBody>
      </p:sp>
      <p:sp>
        <p:nvSpPr>
          <p:cNvPr id="23" name="Text 21"/>
          <p:cNvSpPr/>
          <p:nvPr/>
        </p:nvSpPr>
        <p:spPr>
          <a:xfrm>
            <a:off x="1453896" y="3282696"/>
            <a:ext cx="201168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Ledger-backed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87552" y="3666744"/>
            <a:ext cx="2615184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Stock, batch, cost and audit are event ledgers—not just final balances.</a:t>
            </a:r>
            <a:endParaRPr lang="en-US" sz="870" dirty="0"/>
          </a:p>
        </p:txBody>
      </p:sp>
      <p:sp>
        <p:nvSpPr>
          <p:cNvPr id="25" name="Shape 23"/>
          <p:cNvSpPr/>
          <p:nvPr/>
        </p:nvSpPr>
        <p:spPr>
          <a:xfrm>
            <a:off x="4389120" y="3081528"/>
            <a:ext cx="3246120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26864" y="3282696"/>
            <a:ext cx="347472" cy="256032"/>
          </a:xfrm>
          <a:prstGeom prst="roundRect">
            <a:avLst>
              <a:gd name="adj" fmla="val 28571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0016" y="3332988"/>
            <a:ext cx="201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2563EB"/>
                </a:solidFill>
              </a:rPr>
              <a:t>5</a:t>
            </a:r>
            <a:endParaRPr lang="en-US" sz="730" dirty="0"/>
          </a:p>
        </p:txBody>
      </p:sp>
      <p:sp>
        <p:nvSpPr>
          <p:cNvPr id="28" name="Text 26"/>
          <p:cNvSpPr/>
          <p:nvPr/>
        </p:nvSpPr>
        <p:spPr>
          <a:xfrm>
            <a:off x="5157216" y="3282696"/>
            <a:ext cx="201168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Additive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690872" y="3666744"/>
            <a:ext cx="2615184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change current Tan90 pages; add the new MVP layer beside them.</a:t>
            </a:r>
            <a:endParaRPr lang="en-US" sz="870" dirty="0"/>
          </a:p>
        </p:txBody>
      </p:sp>
      <p:sp>
        <p:nvSpPr>
          <p:cNvPr id="30" name="Shape 28"/>
          <p:cNvSpPr/>
          <p:nvPr/>
        </p:nvSpPr>
        <p:spPr>
          <a:xfrm>
            <a:off x="8092440" y="3081528"/>
            <a:ext cx="3246120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330184" y="3282696"/>
            <a:ext cx="347472" cy="256032"/>
          </a:xfrm>
          <a:prstGeom prst="roundRect">
            <a:avLst>
              <a:gd name="adj" fmla="val 28571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03336" y="3332988"/>
            <a:ext cx="201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2563EB"/>
                </a:solidFill>
              </a:rPr>
              <a:t>6</a:t>
            </a:r>
            <a:endParaRPr lang="en-US" sz="730" dirty="0"/>
          </a:p>
        </p:txBody>
      </p:sp>
      <p:sp>
        <p:nvSpPr>
          <p:cNvPr id="33" name="Text 31"/>
          <p:cNvSpPr/>
          <p:nvPr/>
        </p:nvSpPr>
        <p:spPr>
          <a:xfrm>
            <a:off x="8860536" y="3282696"/>
            <a:ext cx="201168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Demo-ready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394192" y="3666744"/>
            <a:ext cx="2615184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Seed hierarchy-wise logins and sample data so the client can test the flow easily.</a:t>
            </a:r>
            <a:endParaRPr lang="en-US" sz="870" dirty="0"/>
          </a:p>
        </p:txBody>
      </p:sp>
      <p:sp>
        <p:nvSpPr>
          <p:cNvPr id="35" name="Shape 33"/>
          <p:cNvSpPr/>
          <p:nvPr/>
        </p:nvSpPr>
        <p:spPr>
          <a:xfrm>
            <a:off x="438912" y="6446520"/>
            <a:ext cx="11292840" cy="0"/>
          </a:xfrm>
          <a:prstGeom prst="line">
            <a:avLst/>
          </a:prstGeom>
          <a:noFill/>
          <a:ln w="7620">
            <a:solidFill>
              <a:srgbClr val="CBD5E1">
                <a:alpha val="55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8912" y="6565392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Tan90 Manufacturing ERP MVP • Client-ready architecture deck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11228832" y="654710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329184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86EFA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SPACE ARCHITECTURE</a:t>
            </a:r>
            <a:endParaRPr lang="en-US" sz="820" dirty="0"/>
          </a:p>
        </p:txBody>
      </p:sp>
      <p:sp>
        <p:nvSpPr>
          <p:cNvPr id="3" name="Text 1"/>
          <p:cNvSpPr/>
          <p:nvPr/>
        </p:nvSpPr>
        <p:spPr>
          <a:xfrm>
            <a:off x="438912" y="566928"/>
            <a:ext cx="9875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Seven spaces instead of a 16-module maze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38912" y="1133856"/>
            <a:ext cx="98755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Each space contains related modules, screens, dashboards, data scopes and approvals.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88920" y="2221992"/>
            <a:ext cx="566928" cy="0"/>
          </a:xfrm>
          <a:prstGeom prst="line">
            <a:avLst/>
          </a:prstGeom>
          <a:noFill/>
          <a:ln w="17145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5577840" y="2221992"/>
            <a:ext cx="566928" cy="0"/>
          </a:xfrm>
          <a:prstGeom prst="line">
            <a:avLst/>
          </a:prstGeom>
          <a:noFill/>
          <a:ln w="17145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8366760" y="2221992"/>
            <a:ext cx="566928" cy="0"/>
          </a:xfrm>
          <a:prstGeom prst="line">
            <a:avLst/>
          </a:prstGeom>
          <a:noFill/>
          <a:ln w="17145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0012680" y="2697480"/>
            <a:ext cx="-1463040" cy="1097280"/>
          </a:xfrm>
          <a:prstGeom prst="line">
            <a:avLst/>
          </a:prstGeom>
          <a:noFill/>
          <a:ln w="17145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949440" y="4233672"/>
            <a:ext cx="-566928" cy="0"/>
          </a:xfrm>
          <a:prstGeom prst="line">
            <a:avLst/>
          </a:prstGeom>
          <a:noFill/>
          <a:ln w="17145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160520" y="4233672"/>
            <a:ext cx="-566928" cy="0"/>
          </a:xfrm>
          <a:prstGeom prst="line">
            <a:avLst/>
          </a:prstGeom>
          <a:noFill/>
          <a:ln w="17145">
            <a:solidFill>
              <a:srgbClr val="334155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40080" y="1783080"/>
            <a:ext cx="2240280" cy="960120"/>
          </a:xfrm>
          <a:prstGeom prst="roundRect">
            <a:avLst>
              <a:gd name="adj" fmla="val 6667"/>
            </a:avLst>
          </a:prstGeom>
          <a:solidFill>
            <a:srgbClr val="111827"/>
          </a:solidFill>
          <a:ln w="10160">
            <a:solidFill>
              <a:srgbClr val="334155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86384" y="1920240"/>
            <a:ext cx="438912" cy="256032"/>
          </a:xfrm>
          <a:prstGeom prst="roundRect">
            <a:avLst>
              <a:gd name="adj" fmla="val 28571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9536" y="1970532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1D4ED8"/>
                </a:solidFill>
              </a:rPr>
              <a:t>01</a:t>
            </a:r>
            <a:endParaRPr lang="en-US" sz="730" dirty="0"/>
          </a:p>
        </p:txBody>
      </p:sp>
      <p:sp>
        <p:nvSpPr>
          <p:cNvPr id="14" name="Text 12"/>
          <p:cNvSpPr/>
          <p:nvPr/>
        </p:nvSpPr>
        <p:spPr>
          <a:xfrm>
            <a:off x="1325880" y="1965960"/>
            <a:ext cx="132588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Command Center</a:t>
            </a:r>
            <a:endParaRPr lang="en-US" sz="1160" dirty="0"/>
          </a:p>
        </p:txBody>
      </p:sp>
      <p:sp>
        <p:nvSpPr>
          <p:cNvPr id="15" name="Text 13"/>
          <p:cNvSpPr/>
          <p:nvPr/>
        </p:nvSpPr>
        <p:spPr>
          <a:xfrm>
            <a:off x="822960" y="2350008"/>
            <a:ext cx="1865376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Dashboard, tasks, approvals, alerts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429000" y="1783080"/>
            <a:ext cx="2240280" cy="960120"/>
          </a:xfrm>
          <a:prstGeom prst="roundRect">
            <a:avLst>
              <a:gd name="adj" fmla="val 6667"/>
            </a:avLst>
          </a:prstGeom>
          <a:solidFill>
            <a:srgbClr val="111827"/>
          </a:solidFill>
          <a:ln w="10160">
            <a:solidFill>
              <a:srgbClr val="334155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575304" y="1920240"/>
            <a:ext cx="438912" cy="256032"/>
          </a:xfrm>
          <a:prstGeom prst="roundRect">
            <a:avLst>
              <a:gd name="adj" fmla="val 28571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48456" y="1970532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1D4ED8"/>
                </a:solidFill>
              </a:rPr>
              <a:t>02</a:t>
            </a:r>
            <a:endParaRPr lang="en-US" sz="730" dirty="0"/>
          </a:p>
        </p:txBody>
      </p:sp>
      <p:sp>
        <p:nvSpPr>
          <p:cNvPr id="19" name="Text 17"/>
          <p:cNvSpPr/>
          <p:nvPr/>
        </p:nvSpPr>
        <p:spPr>
          <a:xfrm>
            <a:off x="4114800" y="1965960"/>
            <a:ext cx="132588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People &amp; Access</a:t>
            </a:r>
            <a:endParaRPr lang="en-US" sz="1160" dirty="0"/>
          </a:p>
        </p:txBody>
      </p:sp>
      <p:sp>
        <p:nvSpPr>
          <p:cNvPr id="20" name="Text 18"/>
          <p:cNvSpPr/>
          <p:nvPr/>
        </p:nvSpPr>
        <p:spPr>
          <a:xfrm>
            <a:off x="3611880" y="2350008"/>
            <a:ext cx="1865376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Users, hierarchy, roles, permissions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6217920" y="1783080"/>
            <a:ext cx="2240280" cy="960120"/>
          </a:xfrm>
          <a:prstGeom prst="roundRect">
            <a:avLst>
              <a:gd name="adj" fmla="val 6667"/>
            </a:avLst>
          </a:prstGeom>
          <a:solidFill>
            <a:srgbClr val="111827"/>
          </a:solidFill>
          <a:ln w="10160">
            <a:solidFill>
              <a:srgbClr val="334155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64224" y="1920240"/>
            <a:ext cx="438912" cy="256032"/>
          </a:xfrm>
          <a:prstGeom prst="roundRect">
            <a:avLst>
              <a:gd name="adj" fmla="val 28571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37376" y="1970532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1D4ED8"/>
                </a:solidFill>
              </a:rPr>
              <a:t>03</a:t>
            </a:r>
            <a:endParaRPr lang="en-US" sz="730" dirty="0"/>
          </a:p>
        </p:txBody>
      </p:sp>
      <p:sp>
        <p:nvSpPr>
          <p:cNvPr id="24" name="Text 22"/>
          <p:cNvSpPr/>
          <p:nvPr/>
        </p:nvSpPr>
        <p:spPr>
          <a:xfrm>
            <a:off x="6903720" y="1965960"/>
            <a:ext cx="132588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Masters &amp; Engineering</a:t>
            </a:r>
            <a:endParaRPr lang="en-US" sz="1160" dirty="0"/>
          </a:p>
        </p:txBody>
      </p:sp>
      <p:sp>
        <p:nvSpPr>
          <p:cNvPr id="25" name="Text 23"/>
          <p:cNvSpPr/>
          <p:nvPr/>
        </p:nvSpPr>
        <p:spPr>
          <a:xfrm>
            <a:off x="6400800" y="2350008"/>
            <a:ext cx="1865376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SKU, BOM, routing, QC specs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9006840" y="1783080"/>
            <a:ext cx="2240280" cy="960120"/>
          </a:xfrm>
          <a:prstGeom prst="roundRect">
            <a:avLst>
              <a:gd name="adj" fmla="val 6667"/>
            </a:avLst>
          </a:prstGeom>
          <a:solidFill>
            <a:srgbClr val="111827"/>
          </a:solidFill>
          <a:ln w="10160">
            <a:solidFill>
              <a:srgbClr val="334155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153144" y="1920240"/>
            <a:ext cx="438912" cy="256032"/>
          </a:xfrm>
          <a:prstGeom prst="roundRect">
            <a:avLst>
              <a:gd name="adj" fmla="val 28571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226296" y="1970532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1D4ED8"/>
                </a:solidFill>
              </a:rPr>
              <a:t>04</a:t>
            </a:r>
            <a:endParaRPr lang="en-US" sz="730" dirty="0"/>
          </a:p>
        </p:txBody>
      </p:sp>
      <p:sp>
        <p:nvSpPr>
          <p:cNvPr id="29" name="Text 27"/>
          <p:cNvSpPr/>
          <p:nvPr/>
        </p:nvSpPr>
        <p:spPr>
          <a:xfrm>
            <a:off x="9692640" y="1965960"/>
            <a:ext cx="132588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to Stock</a:t>
            </a:r>
            <a:endParaRPr lang="en-US" sz="1160" dirty="0"/>
          </a:p>
        </p:txBody>
      </p:sp>
      <p:sp>
        <p:nvSpPr>
          <p:cNvPr id="30" name="Text 28"/>
          <p:cNvSpPr/>
          <p:nvPr/>
        </p:nvSpPr>
        <p:spPr>
          <a:xfrm>
            <a:off x="9189720" y="2350008"/>
            <a:ext cx="1865376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PR, PO, gate, GRN, putaway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1417320" y="3794760"/>
            <a:ext cx="2240280" cy="960120"/>
          </a:xfrm>
          <a:prstGeom prst="roundRect">
            <a:avLst>
              <a:gd name="adj" fmla="val 6667"/>
            </a:avLst>
          </a:prstGeom>
          <a:solidFill>
            <a:srgbClr val="064E3B"/>
          </a:solidFill>
          <a:ln w="10160">
            <a:solidFill>
              <a:srgbClr val="10B981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1563624" y="3931920"/>
            <a:ext cx="438912" cy="256032"/>
          </a:xfrm>
          <a:prstGeom prst="roundRect">
            <a:avLst>
              <a:gd name="adj" fmla="val 28571"/>
            </a:avLst>
          </a:prstGeom>
          <a:solidFill>
            <a:srgbClr val="A7F3D0"/>
          </a:solidFill>
          <a:ln w="12700">
            <a:solidFill>
              <a:srgbClr val="A7F3D0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636776" y="3982212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064E3B"/>
                </a:solidFill>
              </a:rPr>
              <a:t>05</a:t>
            </a:r>
            <a:endParaRPr lang="en-US" sz="730" dirty="0"/>
          </a:p>
        </p:txBody>
      </p:sp>
      <p:sp>
        <p:nvSpPr>
          <p:cNvPr id="34" name="Text 32"/>
          <p:cNvSpPr/>
          <p:nvPr/>
        </p:nvSpPr>
        <p:spPr>
          <a:xfrm>
            <a:off x="2103120" y="3977640"/>
            <a:ext cx="132588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 Space</a:t>
            </a:r>
            <a:endParaRPr lang="en-US" sz="1160" dirty="0"/>
          </a:p>
        </p:txBody>
      </p:sp>
      <p:sp>
        <p:nvSpPr>
          <p:cNvPr id="35" name="Text 33"/>
          <p:cNvSpPr/>
          <p:nvPr/>
        </p:nvSpPr>
        <p:spPr>
          <a:xfrm>
            <a:off x="1600200" y="4361688"/>
            <a:ext cx="1865376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MRP, WO, issue, job cards, output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206240" y="3794760"/>
            <a:ext cx="2240280" cy="960120"/>
          </a:xfrm>
          <a:prstGeom prst="roundRect">
            <a:avLst>
              <a:gd name="adj" fmla="val 6667"/>
            </a:avLst>
          </a:prstGeom>
          <a:solidFill>
            <a:srgbClr val="111827"/>
          </a:solidFill>
          <a:ln w="10160">
            <a:solidFill>
              <a:srgbClr val="334155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352544" y="3931920"/>
            <a:ext cx="438912" cy="256032"/>
          </a:xfrm>
          <a:prstGeom prst="roundRect">
            <a:avLst>
              <a:gd name="adj" fmla="val 28571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425696" y="3982212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1D4ED8"/>
                </a:solidFill>
              </a:rPr>
              <a:t>06</a:t>
            </a:r>
            <a:endParaRPr lang="en-US" sz="730" dirty="0"/>
          </a:p>
        </p:txBody>
      </p:sp>
      <p:sp>
        <p:nvSpPr>
          <p:cNvPr id="39" name="Text 37"/>
          <p:cNvSpPr/>
          <p:nvPr/>
        </p:nvSpPr>
        <p:spPr>
          <a:xfrm>
            <a:off x="4892040" y="3977640"/>
            <a:ext cx="132588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Warehouse &amp; Delivery</a:t>
            </a:r>
            <a:endParaRPr lang="en-US" sz="1160" dirty="0"/>
          </a:p>
        </p:txBody>
      </p:sp>
      <p:sp>
        <p:nvSpPr>
          <p:cNvPr id="40" name="Text 38"/>
          <p:cNvSpPr/>
          <p:nvPr/>
        </p:nvSpPr>
        <p:spPr>
          <a:xfrm>
            <a:off x="4389120" y="4361688"/>
            <a:ext cx="1865376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FG, pick-pack, dispatch, POD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6995160" y="3794760"/>
            <a:ext cx="2240280" cy="960120"/>
          </a:xfrm>
          <a:prstGeom prst="roundRect">
            <a:avLst>
              <a:gd name="adj" fmla="val 6667"/>
            </a:avLst>
          </a:prstGeom>
          <a:solidFill>
            <a:srgbClr val="111827"/>
          </a:solidFill>
          <a:ln w="10160">
            <a:solidFill>
              <a:srgbClr val="334155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141464" y="3931920"/>
            <a:ext cx="438912" cy="256032"/>
          </a:xfrm>
          <a:prstGeom prst="roundRect">
            <a:avLst>
              <a:gd name="adj" fmla="val 28571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214616" y="3982212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1D4ED8"/>
                </a:solidFill>
              </a:rPr>
              <a:t>07</a:t>
            </a:r>
            <a:endParaRPr lang="en-US" sz="730" dirty="0"/>
          </a:p>
        </p:txBody>
      </p:sp>
      <p:sp>
        <p:nvSpPr>
          <p:cNvPr id="44" name="Text 42"/>
          <p:cNvSpPr/>
          <p:nvPr/>
        </p:nvSpPr>
        <p:spPr>
          <a:xfrm>
            <a:off x="7680960" y="3977640"/>
            <a:ext cx="132588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Finance &amp; Traceability</a:t>
            </a:r>
            <a:endParaRPr lang="en-US" sz="1160" dirty="0"/>
          </a:p>
        </p:txBody>
      </p:sp>
      <p:sp>
        <p:nvSpPr>
          <p:cNvPr id="45" name="Text 43"/>
          <p:cNvSpPr/>
          <p:nvPr/>
        </p:nvSpPr>
        <p:spPr>
          <a:xfrm>
            <a:off x="7178040" y="4361688"/>
            <a:ext cx="1865376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3-way match, reports, genealogy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438912" y="6446520"/>
            <a:ext cx="11292840" cy="0"/>
          </a:xfrm>
          <a:prstGeom prst="line">
            <a:avLst/>
          </a:prstGeom>
          <a:noFill/>
          <a:ln w="7620">
            <a:solidFill>
              <a:srgbClr val="CBD5E1">
                <a:alpha val="55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38912" y="6565392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Tan90 Manufacturing ERP MVP • Client-ready architecture deck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11228832" y="654710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329184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047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BUNDLING MAP</a:t>
            </a:r>
            <a:endParaRPr lang="en-US" sz="820" dirty="0"/>
          </a:p>
        </p:txBody>
      </p:sp>
      <p:sp>
        <p:nvSpPr>
          <p:cNvPr id="3" name="Text 1"/>
          <p:cNvSpPr/>
          <p:nvPr/>
        </p:nvSpPr>
        <p:spPr>
          <a:xfrm>
            <a:off x="438912" y="566928"/>
            <a:ext cx="9875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16 requested modules mapped into 7 spaces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38912" y="1133856"/>
            <a:ext cx="98755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This keeps the MVP minimal while still covering every requested capability.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1490472"/>
            <a:ext cx="11018520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1655064"/>
            <a:ext cx="402336" cy="256032"/>
          </a:xfrm>
          <a:prstGeom prst="roundRect">
            <a:avLst>
              <a:gd name="adj" fmla="val 28571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1705356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2563EB"/>
                </a:solidFill>
              </a:rPr>
              <a:t>01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325880" y="1664208"/>
            <a:ext cx="201168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1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Command Center</a:t>
            </a:r>
            <a:endParaRPr lang="en-US" sz="1210" dirty="0"/>
          </a:p>
        </p:txBody>
      </p:sp>
      <p:sp>
        <p:nvSpPr>
          <p:cNvPr id="9" name="Text 7"/>
          <p:cNvSpPr/>
          <p:nvPr/>
        </p:nvSpPr>
        <p:spPr>
          <a:xfrm>
            <a:off x="3611880" y="1664208"/>
            <a:ext cx="740664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 &amp; Reports, Audit Trail, My Tasks, Exceptions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94360" y="2167128"/>
            <a:ext cx="11018520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" y="2331720"/>
            <a:ext cx="402336" cy="256032"/>
          </a:xfrm>
          <a:prstGeom prst="roundRect">
            <a:avLst>
              <a:gd name="adj" fmla="val 28571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7824" y="2382012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2563EB"/>
                </a:solidFill>
              </a:rPr>
              <a:t>02</a:t>
            </a:r>
            <a:endParaRPr lang="en-US" sz="730" dirty="0"/>
          </a:p>
        </p:txBody>
      </p:sp>
      <p:sp>
        <p:nvSpPr>
          <p:cNvPr id="13" name="Text 11"/>
          <p:cNvSpPr/>
          <p:nvPr/>
        </p:nvSpPr>
        <p:spPr>
          <a:xfrm>
            <a:off x="1325880" y="2340864"/>
            <a:ext cx="201168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1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People &amp; Access</a:t>
            </a:r>
            <a:endParaRPr lang="en-US" sz="1210" dirty="0"/>
          </a:p>
        </p:txBody>
      </p:sp>
      <p:sp>
        <p:nvSpPr>
          <p:cNvPr id="14" name="Text 12"/>
          <p:cNvSpPr/>
          <p:nvPr/>
        </p:nvSpPr>
        <p:spPr>
          <a:xfrm>
            <a:off x="3611880" y="2340864"/>
            <a:ext cx="740664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Company &amp; Unit Management, User Role &amp; Permission, Dashboard Builder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94360" y="2843784"/>
            <a:ext cx="11018520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" y="3008376"/>
            <a:ext cx="402336" cy="256032"/>
          </a:xfrm>
          <a:prstGeom prst="roundRect">
            <a:avLst>
              <a:gd name="adj" fmla="val 28571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7824" y="3058668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2563EB"/>
                </a:solidFill>
              </a:rPr>
              <a:t>03</a:t>
            </a:r>
            <a:endParaRPr lang="en-US" sz="730" dirty="0"/>
          </a:p>
        </p:txBody>
      </p:sp>
      <p:sp>
        <p:nvSpPr>
          <p:cNvPr id="18" name="Text 16"/>
          <p:cNvSpPr/>
          <p:nvPr/>
        </p:nvSpPr>
        <p:spPr>
          <a:xfrm>
            <a:off x="1325880" y="3017520"/>
            <a:ext cx="201168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1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Masters &amp; Engineering</a:t>
            </a:r>
            <a:endParaRPr lang="en-US" sz="1210" dirty="0"/>
          </a:p>
        </p:txBody>
      </p:sp>
      <p:sp>
        <p:nvSpPr>
          <p:cNvPr id="19" name="Text 17"/>
          <p:cNvSpPr/>
          <p:nvPr/>
        </p:nvSpPr>
        <p:spPr>
          <a:xfrm>
            <a:off x="3611880" y="3017520"/>
            <a:ext cx="740664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Item/SKU Master, BOM/Material Planning, Machines, QC Specs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94360" y="3520440"/>
            <a:ext cx="11018520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4672" y="3685032"/>
            <a:ext cx="402336" cy="256032"/>
          </a:xfrm>
          <a:prstGeom prst="roundRect">
            <a:avLst>
              <a:gd name="adj" fmla="val 28571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77824" y="3735324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2563EB"/>
                </a:solidFill>
              </a:rPr>
              <a:t>04</a:t>
            </a:r>
            <a:endParaRPr lang="en-US" sz="730" dirty="0"/>
          </a:p>
        </p:txBody>
      </p:sp>
      <p:sp>
        <p:nvSpPr>
          <p:cNvPr id="23" name="Text 21"/>
          <p:cNvSpPr/>
          <p:nvPr/>
        </p:nvSpPr>
        <p:spPr>
          <a:xfrm>
            <a:off x="1325880" y="3694176"/>
            <a:ext cx="201168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1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to Stock</a:t>
            </a:r>
            <a:endParaRPr lang="en-US" sz="1210" dirty="0"/>
          </a:p>
        </p:txBody>
      </p:sp>
      <p:sp>
        <p:nvSpPr>
          <p:cNvPr id="24" name="Text 22"/>
          <p:cNvSpPr/>
          <p:nvPr/>
        </p:nvSpPr>
        <p:spPr>
          <a:xfrm>
            <a:off x="3611880" y="3694176"/>
            <a:ext cx="740664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Store/Inventory, GRN/Inward, Procurement/Purchase, Vendor Manufacturing input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94360" y="4197096"/>
            <a:ext cx="11018520" cy="594360"/>
          </a:xfrm>
          <a:prstGeom prst="roundRect">
            <a:avLst>
              <a:gd name="adj" fmla="val 10769"/>
            </a:avLst>
          </a:prstGeom>
          <a:solidFill>
            <a:srgbClr val="ECFDF5"/>
          </a:solidFill>
          <a:ln w="10160">
            <a:solidFill>
              <a:srgbClr val="10B981">
                <a:alpha val="92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4672" y="4361688"/>
            <a:ext cx="402336" cy="256032"/>
          </a:xfrm>
          <a:prstGeom prst="roundRect">
            <a:avLst>
              <a:gd name="adj" fmla="val 28571"/>
            </a:avLst>
          </a:prstGeom>
          <a:solidFill>
            <a:srgbClr val="A7F3D0"/>
          </a:solidFill>
          <a:ln w="12700">
            <a:solidFill>
              <a:srgbClr val="A7F3D0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77824" y="4411980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047857"/>
                </a:solidFill>
              </a:rPr>
              <a:t>05</a:t>
            </a:r>
            <a:endParaRPr lang="en-US" sz="730" dirty="0"/>
          </a:p>
        </p:txBody>
      </p:sp>
      <p:sp>
        <p:nvSpPr>
          <p:cNvPr id="28" name="Text 26"/>
          <p:cNvSpPr/>
          <p:nvPr/>
        </p:nvSpPr>
        <p:spPr>
          <a:xfrm>
            <a:off x="1325880" y="4370832"/>
            <a:ext cx="201168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1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 Space</a:t>
            </a:r>
            <a:endParaRPr lang="en-US" sz="1210" dirty="0"/>
          </a:p>
        </p:txBody>
      </p:sp>
      <p:sp>
        <p:nvSpPr>
          <p:cNvPr id="29" name="Text 27"/>
          <p:cNvSpPr/>
          <p:nvPr/>
        </p:nvSpPr>
        <p:spPr>
          <a:xfrm>
            <a:off x="3611880" y="4370832"/>
            <a:ext cx="740664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 Planning, Work Order, Material Issue, Production Entry, Machine Usage, Wastage/Scrap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94360" y="4873752"/>
            <a:ext cx="11018520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04672" y="5038344"/>
            <a:ext cx="402336" cy="256032"/>
          </a:xfrm>
          <a:prstGeom prst="roundRect">
            <a:avLst>
              <a:gd name="adj" fmla="val 28571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77824" y="5088636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2563EB"/>
                </a:solidFill>
              </a:rPr>
              <a:t>06</a:t>
            </a:r>
            <a:endParaRPr lang="en-US" sz="730" dirty="0"/>
          </a:p>
        </p:txBody>
      </p:sp>
      <p:sp>
        <p:nvSpPr>
          <p:cNvPr id="33" name="Text 31"/>
          <p:cNvSpPr/>
          <p:nvPr/>
        </p:nvSpPr>
        <p:spPr>
          <a:xfrm>
            <a:off x="1325880" y="5047488"/>
            <a:ext cx="201168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1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Warehouse &amp; Delivery</a:t>
            </a:r>
            <a:endParaRPr lang="en-US" sz="1210" dirty="0"/>
          </a:p>
        </p:txBody>
      </p:sp>
      <p:sp>
        <p:nvSpPr>
          <p:cNvPr id="34" name="Text 32"/>
          <p:cNvSpPr/>
          <p:nvPr/>
        </p:nvSpPr>
        <p:spPr>
          <a:xfrm>
            <a:off x="3611880" y="5047488"/>
            <a:ext cx="740664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Finished Goods Warehouse, Stock Transfer, Logistics/Dispatch Closure, POD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94360" y="5550408"/>
            <a:ext cx="11018520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04672" y="5715000"/>
            <a:ext cx="402336" cy="256032"/>
          </a:xfrm>
          <a:prstGeom prst="roundRect">
            <a:avLst>
              <a:gd name="adj" fmla="val 28571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77824" y="5765292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2563EB"/>
                </a:solidFill>
              </a:rPr>
              <a:t>07</a:t>
            </a:r>
            <a:endParaRPr lang="en-US" sz="730" dirty="0"/>
          </a:p>
        </p:txBody>
      </p:sp>
      <p:sp>
        <p:nvSpPr>
          <p:cNvPr id="38" name="Text 36"/>
          <p:cNvSpPr/>
          <p:nvPr/>
        </p:nvSpPr>
        <p:spPr>
          <a:xfrm>
            <a:off x="1325880" y="5724144"/>
            <a:ext cx="201168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1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Finance &amp; Traceability</a:t>
            </a:r>
            <a:endParaRPr lang="en-US" sz="1210" dirty="0"/>
          </a:p>
        </p:txBody>
      </p:sp>
      <p:sp>
        <p:nvSpPr>
          <p:cNvPr id="39" name="Text 37"/>
          <p:cNvSpPr/>
          <p:nvPr/>
        </p:nvSpPr>
        <p:spPr>
          <a:xfrm>
            <a:off x="3611880" y="5724144"/>
            <a:ext cx="740664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Supplier invoice match, cost variance, claims, reports, batch traceability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38912" y="6446520"/>
            <a:ext cx="11292840" cy="0"/>
          </a:xfrm>
          <a:prstGeom prst="line">
            <a:avLst/>
          </a:prstGeom>
          <a:noFill/>
          <a:ln w="7620">
            <a:solidFill>
              <a:srgbClr val="CBD5E1">
                <a:alpha val="55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8912" y="6565392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Tan90 Manufacturing ERP MVP • Client-ready architecture deck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11228832" y="654710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329184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047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E2E PROCESS FLOW</a:t>
            </a:r>
            <a:endParaRPr lang="en-US" sz="820" dirty="0"/>
          </a:p>
        </p:txBody>
      </p:sp>
      <p:sp>
        <p:nvSpPr>
          <p:cNvPr id="3" name="Text 1"/>
          <p:cNvSpPr/>
          <p:nvPr/>
        </p:nvSpPr>
        <p:spPr>
          <a:xfrm>
            <a:off x="438912" y="566928"/>
            <a:ext cx="9875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Demand to POD closure in one demo story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38912" y="1133856"/>
            <a:ext cx="98755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The MVP should make this entire journey visible with one sample customer order and one manufactured batch.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124712" y="2139696"/>
            <a:ext cx="173736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2011680" y="2139696"/>
            <a:ext cx="173736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898648" y="2139696"/>
            <a:ext cx="173736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785616" y="2139696"/>
            <a:ext cx="173736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672584" y="2139696"/>
            <a:ext cx="173736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559552" y="2139696"/>
            <a:ext cx="173736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446520" y="2139696"/>
            <a:ext cx="173736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333488" y="2139696"/>
            <a:ext cx="173736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220456" y="2139696"/>
            <a:ext cx="173736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9107424" y="2139696"/>
            <a:ext cx="173736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994392" y="2139696"/>
            <a:ext cx="173736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0881360" y="2139696"/>
            <a:ext cx="173736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11480" y="1874520"/>
            <a:ext cx="713232" cy="530352"/>
          </a:xfrm>
          <a:prstGeom prst="roundRect">
            <a:avLst>
              <a:gd name="adj" fmla="val 12069"/>
            </a:avLst>
          </a:prstGeom>
          <a:solidFill>
            <a:srgbClr val="DCFCE7"/>
          </a:solidFill>
          <a:ln w="10160">
            <a:solidFill>
              <a:srgbClr val="DCFC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" y="1929384"/>
            <a:ext cx="566928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047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Demand</a:t>
            </a:r>
            <a:endParaRPr lang="en-US" sz="840" dirty="0"/>
          </a:p>
        </p:txBody>
      </p:sp>
      <p:sp>
        <p:nvSpPr>
          <p:cNvPr id="19" name="Shape 17"/>
          <p:cNvSpPr/>
          <p:nvPr/>
        </p:nvSpPr>
        <p:spPr>
          <a:xfrm>
            <a:off x="1298448" y="1874520"/>
            <a:ext cx="713232" cy="530352"/>
          </a:xfrm>
          <a:prstGeom prst="roundRect">
            <a:avLst>
              <a:gd name="adj" fmla="val 12069"/>
            </a:avLst>
          </a:prstGeom>
          <a:solidFill>
            <a:srgbClr val="DBEAFE"/>
          </a:solidFill>
          <a:ln w="10160">
            <a:solidFill>
              <a:srgbClr val="DBEA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71600" y="1929384"/>
            <a:ext cx="566928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</a:t>
            </a:r>
            <a:endParaRPr lang="en-US" sz="840" dirty="0"/>
          </a:p>
        </p:txBody>
      </p:sp>
      <p:sp>
        <p:nvSpPr>
          <p:cNvPr id="21" name="Shape 19"/>
          <p:cNvSpPr/>
          <p:nvPr/>
        </p:nvSpPr>
        <p:spPr>
          <a:xfrm>
            <a:off x="2185416" y="1874520"/>
            <a:ext cx="713232" cy="530352"/>
          </a:xfrm>
          <a:prstGeom prst="roundRect">
            <a:avLst>
              <a:gd name="adj" fmla="val 12069"/>
            </a:avLst>
          </a:prstGeom>
          <a:solidFill>
            <a:srgbClr val="FEF3C7"/>
          </a:solidFill>
          <a:ln w="10160">
            <a:solidFill>
              <a:srgbClr val="FEF3C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58568" y="1929384"/>
            <a:ext cx="566928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92400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BOM/MRP</a:t>
            </a:r>
            <a:endParaRPr lang="en-US" sz="840" dirty="0"/>
          </a:p>
        </p:txBody>
      </p:sp>
      <p:sp>
        <p:nvSpPr>
          <p:cNvPr id="23" name="Shape 21"/>
          <p:cNvSpPr/>
          <p:nvPr/>
        </p:nvSpPr>
        <p:spPr>
          <a:xfrm>
            <a:off x="3072384" y="1874520"/>
            <a:ext cx="713232" cy="530352"/>
          </a:xfrm>
          <a:prstGeom prst="roundRect">
            <a:avLst>
              <a:gd name="adj" fmla="val 12069"/>
            </a:avLst>
          </a:prstGeom>
          <a:solidFill>
            <a:srgbClr val="DCFCE7"/>
          </a:solidFill>
          <a:ln w="10160">
            <a:solidFill>
              <a:srgbClr val="DCFCE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45536" y="1929384"/>
            <a:ext cx="566928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047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PR/PO</a:t>
            </a:r>
            <a:endParaRPr lang="en-US" sz="840" dirty="0"/>
          </a:p>
        </p:txBody>
      </p:sp>
      <p:sp>
        <p:nvSpPr>
          <p:cNvPr id="25" name="Shape 23"/>
          <p:cNvSpPr/>
          <p:nvPr/>
        </p:nvSpPr>
        <p:spPr>
          <a:xfrm>
            <a:off x="3959352" y="1874520"/>
            <a:ext cx="713232" cy="530352"/>
          </a:xfrm>
          <a:prstGeom prst="roundRect">
            <a:avLst>
              <a:gd name="adj" fmla="val 12069"/>
            </a:avLst>
          </a:prstGeom>
          <a:solidFill>
            <a:srgbClr val="DBEAFE"/>
          </a:solidFill>
          <a:ln w="10160">
            <a:solidFill>
              <a:srgbClr val="DBEAF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32504" y="1929384"/>
            <a:ext cx="566928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Gate</a:t>
            </a:r>
            <a:endParaRPr lang="en-US" sz="840" dirty="0"/>
          </a:p>
        </p:txBody>
      </p:sp>
      <p:sp>
        <p:nvSpPr>
          <p:cNvPr id="27" name="Shape 25"/>
          <p:cNvSpPr/>
          <p:nvPr/>
        </p:nvSpPr>
        <p:spPr>
          <a:xfrm>
            <a:off x="4846320" y="1874520"/>
            <a:ext cx="713232" cy="530352"/>
          </a:xfrm>
          <a:prstGeom prst="roundRect">
            <a:avLst>
              <a:gd name="adj" fmla="val 12069"/>
            </a:avLst>
          </a:prstGeom>
          <a:solidFill>
            <a:srgbClr val="FEF3C7"/>
          </a:solidFill>
          <a:ln w="10160">
            <a:solidFill>
              <a:srgbClr val="FEF3C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19472" y="1929384"/>
            <a:ext cx="566928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92400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QC</a:t>
            </a:r>
            <a:endParaRPr lang="en-US" sz="840" dirty="0"/>
          </a:p>
        </p:txBody>
      </p:sp>
      <p:sp>
        <p:nvSpPr>
          <p:cNvPr id="29" name="Shape 27"/>
          <p:cNvSpPr/>
          <p:nvPr/>
        </p:nvSpPr>
        <p:spPr>
          <a:xfrm>
            <a:off x="5733288" y="1874520"/>
            <a:ext cx="713232" cy="530352"/>
          </a:xfrm>
          <a:prstGeom prst="roundRect">
            <a:avLst>
              <a:gd name="adj" fmla="val 12069"/>
            </a:avLst>
          </a:prstGeom>
          <a:solidFill>
            <a:srgbClr val="DCFCE7"/>
          </a:solidFill>
          <a:ln w="10160">
            <a:solidFill>
              <a:srgbClr val="DCFCE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06440" y="1929384"/>
            <a:ext cx="566928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047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GRN</a:t>
            </a:r>
            <a:endParaRPr lang="en-US" sz="840" dirty="0"/>
          </a:p>
        </p:txBody>
      </p:sp>
      <p:sp>
        <p:nvSpPr>
          <p:cNvPr id="31" name="Shape 29"/>
          <p:cNvSpPr/>
          <p:nvPr/>
        </p:nvSpPr>
        <p:spPr>
          <a:xfrm>
            <a:off x="6620256" y="1874520"/>
            <a:ext cx="713232" cy="530352"/>
          </a:xfrm>
          <a:prstGeom prst="roundRect">
            <a:avLst>
              <a:gd name="adj" fmla="val 12069"/>
            </a:avLst>
          </a:prstGeom>
          <a:solidFill>
            <a:srgbClr val="DBEAFE"/>
          </a:solidFill>
          <a:ln w="10160">
            <a:solidFill>
              <a:srgbClr val="DBEAF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93408" y="1929384"/>
            <a:ext cx="566928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Issue</a:t>
            </a:r>
            <a:endParaRPr lang="en-US" sz="840" dirty="0"/>
          </a:p>
        </p:txBody>
      </p:sp>
      <p:sp>
        <p:nvSpPr>
          <p:cNvPr id="33" name="Shape 31"/>
          <p:cNvSpPr/>
          <p:nvPr/>
        </p:nvSpPr>
        <p:spPr>
          <a:xfrm>
            <a:off x="7507224" y="1874520"/>
            <a:ext cx="713232" cy="530352"/>
          </a:xfrm>
          <a:prstGeom prst="roundRect">
            <a:avLst>
              <a:gd name="adj" fmla="val 12069"/>
            </a:avLst>
          </a:prstGeom>
          <a:solidFill>
            <a:srgbClr val="FEF3C7"/>
          </a:solidFill>
          <a:ln w="10160">
            <a:solidFill>
              <a:srgbClr val="FEF3C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580376" y="1929384"/>
            <a:ext cx="566928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92400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Produce</a:t>
            </a:r>
            <a:endParaRPr lang="en-US" sz="840" dirty="0"/>
          </a:p>
        </p:txBody>
      </p:sp>
      <p:sp>
        <p:nvSpPr>
          <p:cNvPr id="35" name="Shape 33"/>
          <p:cNvSpPr/>
          <p:nvPr/>
        </p:nvSpPr>
        <p:spPr>
          <a:xfrm>
            <a:off x="8394192" y="1874520"/>
            <a:ext cx="713232" cy="530352"/>
          </a:xfrm>
          <a:prstGeom prst="roundRect">
            <a:avLst>
              <a:gd name="adj" fmla="val 12069"/>
            </a:avLst>
          </a:prstGeom>
          <a:solidFill>
            <a:srgbClr val="DCFCE7"/>
          </a:solidFill>
          <a:ln w="10160">
            <a:solidFill>
              <a:srgbClr val="DCFCE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67344" y="1929384"/>
            <a:ext cx="566928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047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QC</a:t>
            </a:r>
            <a:endParaRPr lang="en-US" sz="840" dirty="0"/>
          </a:p>
        </p:txBody>
      </p:sp>
      <p:sp>
        <p:nvSpPr>
          <p:cNvPr id="37" name="Shape 35"/>
          <p:cNvSpPr/>
          <p:nvPr/>
        </p:nvSpPr>
        <p:spPr>
          <a:xfrm>
            <a:off x="9281160" y="1874520"/>
            <a:ext cx="713232" cy="530352"/>
          </a:xfrm>
          <a:prstGeom prst="roundRect">
            <a:avLst>
              <a:gd name="adj" fmla="val 12069"/>
            </a:avLst>
          </a:prstGeom>
          <a:solidFill>
            <a:srgbClr val="DBEAFE"/>
          </a:solidFill>
          <a:ln w="10160">
            <a:solidFill>
              <a:srgbClr val="DBEAF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354312" y="1929384"/>
            <a:ext cx="566928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FG Stock</a:t>
            </a:r>
            <a:endParaRPr lang="en-US" sz="840" dirty="0"/>
          </a:p>
        </p:txBody>
      </p:sp>
      <p:sp>
        <p:nvSpPr>
          <p:cNvPr id="39" name="Shape 37"/>
          <p:cNvSpPr/>
          <p:nvPr/>
        </p:nvSpPr>
        <p:spPr>
          <a:xfrm>
            <a:off x="10168128" y="1874520"/>
            <a:ext cx="713232" cy="530352"/>
          </a:xfrm>
          <a:prstGeom prst="roundRect">
            <a:avLst>
              <a:gd name="adj" fmla="val 12069"/>
            </a:avLst>
          </a:prstGeom>
          <a:solidFill>
            <a:srgbClr val="FEF3C7"/>
          </a:solidFill>
          <a:ln w="10160">
            <a:solidFill>
              <a:srgbClr val="FEF3C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241280" y="1929384"/>
            <a:ext cx="566928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92400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Dispatch</a:t>
            </a:r>
            <a:endParaRPr lang="en-US" sz="840" dirty="0"/>
          </a:p>
        </p:txBody>
      </p:sp>
      <p:sp>
        <p:nvSpPr>
          <p:cNvPr id="41" name="Shape 39"/>
          <p:cNvSpPr/>
          <p:nvPr/>
        </p:nvSpPr>
        <p:spPr>
          <a:xfrm>
            <a:off x="11055096" y="1874520"/>
            <a:ext cx="713232" cy="530352"/>
          </a:xfrm>
          <a:prstGeom prst="roundRect">
            <a:avLst>
              <a:gd name="adj" fmla="val 12069"/>
            </a:avLst>
          </a:prstGeom>
          <a:solidFill>
            <a:srgbClr val="DCFCE7"/>
          </a:solidFill>
          <a:ln w="10160">
            <a:solidFill>
              <a:srgbClr val="DCFCE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1128248" y="1929384"/>
            <a:ext cx="566928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047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POD</a:t>
            </a:r>
            <a:endParaRPr lang="en-US" sz="840" dirty="0"/>
          </a:p>
        </p:txBody>
      </p:sp>
      <p:sp>
        <p:nvSpPr>
          <p:cNvPr id="43" name="Shape 41"/>
          <p:cNvSpPr/>
          <p:nvPr/>
        </p:nvSpPr>
        <p:spPr>
          <a:xfrm>
            <a:off x="685800" y="3429000"/>
            <a:ext cx="187452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0160">
            <a:solidFill>
              <a:srgbClr val="E2E8F0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859536" y="3639312"/>
            <a:ext cx="150876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850392" y="4014216"/>
            <a:ext cx="15087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 demand, forecast, target date</a:t>
            </a:r>
            <a:endParaRPr lang="en-US" sz="820" dirty="0"/>
          </a:p>
        </p:txBody>
      </p:sp>
      <p:sp>
        <p:nvSpPr>
          <p:cNvPr id="46" name="Shape 44"/>
          <p:cNvSpPr/>
          <p:nvPr/>
        </p:nvSpPr>
        <p:spPr>
          <a:xfrm>
            <a:off x="2971800" y="3429000"/>
            <a:ext cx="187452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0160">
            <a:solidFill>
              <a:srgbClr val="E2E8F0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3145536" y="3639312"/>
            <a:ext cx="150876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 control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3136392" y="4014216"/>
            <a:ext cx="15087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BOM requirement, shortage, purchase, receiving</a:t>
            </a:r>
            <a:endParaRPr lang="en-US" sz="820" dirty="0"/>
          </a:p>
        </p:txBody>
      </p:sp>
      <p:sp>
        <p:nvSpPr>
          <p:cNvPr id="49" name="Shape 47"/>
          <p:cNvSpPr/>
          <p:nvPr/>
        </p:nvSpPr>
        <p:spPr>
          <a:xfrm>
            <a:off x="5257800" y="3429000"/>
            <a:ext cx="187452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0160">
            <a:solidFill>
              <a:srgbClr val="E2E8F0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5431536" y="3639312"/>
            <a:ext cx="150876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Manufacturing control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5422392" y="4014216"/>
            <a:ext cx="15087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Issue, machine, operator, output, wastage</a:t>
            </a:r>
            <a:endParaRPr lang="en-US" sz="820" dirty="0"/>
          </a:p>
        </p:txBody>
      </p:sp>
      <p:sp>
        <p:nvSpPr>
          <p:cNvPr id="52" name="Shape 50"/>
          <p:cNvSpPr/>
          <p:nvPr/>
        </p:nvSpPr>
        <p:spPr>
          <a:xfrm>
            <a:off x="7543800" y="3429000"/>
            <a:ext cx="187452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0160">
            <a:solidFill>
              <a:srgbClr val="E2E8F0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7717536" y="3639312"/>
            <a:ext cx="150876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 control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7708392" y="4014216"/>
            <a:ext cx="15087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Incoming, in-process, final, hold/rework/reject</a:t>
            </a:r>
            <a:endParaRPr lang="en-US" sz="820" dirty="0"/>
          </a:p>
        </p:txBody>
      </p:sp>
      <p:sp>
        <p:nvSpPr>
          <p:cNvPr id="55" name="Shape 53"/>
          <p:cNvSpPr/>
          <p:nvPr/>
        </p:nvSpPr>
        <p:spPr>
          <a:xfrm>
            <a:off x="9829800" y="3429000"/>
            <a:ext cx="187452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0160">
            <a:solidFill>
              <a:srgbClr val="E2E8F0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10003536" y="3639312"/>
            <a:ext cx="150876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Fulfilment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9994392" y="4014216"/>
            <a:ext cx="15087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FG receipt, pick-pack, vehicle, POD, closure</a:t>
            </a:r>
            <a:endParaRPr lang="en-US" sz="820" dirty="0"/>
          </a:p>
        </p:txBody>
      </p:sp>
      <p:sp>
        <p:nvSpPr>
          <p:cNvPr id="58" name="Shape 56"/>
          <p:cNvSpPr/>
          <p:nvPr/>
        </p:nvSpPr>
        <p:spPr>
          <a:xfrm>
            <a:off x="1508760" y="5175504"/>
            <a:ext cx="9144000" cy="566928"/>
          </a:xfrm>
          <a:prstGeom prst="roundRect">
            <a:avLst>
              <a:gd name="adj" fmla="val 11290"/>
            </a:avLst>
          </a:prstGeom>
          <a:solidFill>
            <a:srgbClr val="ECFDF5"/>
          </a:solidFill>
          <a:ln w="10160">
            <a:solidFill>
              <a:srgbClr val="A7F3D0">
                <a:alpha val="9200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810512" y="5376672"/>
            <a:ext cx="854964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47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story: 10,000 Thermal Sachets → shortage detected → PO issued → PCM received/QC accepted → production batch created → final dispatch closed.</a:t>
            </a:r>
            <a:endParaRPr lang="en-US" sz="1020" dirty="0"/>
          </a:p>
        </p:txBody>
      </p:sp>
      <p:sp>
        <p:nvSpPr>
          <p:cNvPr id="60" name="Shape 58"/>
          <p:cNvSpPr/>
          <p:nvPr/>
        </p:nvSpPr>
        <p:spPr>
          <a:xfrm>
            <a:off x="438912" y="6446520"/>
            <a:ext cx="11292840" cy="0"/>
          </a:xfrm>
          <a:prstGeom prst="line">
            <a:avLst/>
          </a:prstGeom>
          <a:noFill/>
          <a:ln w="7620">
            <a:solidFill>
              <a:srgbClr val="CBD5E1">
                <a:alpha val="5500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38912" y="6565392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Tan90 Manufacturing ERP MVP • Client-ready architecture deck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11228832" y="654710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329184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86EFA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FOUNDATION</a:t>
            </a:r>
            <a:endParaRPr lang="en-US" sz="820" dirty="0"/>
          </a:p>
        </p:txBody>
      </p:sp>
      <p:sp>
        <p:nvSpPr>
          <p:cNvPr id="3" name="Text 1"/>
          <p:cNvSpPr/>
          <p:nvPr/>
        </p:nvSpPr>
        <p:spPr>
          <a:xfrm>
            <a:off x="438912" y="566928"/>
            <a:ext cx="9875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Four ledgers make the MVP reliable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38912" y="1133856"/>
            <a:ext cx="98755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Every module must write immutable events so dashboards, stock and traceability are trustworthy.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77240" y="1874520"/>
            <a:ext cx="2331720" cy="2148840"/>
          </a:xfrm>
          <a:prstGeom prst="roundRect">
            <a:avLst>
              <a:gd name="adj" fmla="val 2979"/>
            </a:avLst>
          </a:prstGeom>
          <a:solidFill>
            <a:srgbClr val="111827"/>
          </a:solidFill>
          <a:ln w="10160">
            <a:solidFill>
              <a:srgbClr val="334155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88720" y="2157984"/>
            <a:ext cx="1417320" cy="256032"/>
          </a:xfrm>
          <a:prstGeom prst="roundRect">
            <a:avLst>
              <a:gd name="adj" fmla="val 28571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61872" y="2208276"/>
            <a:ext cx="1271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2563EB"/>
                </a:solidFill>
              </a:rPr>
              <a:t>LEDGER 1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996696" y="2679192"/>
            <a:ext cx="1901952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Inventory Ledger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33272" y="3154680"/>
            <a:ext cx="182880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receipt, QC release, issue, consumption, output, transfer, pick, dispatch, return</a:t>
            </a:r>
            <a:endParaRPr lang="en-US" sz="770" dirty="0"/>
          </a:p>
        </p:txBody>
      </p:sp>
      <p:sp>
        <p:nvSpPr>
          <p:cNvPr id="10" name="Shape 8"/>
          <p:cNvSpPr/>
          <p:nvPr/>
        </p:nvSpPr>
        <p:spPr>
          <a:xfrm>
            <a:off x="3566160" y="1874520"/>
            <a:ext cx="2331720" cy="2148840"/>
          </a:xfrm>
          <a:prstGeom prst="roundRect">
            <a:avLst>
              <a:gd name="adj" fmla="val 2979"/>
            </a:avLst>
          </a:prstGeom>
          <a:solidFill>
            <a:srgbClr val="064E3B"/>
          </a:solidFill>
          <a:ln w="10160">
            <a:solidFill>
              <a:srgbClr val="10B981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977640" y="2157984"/>
            <a:ext cx="1417320" cy="256032"/>
          </a:xfrm>
          <a:prstGeom prst="roundRect">
            <a:avLst>
              <a:gd name="adj" fmla="val 28571"/>
            </a:avLst>
          </a:prstGeom>
          <a:solidFill>
            <a:srgbClr val="A7F3D0"/>
          </a:solidFill>
          <a:ln w="12700">
            <a:solidFill>
              <a:srgbClr val="A7F3D0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50792" y="2208276"/>
            <a:ext cx="1271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047857"/>
                </a:solidFill>
              </a:rPr>
              <a:t>LEDGER 2</a:t>
            </a:r>
            <a:endParaRPr lang="en-US" sz="730" dirty="0"/>
          </a:p>
        </p:txBody>
      </p:sp>
      <p:sp>
        <p:nvSpPr>
          <p:cNvPr id="13" name="Text 11"/>
          <p:cNvSpPr/>
          <p:nvPr/>
        </p:nvSpPr>
        <p:spPr>
          <a:xfrm>
            <a:off x="3785616" y="2679192"/>
            <a:ext cx="1901952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Batch Genealogy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822192" y="3154680"/>
            <a:ext cx="182880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vendor lot, GRN, recipe version, work order, machine, operator, customer dispatch</a:t>
            </a:r>
            <a:endParaRPr lang="en-US" sz="770" dirty="0"/>
          </a:p>
        </p:txBody>
      </p:sp>
      <p:sp>
        <p:nvSpPr>
          <p:cNvPr id="15" name="Shape 13"/>
          <p:cNvSpPr/>
          <p:nvPr/>
        </p:nvSpPr>
        <p:spPr>
          <a:xfrm>
            <a:off x="6355080" y="1874520"/>
            <a:ext cx="2331720" cy="2148840"/>
          </a:xfrm>
          <a:prstGeom prst="roundRect">
            <a:avLst>
              <a:gd name="adj" fmla="val 2979"/>
            </a:avLst>
          </a:prstGeom>
          <a:solidFill>
            <a:srgbClr val="111827"/>
          </a:solidFill>
          <a:ln w="10160">
            <a:solidFill>
              <a:srgbClr val="334155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766560" y="2157984"/>
            <a:ext cx="1417320" cy="256032"/>
          </a:xfrm>
          <a:prstGeom prst="roundRect">
            <a:avLst>
              <a:gd name="adj" fmla="val 28571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39712" y="2208276"/>
            <a:ext cx="1271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2563EB"/>
                </a:solidFill>
              </a:rPr>
              <a:t>LEDGER 3</a:t>
            </a:r>
            <a:endParaRPr lang="en-US" sz="730" dirty="0"/>
          </a:p>
        </p:txBody>
      </p:sp>
      <p:sp>
        <p:nvSpPr>
          <p:cNvPr id="18" name="Text 16"/>
          <p:cNvSpPr/>
          <p:nvPr/>
        </p:nvSpPr>
        <p:spPr>
          <a:xfrm>
            <a:off x="6574536" y="2679192"/>
            <a:ext cx="1901952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 Ledger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611112" y="3154680"/>
            <a:ext cx="182880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 rate, actual consumption, scrap, rework, variance, supplier claim</a:t>
            </a:r>
            <a:endParaRPr lang="en-US" sz="770" dirty="0"/>
          </a:p>
        </p:txBody>
      </p:sp>
      <p:sp>
        <p:nvSpPr>
          <p:cNvPr id="20" name="Shape 18"/>
          <p:cNvSpPr/>
          <p:nvPr/>
        </p:nvSpPr>
        <p:spPr>
          <a:xfrm>
            <a:off x="9144000" y="1874520"/>
            <a:ext cx="2331720" cy="2148840"/>
          </a:xfrm>
          <a:prstGeom prst="roundRect">
            <a:avLst>
              <a:gd name="adj" fmla="val 2979"/>
            </a:avLst>
          </a:prstGeom>
          <a:solidFill>
            <a:srgbClr val="111827"/>
          </a:solidFill>
          <a:ln w="10160">
            <a:solidFill>
              <a:srgbClr val="334155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555480" y="2157984"/>
            <a:ext cx="1417320" cy="256032"/>
          </a:xfrm>
          <a:prstGeom prst="roundRect">
            <a:avLst>
              <a:gd name="adj" fmla="val 28571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28632" y="2208276"/>
            <a:ext cx="1271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2563EB"/>
                </a:solidFill>
              </a:rPr>
              <a:t>LEDGER 4</a:t>
            </a:r>
            <a:endParaRPr lang="en-US" sz="730" dirty="0"/>
          </a:p>
        </p:txBody>
      </p:sp>
      <p:sp>
        <p:nvSpPr>
          <p:cNvPr id="23" name="Text 21"/>
          <p:cNvSpPr/>
          <p:nvPr/>
        </p:nvSpPr>
        <p:spPr>
          <a:xfrm>
            <a:off x="9363456" y="2679192"/>
            <a:ext cx="1901952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Ledger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400032" y="3154680"/>
            <a:ext cx="182880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login, change, approval, permission grant, dashboard publish, status movement</a:t>
            </a:r>
            <a:endParaRPr lang="en-US" sz="770" dirty="0"/>
          </a:p>
        </p:txBody>
      </p:sp>
      <p:sp>
        <p:nvSpPr>
          <p:cNvPr id="25" name="Shape 23"/>
          <p:cNvSpPr/>
          <p:nvPr/>
        </p:nvSpPr>
        <p:spPr>
          <a:xfrm>
            <a:off x="914400" y="4846320"/>
            <a:ext cx="1371600" cy="502920"/>
          </a:xfrm>
          <a:prstGeom prst="roundRect">
            <a:avLst>
              <a:gd name="adj" fmla="val 12727"/>
            </a:avLst>
          </a:prstGeom>
          <a:solidFill>
            <a:srgbClr val="DCFCE7"/>
          </a:solidFill>
          <a:ln w="10160">
            <a:solidFill>
              <a:srgbClr val="DCFCE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7552" y="4901184"/>
            <a:ext cx="1225296" cy="393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47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planned demand</a:t>
            </a:r>
            <a:endParaRPr lang="en-US" sz="830" dirty="0"/>
          </a:p>
        </p:txBody>
      </p:sp>
      <p:sp>
        <p:nvSpPr>
          <p:cNvPr id="27" name="Shape 25"/>
          <p:cNvSpPr/>
          <p:nvPr/>
        </p:nvSpPr>
        <p:spPr>
          <a:xfrm>
            <a:off x="2286000" y="5102352"/>
            <a:ext cx="3657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2651760" y="4846320"/>
            <a:ext cx="1371600" cy="502920"/>
          </a:xfrm>
          <a:prstGeom prst="roundRect">
            <a:avLst>
              <a:gd name="adj" fmla="val 12727"/>
            </a:avLst>
          </a:prstGeom>
          <a:solidFill>
            <a:srgbClr val="E0F2FE"/>
          </a:solidFill>
          <a:ln w="10160">
            <a:solidFill>
              <a:srgbClr val="E0F2F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24912" y="4901184"/>
            <a:ext cx="1225296" cy="393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 GRN</a:t>
            </a:r>
            <a:endParaRPr lang="en-US" sz="830" dirty="0"/>
          </a:p>
        </p:txBody>
      </p:sp>
      <p:sp>
        <p:nvSpPr>
          <p:cNvPr id="30" name="Shape 28"/>
          <p:cNvSpPr/>
          <p:nvPr/>
        </p:nvSpPr>
        <p:spPr>
          <a:xfrm>
            <a:off x="4023360" y="5102352"/>
            <a:ext cx="3657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4389120" y="4846320"/>
            <a:ext cx="1371600" cy="502920"/>
          </a:xfrm>
          <a:prstGeom prst="roundRect">
            <a:avLst>
              <a:gd name="adj" fmla="val 12727"/>
            </a:avLst>
          </a:prstGeom>
          <a:solidFill>
            <a:srgbClr val="DCFCE7"/>
          </a:solidFill>
          <a:ln w="10160">
            <a:solidFill>
              <a:srgbClr val="DCFCE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62272" y="4901184"/>
            <a:ext cx="1225296" cy="393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47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Release QC</a:t>
            </a:r>
            <a:endParaRPr lang="en-US" sz="830" dirty="0"/>
          </a:p>
        </p:txBody>
      </p:sp>
      <p:sp>
        <p:nvSpPr>
          <p:cNvPr id="33" name="Shape 31"/>
          <p:cNvSpPr/>
          <p:nvPr/>
        </p:nvSpPr>
        <p:spPr>
          <a:xfrm>
            <a:off x="5760720" y="5102352"/>
            <a:ext cx="3657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6126480" y="4846320"/>
            <a:ext cx="1371600" cy="502920"/>
          </a:xfrm>
          <a:prstGeom prst="roundRect">
            <a:avLst>
              <a:gd name="adj" fmla="val 12727"/>
            </a:avLst>
          </a:prstGeom>
          <a:solidFill>
            <a:srgbClr val="E0F2FE"/>
          </a:solidFill>
          <a:ln w="10160">
            <a:solidFill>
              <a:srgbClr val="E0F2F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99632" y="4901184"/>
            <a:ext cx="1225296" cy="393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Issue material</a:t>
            </a:r>
            <a:endParaRPr lang="en-US" sz="830" dirty="0"/>
          </a:p>
        </p:txBody>
      </p:sp>
      <p:sp>
        <p:nvSpPr>
          <p:cNvPr id="36" name="Shape 34"/>
          <p:cNvSpPr/>
          <p:nvPr/>
        </p:nvSpPr>
        <p:spPr>
          <a:xfrm>
            <a:off x="7498080" y="5102352"/>
            <a:ext cx="3657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7863840" y="4846320"/>
            <a:ext cx="1371600" cy="502920"/>
          </a:xfrm>
          <a:prstGeom prst="roundRect">
            <a:avLst>
              <a:gd name="adj" fmla="val 12727"/>
            </a:avLst>
          </a:prstGeom>
          <a:solidFill>
            <a:srgbClr val="DCFCE7"/>
          </a:solidFill>
          <a:ln w="10160">
            <a:solidFill>
              <a:srgbClr val="DCFCE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936992" y="4901184"/>
            <a:ext cx="1225296" cy="393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47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 output</a:t>
            </a:r>
            <a:endParaRPr lang="en-US" sz="830" dirty="0"/>
          </a:p>
        </p:txBody>
      </p:sp>
      <p:sp>
        <p:nvSpPr>
          <p:cNvPr id="39" name="Shape 37"/>
          <p:cNvSpPr/>
          <p:nvPr/>
        </p:nvSpPr>
        <p:spPr>
          <a:xfrm>
            <a:off x="9235440" y="5102352"/>
            <a:ext cx="3657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9601200" y="4846320"/>
            <a:ext cx="1371600" cy="502920"/>
          </a:xfrm>
          <a:prstGeom prst="roundRect">
            <a:avLst>
              <a:gd name="adj" fmla="val 12727"/>
            </a:avLst>
          </a:prstGeom>
          <a:solidFill>
            <a:srgbClr val="E0F2FE"/>
          </a:solidFill>
          <a:ln w="10160">
            <a:solidFill>
              <a:srgbClr val="E0F2F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674352" y="4901184"/>
            <a:ext cx="1225296" cy="393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 dispatch</a:t>
            </a:r>
            <a:endParaRPr lang="en-US" sz="830" dirty="0"/>
          </a:p>
        </p:txBody>
      </p:sp>
      <p:sp>
        <p:nvSpPr>
          <p:cNvPr id="42" name="Shape 40"/>
          <p:cNvSpPr/>
          <p:nvPr/>
        </p:nvSpPr>
        <p:spPr>
          <a:xfrm>
            <a:off x="438912" y="6446520"/>
            <a:ext cx="11292840" cy="0"/>
          </a:xfrm>
          <a:prstGeom prst="line">
            <a:avLst/>
          </a:prstGeom>
          <a:noFill/>
          <a:ln w="7620">
            <a:solidFill>
              <a:srgbClr val="CBD5E1">
                <a:alpha val="55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38912" y="6565392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Tan90 Manufacturing ERP MVP • Client-ready architecture deck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11228832" y="654710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329184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047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 HIERARCHY</a:t>
            </a:r>
            <a:endParaRPr lang="en-US" sz="820" dirty="0"/>
          </a:p>
        </p:txBody>
      </p:sp>
      <p:sp>
        <p:nvSpPr>
          <p:cNvPr id="3" name="Text 1"/>
          <p:cNvSpPr/>
          <p:nvPr/>
        </p:nvSpPr>
        <p:spPr>
          <a:xfrm>
            <a:off x="438912" y="566928"/>
            <a:ext cx="9875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Four levels with controlled delegation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38912" y="1133856"/>
            <a:ext cx="98755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The hierarchy matches how access should flow: global control → vertical control → team control → execution.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17804" y="1467612"/>
            <a:ext cx="5193792" cy="2816352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0160">
            <a:solidFill>
              <a:srgbClr val="CBD5E1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pic>
        <p:nvPicPr>
          <p:cNvPr id="6" name="Image 0" descr="/mnt/data/879a6b20-e93b-4b37-b8dd-84847ebb6af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700767"/>
            <a:ext cx="5166360" cy="2350041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46520" y="1536192"/>
            <a:ext cx="507492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656832" y="1700784"/>
            <a:ext cx="420624" cy="256032"/>
          </a:xfrm>
          <a:prstGeom prst="roundRect">
            <a:avLst>
              <a:gd name="adj" fmla="val 28571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729984" y="1751076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2563EB"/>
                </a:solidFill>
              </a:rPr>
              <a:t>L1</a:t>
            </a:r>
            <a:endParaRPr lang="en-US" sz="730" dirty="0"/>
          </a:p>
        </p:txBody>
      </p:sp>
      <p:sp>
        <p:nvSpPr>
          <p:cNvPr id="10" name="Text 7"/>
          <p:cNvSpPr/>
          <p:nvPr/>
        </p:nvSpPr>
        <p:spPr>
          <a:xfrm>
            <a:off x="7242048" y="1700784"/>
            <a:ext cx="173736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L1 Super Admin</a:t>
            </a:r>
            <a:endParaRPr lang="en-US" sz="1120" dirty="0"/>
          </a:p>
        </p:txBody>
      </p:sp>
      <p:sp>
        <p:nvSpPr>
          <p:cNvPr id="11" name="Text 8"/>
          <p:cNvSpPr/>
          <p:nvPr/>
        </p:nvSpPr>
        <p:spPr>
          <a:xfrm>
            <a:off x="9070848" y="1700784"/>
            <a:ext cx="196596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Owns organisation-wide access, all spaces, demo seeds and configuration.</a:t>
            </a:r>
            <a:endParaRPr lang="en-US" sz="810" dirty="0"/>
          </a:p>
        </p:txBody>
      </p:sp>
      <p:sp>
        <p:nvSpPr>
          <p:cNvPr id="12" name="Shape 9"/>
          <p:cNvSpPr/>
          <p:nvPr/>
        </p:nvSpPr>
        <p:spPr>
          <a:xfrm>
            <a:off x="6446520" y="2359152"/>
            <a:ext cx="507492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656832" y="2523744"/>
            <a:ext cx="420624" cy="256032"/>
          </a:xfrm>
          <a:prstGeom prst="roundRect">
            <a:avLst>
              <a:gd name="adj" fmla="val 28571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729984" y="2574036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2563EB"/>
                </a:solidFill>
              </a:rPr>
              <a:t>L2</a:t>
            </a:r>
            <a:endParaRPr lang="en-US" sz="730" dirty="0"/>
          </a:p>
        </p:txBody>
      </p:sp>
      <p:sp>
        <p:nvSpPr>
          <p:cNvPr id="15" name="Text 12"/>
          <p:cNvSpPr/>
          <p:nvPr/>
        </p:nvSpPr>
        <p:spPr>
          <a:xfrm>
            <a:off x="7242048" y="2523744"/>
            <a:ext cx="173736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L2 Head of Vertical</a:t>
            </a:r>
            <a:endParaRPr lang="en-US" sz="1120" dirty="0"/>
          </a:p>
        </p:txBody>
      </p:sp>
      <p:sp>
        <p:nvSpPr>
          <p:cNvPr id="16" name="Text 13"/>
          <p:cNvSpPr/>
          <p:nvPr/>
        </p:nvSpPr>
        <p:spPr>
          <a:xfrm>
            <a:off x="9070848" y="2523744"/>
            <a:ext cx="196596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Creates managers, defines vertical role templates and controls vertical dashboards.</a:t>
            </a:r>
            <a:endParaRPr lang="en-US" sz="810" dirty="0"/>
          </a:p>
        </p:txBody>
      </p:sp>
      <p:sp>
        <p:nvSpPr>
          <p:cNvPr id="17" name="Shape 14"/>
          <p:cNvSpPr/>
          <p:nvPr/>
        </p:nvSpPr>
        <p:spPr>
          <a:xfrm>
            <a:off x="6446520" y="3182112"/>
            <a:ext cx="5074920" cy="621792"/>
          </a:xfrm>
          <a:prstGeom prst="roundRect">
            <a:avLst>
              <a:gd name="adj" fmla="val 10294"/>
            </a:avLst>
          </a:prstGeom>
          <a:solidFill>
            <a:srgbClr val="ECFDF5"/>
          </a:solidFill>
          <a:ln w="10160">
            <a:solidFill>
              <a:srgbClr val="10B981">
                <a:alpha val="92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656832" y="3346704"/>
            <a:ext cx="420624" cy="256032"/>
          </a:xfrm>
          <a:prstGeom prst="roundRect">
            <a:avLst>
              <a:gd name="adj" fmla="val 28571"/>
            </a:avLst>
          </a:prstGeom>
          <a:solidFill>
            <a:srgbClr val="A7F3D0"/>
          </a:solidFill>
          <a:ln w="12700">
            <a:solidFill>
              <a:srgbClr val="A7F3D0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729984" y="3396996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047857"/>
                </a:solidFill>
              </a:rPr>
              <a:t>L3</a:t>
            </a:r>
            <a:endParaRPr lang="en-US" sz="730" dirty="0"/>
          </a:p>
        </p:txBody>
      </p:sp>
      <p:sp>
        <p:nvSpPr>
          <p:cNvPr id="20" name="Text 17"/>
          <p:cNvSpPr/>
          <p:nvPr/>
        </p:nvSpPr>
        <p:spPr>
          <a:xfrm>
            <a:off x="7242048" y="3346704"/>
            <a:ext cx="173736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L3 Manager</a:t>
            </a:r>
            <a:endParaRPr lang="en-US" sz="1120" dirty="0"/>
          </a:p>
        </p:txBody>
      </p:sp>
      <p:sp>
        <p:nvSpPr>
          <p:cNvPr id="21" name="Text 18"/>
          <p:cNvSpPr/>
          <p:nvPr/>
        </p:nvSpPr>
        <p:spPr>
          <a:xfrm>
            <a:off x="9070848" y="3346704"/>
            <a:ext cx="196596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Creates executive roles, assigns user-specific permissions and reviews team activity.</a:t>
            </a:r>
            <a:endParaRPr lang="en-US" sz="810" dirty="0"/>
          </a:p>
        </p:txBody>
      </p:sp>
      <p:sp>
        <p:nvSpPr>
          <p:cNvPr id="22" name="Shape 19"/>
          <p:cNvSpPr/>
          <p:nvPr/>
        </p:nvSpPr>
        <p:spPr>
          <a:xfrm>
            <a:off x="6446520" y="4005072"/>
            <a:ext cx="507492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656832" y="4169664"/>
            <a:ext cx="420624" cy="256032"/>
          </a:xfrm>
          <a:prstGeom prst="roundRect">
            <a:avLst>
              <a:gd name="adj" fmla="val 28571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729984" y="4219956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2563EB"/>
                </a:solidFill>
              </a:rPr>
              <a:t>L4</a:t>
            </a:r>
            <a:endParaRPr lang="en-US" sz="730" dirty="0"/>
          </a:p>
        </p:txBody>
      </p:sp>
      <p:sp>
        <p:nvSpPr>
          <p:cNvPr id="25" name="Text 22"/>
          <p:cNvSpPr/>
          <p:nvPr/>
        </p:nvSpPr>
        <p:spPr>
          <a:xfrm>
            <a:off x="7242048" y="4169664"/>
            <a:ext cx="173736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L4 Executive / Guard / Vendor</a:t>
            </a:r>
            <a:endParaRPr lang="en-US" sz="1120" dirty="0"/>
          </a:p>
        </p:txBody>
      </p:sp>
      <p:sp>
        <p:nvSpPr>
          <p:cNvPr id="26" name="Text 23"/>
          <p:cNvSpPr/>
          <p:nvPr/>
        </p:nvSpPr>
        <p:spPr>
          <a:xfrm>
            <a:off x="9070848" y="4169664"/>
            <a:ext cx="196596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Performs work and can customise unlocked dashboard widgets.</a:t>
            </a:r>
            <a:endParaRPr lang="en-US" sz="810" dirty="0"/>
          </a:p>
        </p:txBody>
      </p:sp>
      <p:sp>
        <p:nvSpPr>
          <p:cNvPr id="27" name="Shape 24"/>
          <p:cNvSpPr/>
          <p:nvPr/>
        </p:nvSpPr>
        <p:spPr>
          <a:xfrm>
            <a:off x="1188720" y="5074920"/>
            <a:ext cx="9921240" cy="64008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 w="10160">
            <a:solidFill>
              <a:srgbClr val="FCD34D">
                <a:alpha val="9200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508760" y="5303520"/>
            <a:ext cx="928116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92400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Critical rule: child level can never assign permissions, views, widgets or data scopes outside its parent delegation ceiling.</a:t>
            </a:r>
            <a:endParaRPr lang="en-US" sz="1040" dirty="0"/>
          </a:p>
        </p:txBody>
      </p:sp>
      <p:sp>
        <p:nvSpPr>
          <p:cNvPr id="29" name="Shape 26"/>
          <p:cNvSpPr/>
          <p:nvPr/>
        </p:nvSpPr>
        <p:spPr>
          <a:xfrm>
            <a:off x="438912" y="6446520"/>
            <a:ext cx="11292840" cy="0"/>
          </a:xfrm>
          <a:prstGeom prst="line">
            <a:avLst/>
          </a:prstGeom>
          <a:noFill/>
          <a:ln w="7620">
            <a:solidFill>
              <a:srgbClr val="CBD5E1">
                <a:alpha val="5500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38912" y="6565392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Tan90 Manufacturing ERP MVP • Client-ready architecture deck</a:t>
            </a:r>
            <a:endParaRPr lang="en-US" sz="700" dirty="0"/>
          </a:p>
        </p:txBody>
      </p:sp>
      <p:sp>
        <p:nvSpPr>
          <p:cNvPr id="31" name="Text 28"/>
          <p:cNvSpPr/>
          <p:nvPr/>
        </p:nvSpPr>
        <p:spPr>
          <a:xfrm>
            <a:off x="11228832" y="654710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329184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86EFA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 ENGINE</a:t>
            </a:r>
            <a:endParaRPr lang="en-US" sz="820" dirty="0"/>
          </a:p>
        </p:txBody>
      </p:sp>
      <p:sp>
        <p:nvSpPr>
          <p:cNvPr id="3" name="Text 1"/>
          <p:cNvSpPr/>
          <p:nvPr/>
        </p:nvSpPr>
        <p:spPr>
          <a:xfrm>
            <a:off x="438912" y="566928"/>
            <a:ext cx="9875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Deep permissions, not only checkbox roles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38912" y="1133856"/>
            <a:ext cx="98755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The permission system must decide access at module, route, action, field, data and widget level.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1664208"/>
            <a:ext cx="2331720" cy="768096"/>
          </a:xfrm>
          <a:prstGeom prst="roundRect">
            <a:avLst>
              <a:gd name="adj" fmla="val 8333"/>
            </a:avLst>
          </a:prstGeom>
          <a:solidFill>
            <a:srgbClr val="111827"/>
          </a:solidFill>
          <a:ln w="10160">
            <a:solidFill>
              <a:srgbClr val="334155">
                <a:alpha val="92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847088"/>
            <a:ext cx="91440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58952" y="2139696"/>
            <a:ext cx="192024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production.space.view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383280" y="1664208"/>
            <a:ext cx="2331720" cy="768096"/>
          </a:xfrm>
          <a:prstGeom prst="roundRect">
            <a:avLst>
              <a:gd name="adj" fmla="val 8333"/>
            </a:avLst>
          </a:prstGeom>
          <a:solidFill>
            <a:srgbClr val="111827"/>
          </a:solidFill>
          <a:ln w="10160">
            <a:solidFill>
              <a:srgbClr val="334155">
                <a:alpha val="92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47872" y="1847088"/>
            <a:ext cx="91440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Navigation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547872" y="2139696"/>
            <a:ext cx="192024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source.grn.menu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6172200" y="1664208"/>
            <a:ext cx="2331720" cy="768096"/>
          </a:xfrm>
          <a:prstGeom prst="roundRect">
            <a:avLst>
              <a:gd name="adj" fmla="val 8333"/>
            </a:avLst>
          </a:prstGeom>
          <a:solidFill>
            <a:srgbClr val="111827"/>
          </a:solidFill>
          <a:ln w="10160">
            <a:solidFill>
              <a:srgbClr val="334155">
                <a:alpha val="92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36792" y="1847088"/>
            <a:ext cx="91440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Route/Page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336792" y="2139696"/>
            <a:ext cx="192024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production.work_orders.show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8961120" y="1664208"/>
            <a:ext cx="2331720" cy="768096"/>
          </a:xfrm>
          <a:prstGeom prst="roundRect">
            <a:avLst>
              <a:gd name="adj" fmla="val 8333"/>
            </a:avLst>
          </a:prstGeom>
          <a:solidFill>
            <a:srgbClr val="111827"/>
          </a:solidFill>
          <a:ln w="10160">
            <a:solidFill>
              <a:srgbClr val="334155">
                <a:alpha val="92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25712" y="1847088"/>
            <a:ext cx="91440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Tab/Section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125712" y="2139696"/>
            <a:ext cx="192024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grn.qc_tab.view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594360" y="2761488"/>
            <a:ext cx="2331720" cy="768096"/>
          </a:xfrm>
          <a:prstGeom prst="roundRect">
            <a:avLst>
              <a:gd name="adj" fmla="val 8333"/>
            </a:avLst>
          </a:prstGeom>
          <a:solidFill>
            <a:srgbClr val="111827"/>
          </a:solidFill>
          <a:ln w="10160">
            <a:solidFill>
              <a:srgbClr val="334155">
                <a:alpha val="92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8952" y="2944368"/>
            <a:ext cx="91440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Action/Button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58952" y="3236976"/>
            <a:ext cx="192024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qc.hold.release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383280" y="2761488"/>
            <a:ext cx="2331720" cy="768096"/>
          </a:xfrm>
          <a:prstGeom prst="roundRect">
            <a:avLst>
              <a:gd name="adj" fmla="val 8333"/>
            </a:avLst>
          </a:prstGeom>
          <a:solidFill>
            <a:srgbClr val="064E3B"/>
          </a:solidFill>
          <a:ln w="10160">
            <a:solidFill>
              <a:srgbClr val="10B981">
                <a:alpha val="92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47872" y="2944368"/>
            <a:ext cx="91440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Field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547872" y="3236976"/>
            <a:ext cx="192024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vendor_invoice.value.mask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6172200" y="2761488"/>
            <a:ext cx="2331720" cy="768096"/>
          </a:xfrm>
          <a:prstGeom prst="roundRect">
            <a:avLst>
              <a:gd name="adj" fmla="val 8333"/>
            </a:avLst>
          </a:prstGeom>
          <a:solidFill>
            <a:srgbClr val="111827"/>
          </a:solidFill>
          <a:ln w="10160">
            <a:solidFill>
              <a:srgbClr val="334155">
                <a:alpha val="92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36792" y="2944368"/>
            <a:ext cx="91440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Scope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336792" y="3236976"/>
            <a:ext cx="192024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plant:BLR + team:A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8961120" y="2761488"/>
            <a:ext cx="2331720" cy="768096"/>
          </a:xfrm>
          <a:prstGeom prst="roundRect">
            <a:avLst>
              <a:gd name="adj" fmla="val 8333"/>
            </a:avLst>
          </a:prstGeom>
          <a:solidFill>
            <a:srgbClr val="111827"/>
          </a:solidFill>
          <a:ln w="10160">
            <a:solidFill>
              <a:srgbClr val="334155">
                <a:alpha val="92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25712" y="2944368"/>
            <a:ext cx="91440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Widget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125712" y="3236976"/>
            <a:ext cx="192024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dashboard.low_stock.view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685800" y="4297680"/>
            <a:ext cx="1234440" cy="256032"/>
          </a:xfrm>
          <a:prstGeom prst="roundRect">
            <a:avLst>
              <a:gd name="adj" fmla="val 28571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8952" y="4347972"/>
            <a:ext cx="1088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2563EB"/>
                </a:solidFill>
              </a:rPr>
              <a:t>Inherit</a:t>
            </a:r>
            <a:endParaRPr lang="en-US" sz="730" dirty="0"/>
          </a:p>
        </p:txBody>
      </p:sp>
      <p:sp>
        <p:nvSpPr>
          <p:cNvPr id="31" name="Shape 29"/>
          <p:cNvSpPr/>
          <p:nvPr/>
        </p:nvSpPr>
        <p:spPr>
          <a:xfrm>
            <a:off x="2313432" y="4297680"/>
            <a:ext cx="1234440" cy="256032"/>
          </a:xfrm>
          <a:prstGeom prst="roundRect">
            <a:avLst>
              <a:gd name="adj" fmla="val 28571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386584" y="4347972"/>
            <a:ext cx="1088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2563EB"/>
                </a:solidFill>
              </a:rPr>
              <a:t>Allow</a:t>
            </a:r>
            <a:endParaRPr lang="en-US" sz="730" dirty="0"/>
          </a:p>
        </p:txBody>
      </p:sp>
      <p:sp>
        <p:nvSpPr>
          <p:cNvPr id="33" name="Shape 31"/>
          <p:cNvSpPr/>
          <p:nvPr/>
        </p:nvSpPr>
        <p:spPr>
          <a:xfrm>
            <a:off x="3941064" y="4297680"/>
            <a:ext cx="1234440" cy="256032"/>
          </a:xfrm>
          <a:prstGeom prst="roundRect">
            <a:avLst>
              <a:gd name="adj" fmla="val 28571"/>
            </a:avLst>
          </a:prstGeom>
          <a:solidFill>
            <a:srgbClr val="FFE4E6"/>
          </a:solidFill>
          <a:ln w="12700">
            <a:solidFill>
              <a:srgbClr val="FFE4E6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014216" y="4347972"/>
            <a:ext cx="1088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E11D48"/>
                </a:solidFill>
              </a:rPr>
              <a:t>Deny</a:t>
            </a:r>
            <a:endParaRPr lang="en-US" sz="730" dirty="0"/>
          </a:p>
        </p:txBody>
      </p:sp>
      <p:sp>
        <p:nvSpPr>
          <p:cNvPr id="35" name="Shape 33"/>
          <p:cNvSpPr/>
          <p:nvPr/>
        </p:nvSpPr>
        <p:spPr>
          <a:xfrm>
            <a:off x="5568696" y="4297680"/>
            <a:ext cx="1234440" cy="256032"/>
          </a:xfrm>
          <a:prstGeom prst="roundRect">
            <a:avLst>
              <a:gd name="adj" fmla="val 28571"/>
            </a:avLst>
          </a:prstGeom>
          <a:solidFill>
            <a:srgbClr val="DCFCE7"/>
          </a:solidFill>
          <a:ln w="12700">
            <a:solidFill>
              <a:srgbClr val="DCFCE7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41848" y="4347972"/>
            <a:ext cx="1088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047857"/>
                </a:solidFill>
              </a:rPr>
              <a:t>Delegable</a:t>
            </a:r>
            <a:endParaRPr lang="en-US" sz="730" dirty="0"/>
          </a:p>
        </p:txBody>
      </p:sp>
      <p:sp>
        <p:nvSpPr>
          <p:cNvPr id="37" name="Shape 35"/>
          <p:cNvSpPr/>
          <p:nvPr/>
        </p:nvSpPr>
        <p:spPr>
          <a:xfrm>
            <a:off x="7196328" y="4297680"/>
            <a:ext cx="1234440" cy="256032"/>
          </a:xfrm>
          <a:prstGeom prst="roundRect">
            <a:avLst>
              <a:gd name="adj" fmla="val 28571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269480" y="4347972"/>
            <a:ext cx="1088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2563EB"/>
                </a:solidFill>
              </a:rPr>
              <a:t>Locked</a:t>
            </a:r>
            <a:endParaRPr lang="en-US" sz="730" dirty="0"/>
          </a:p>
        </p:txBody>
      </p:sp>
      <p:sp>
        <p:nvSpPr>
          <p:cNvPr id="39" name="Shape 37"/>
          <p:cNvSpPr/>
          <p:nvPr/>
        </p:nvSpPr>
        <p:spPr>
          <a:xfrm>
            <a:off x="8823960" y="4297680"/>
            <a:ext cx="1234440" cy="256032"/>
          </a:xfrm>
          <a:prstGeom prst="roundRect">
            <a:avLst>
              <a:gd name="adj" fmla="val 28571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897112" y="4347972"/>
            <a:ext cx="1088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2563EB"/>
                </a:solidFill>
              </a:rPr>
              <a:t>Temporary</a:t>
            </a:r>
            <a:endParaRPr lang="en-US" sz="730" dirty="0"/>
          </a:p>
        </p:txBody>
      </p:sp>
      <p:sp>
        <p:nvSpPr>
          <p:cNvPr id="41" name="Shape 39"/>
          <p:cNvSpPr/>
          <p:nvPr/>
        </p:nvSpPr>
        <p:spPr>
          <a:xfrm>
            <a:off x="10451592" y="4297680"/>
            <a:ext cx="1234440" cy="256032"/>
          </a:xfrm>
          <a:prstGeom prst="roundRect">
            <a:avLst>
              <a:gd name="adj" fmla="val 28571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524744" y="4347972"/>
            <a:ext cx="1088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2563EB"/>
                </a:solidFill>
              </a:rPr>
              <a:t>Approval required</a:t>
            </a:r>
            <a:endParaRPr lang="en-US" sz="730" dirty="0"/>
          </a:p>
        </p:txBody>
      </p:sp>
      <p:sp>
        <p:nvSpPr>
          <p:cNvPr id="43" name="Shape 41"/>
          <p:cNvSpPr/>
          <p:nvPr/>
        </p:nvSpPr>
        <p:spPr>
          <a:xfrm>
            <a:off x="1097280" y="5074920"/>
            <a:ext cx="9966960" cy="621792"/>
          </a:xfrm>
          <a:prstGeom prst="roundRect">
            <a:avLst>
              <a:gd name="adj" fmla="val 10294"/>
            </a:avLst>
          </a:prstGeom>
          <a:solidFill>
            <a:srgbClr val="FEF3C7"/>
          </a:solidFill>
          <a:ln w="10160">
            <a:solidFill>
              <a:srgbClr val="FCD34D">
                <a:alpha val="92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417320" y="5285232"/>
            <a:ext cx="932688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2400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Server-side decision pattern: deny by default → resolve roles → apply direct overrides → check scope → check field/action → log decision.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38912" y="6446520"/>
            <a:ext cx="11292840" cy="0"/>
          </a:xfrm>
          <a:prstGeom prst="line">
            <a:avLst/>
          </a:prstGeom>
          <a:noFill/>
          <a:ln w="7620">
            <a:solidFill>
              <a:srgbClr val="CBD5E1">
                <a:alpha val="55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38912" y="6565392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Tan90 Manufacturing ERP MVP • Client-ready architecture deck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11228832" y="654710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329184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047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MANAGER CONTROLS</a:t>
            </a:r>
            <a:endParaRPr lang="en-US" sz="820" dirty="0"/>
          </a:p>
        </p:txBody>
      </p:sp>
      <p:sp>
        <p:nvSpPr>
          <p:cNvPr id="3" name="Text 1"/>
          <p:cNvSpPr/>
          <p:nvPr/>
        </p:nvSpPr>
        <p:spPr>
          <a:xfrm>
            <a:off x="438912" y="566928"/>
            <a:ext cx="9875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User-specific permissions without editing shared roles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38912" y="1133856"/>
            <a:ext cx="98755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Managers can grant extra view/action/field/widget access to a particular subordinate when needed, but only within their own ceiling.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1645920"/>
            <a:ext cx="3182112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77824" y="1847088"/>
            <a:ext cx="347472" cy="256032"/>
          </a:xfrm>
          <a:prstGeom prst="roundRect">
            <a:avLst>
              <a:gd name="adj" fmla="val 28571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0976" y="1897380"/>
            <a:ext cx="201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2563EB"/>
                </a:solidFill>
              </a:rPr>
              <a:t>1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353312" y="1856232"/>
            <a:ext cx="2057400" cy="1737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employee</a:t>
            </a:r>
            <a:endParaRPr lang="en-US" sz="1320" dirty="0"/>
          </a:p>
        </p:txBody>
      </p:sp>
      <p:sp>
        <p:nvSpPr>
          <p:cNvPr id="9" name="Text 7"/>
          <p:cNvSpPr/>
          <p:nvPr/>
        </p:nvSpPr>
        <p:spPr>
          <a:xfrm>
            <a:off x="932688" y="2231136"/>
            <a:ext cx="2514600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users inside manager team/scope</a:t>
            </a:r>
            <a:endParaRPr lang="en-US" sz="840" dirty="0"/>
          </a:p>
        </p:txBody>
      </p:sp>
      <p:sp>
        <p:nvSpPr>
          <p:cNvPr id="10" name="Shape 8"/>
          <p:cNvSpPr/>
          <p:nvPr/>
        </p:nvSpPr>
        <p:spPr>
          <a:xfrm>
            <a:off x="4361688" y="1645920"/>
            <a:ext cx="3182112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81144" y="1847088"/>
            <a:ext cx="347472" cy="256032"/>
          </a:xfrm>
          <a:prstGeom prst="roundRect">
            <a:avLst>
              <a:gd name="adj" fmla="val 28571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54296" y="1897380"/>
            <a:ext cx="201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2563EB"/>
                </a:solidFill>
              </a:rPr>
              <a:t>2</a:t>
            </a:r>
            <a:endParaRPr lang="en-US" sz="730" dirty="0"/>
          </a:p>
        </p:txBody>
      </p:sp>
      <p:sp>
        <p:nvSpPr>
          <p:cNvPr id="13" name="Text 11"/>
          <p:cNvSpPr/>
          <p:nvPr/>
        </p:nvSpPr>
        <p:spPr>
          <a:xfrm>
            <a:off x="5056632" y="1856232"/>
            <a:ext cx="2057400" cy="1737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access type</a:t>
            </a:r>
            <a:endParaRPr lang="en-US" sz="1320" dirty="0"/>
          </a:p>
        </p:txBody>
      </p:sp>
      <p:sp>
        <p:nvSpPr>
          <p:cNvPr id="14" name="Text 12"/>
          <p:cNvSpPr/>
          <p:nvPr/>
        </p:nvSpPr>
        <p:spPr>
          <a:xfrm>
            <a:off x="4636008" y="2231136"/>
            <a:ext cx="2514600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Page, action, field, saved view, widget</a:t>
            </a:r>
            <a:endParaRPr lang="en-US" sz="840" dirty="0"/>
          </a:p>
        </p:txBody>
      </p:sp>
      <p:sp>
        <p:nvSpPr>
          <p:cNvPr id="15" name="Shape 13"/>
          <p:cNvSpPr/>
          <p:nvPr/>
        </p:nvSpPr>
        <p:spPr>
          <a:xfrm>
            <a:off x="8065008" y="1645920"/>
            <a:ext cx="3182112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84464" y="1847088"/>
            <a:ext cx="347472" cy="256032"/>
          </a:xfrm>
          <a:prstGeom prst="roundRect">
            <a:avLst>
              <a:gd name="adj" fmla="val 28571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57616" y="1897380"/>
            <a:ext cx="201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2563EB"/>
                </a:solidFill>
              </a:rPr>
              <a:t>3</a:t>
            </a:r>
            <a:endParaRPr lang="en-US" sz="730" dirty="0"/>
          </a:p>
        </p:txBody>
      </p:sp>
      <p:sp>
        <p:nvSpPr>
          <p:cNvPr id="18" name="Text 16"/>
          <p:cNvSpPr/>
          <p:nvPr/>
        </p:nvSpPr>
        <p:spPr>
          <a:xfrm>
            <a:off x="8759952" y="1856232"/>
            <a:ext cx="2057400" cy="1737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 scope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8339328" y="2231136"/>
            <a:ext cx="2514600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Plant, warehouse, team, assigned records</a:t>
            </a:r>
            <a:endParaRPr lang="en-US" sz="840" dirty="0"/>
          </a:p>
        </p:txBody>
      </p:sp>
      <p:sp>
        <p:nvSpPr>
          <p:cNvPr id="20" name="Shape 18"/>
          <p:cNvSpPr/>
          <p:nvPr/>
        </p:nvSpPr>
        <p:spPr>
          <a:xfrm>
            <a:off x="658368" y="3063240"/>
            <a:ext cx="3182112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77824" y="3264408"/>
            <a:ext cx="347472" cy="256032"/>
          </a:xfrm>
          <a:prstGeom prst="roundRect">
            <a:avLst>
              <a:gd name="adj" fmla="val 28571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0976" y="3314700"/>
            <a:ext cx="201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2563EB"/>
                </a:solidFill>
              </a:rPr>
              <a:t>4</a:t>
            </a:r>
            <a:endParaRPr lang="en-US" sz="730" dirty="0"/>
          </a:p>
        </p:txBody>
      </p:sp>
      <p:sp>
        <p:nvSpPr>
          <p:cNvPr id="23" name="Text 21"/>
          <p:cNvSpPr/>
          <p:nvPr/>
        </p:nvSpPr>
        <p:spPr>
          <a:xfrm>
            <a:off x="1353312" y="3273552"/>
            <a:ext cx="2057400" cy="1737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Reason + expiry</a:t>
            </a:r>
            <a:endParaRPr lang="en-US" sz="1320" dirty="0"/>
          </a:p>
        </p:txBody>
      </p:sp>
      <p:sp>
        <p:nvSpPr>
          <p:cNvPr id="24" name="Text 22"/>
          <p:cNvSpPr/>
          <p:nvPr/>
        </p:nvSpPr>
        <p:spPr>
          <a:xfrm>
            <a:off x="932688" y="3648456"/>
            <a:ext cx="2514600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Temporary or permanent with audit reason</a:t>
            </a:r>
            <a:endParaRPr lang="en-US" sz="840" dirty="0"/>
          </a:p>
        </p:txBody>
      </p:sp>
      <p:sp>
        <p:nvSpPr>
          <p:cNvPr id="25" name="Shape 23"/>
          <p:cNvSpPr/>
          <p:nvPr/>
        </p:nvSpPr>
        <p:spPr>
          <a:xfrm>
            <a:off x="4361688" y="3063240"/>
            <a:ext cx="3182112" cy="987552"/>
          </a:xfrm>
          <a:prstGeom prst="roundRect">
            <a:avLst>
              <a:gd name="adj" fmla="val 6481"/>
            </a:avLst>
          </a:prstGeom>
          <a:solidFill>
            <a:srgbClr val="ECFDF5"/>
          </a:solidFill>
          <a:ln w="10160">
            <a:solidFill>
              <a:srgbClr val="10B981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81144" y="3264408"/>
            <a:ext cx="347472" cy="256032"/>
          </a:xfrm>
          <a:prstGeom prst="roundRect">
            <a:avLst>
              <a:gd name="adj" fmla="val 28571"/>
            </a:avLst>
          </a:prstGeom>
          <a:solidFill>
            <a:srgbClr val="A7F3D0"/>
          </a:solidFill>
          <a:ln w="12700">
            <a:solidFill>
              <a:srgbClr val="A7F3D0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54296" y="3314700"/>
            <a:ext cx="201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047857"/>
                </a:solidFill>
              </a:rPr>
              <a:t>5</a:t>
            </a:r>
            <a:endParaRPr lang="en-US" sz="730" dirty="0"/>
          </a:p>
        </p:txBody>
      </p:sp>
      <p:sp>
        <p:nvSpPr>
          <p:cNvPr id="28" name="Text 26"/>
          <p:cNvSpPr/>
          <p:nvPr/>
        </p:nvSpPr>
        <p:spPr>
          <a:xfrm>
            <a:off x="5056632" y="3273552"/>
            <a:ext cx="2057400" cy="1737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Preview effective access</a:t>
            </a:r>
            <a:endParaRPr lang="en-US" sz="1320" dirty="0"/>
          </a:p>
        </p:txBody>
      </p:sp>
      <p:sp>
        <p:nvSpPr>
          <p:cNvPr id="29" name="Text 27"/>
          <p:cNvSpPr/>
          <p:nvPr/>
        </p:nvSpPr>
        <p:spPr>
          <a:xfrm>
            <a:off x="4636008" y="3648456"/>
            <a:ext cx="2514600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inherited + override + blocked items</a:t>
            </a:r>
            <a:endParaRPr lang="en-US" sz="840" dirty="0"/>
          </a:p>
        </p:txBody>
      </p:sp>
      <p:sp>
        <p:nvSpPr>
          <p:cNvPr id="30" name="Shape 28"/>
          <p:cNvSpPr/>
          <p:nvPr/>
        </p:nvSpPr>
        <p:spPr>
          <a:xfrm>
            <a:off x="8065008" y="3063240"/>
            <a:ext cx="3182112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284464" y="3264408"/>
            <a:ext cx="347472" cy="256032"/>
          </a:xfrm>
          <a:prstGeom prst="roundRect">
            <a:avLst>
              <a:gd name="adj" fmla="val 28571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57616" y="3314700"/>
            <a:ext cx="201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2563EB"/>
                </a:solidFill>
              </a:rPr>
              <a:t>6</a:t>
            </a:r>
            <a:endParaRPr lang="en-US" sz="730" dirty="0"/>
          </a:p>
        </p:txBody>
      </p:sp>
      <p:sp>
        <p:nvSpPr>
          <p:cNvPr id="33" name="Text 31"/>
          <p:cNvSpPr/>
          <p:nvPr/>
        </p:nvSpPr>
        <p:spPr>
          <a:xfrm>
            <a:off x="8759952" y="3273552"/>
            <a:ext cx="2057400" cy="1737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Submit / approve</a:t>
            </a:r>
            <a:endParaRPr lang="en-US" sz="1320" dirty="0"/>
          </a:p>
        </p:txBody>
      </p:sp>
      <p:sp>
        <p:nvSpPr>
          <p:cNvPr id="34" name="Text 32"/>
          <p:cNvSpPr/>
          <p:nvPr/>
        </p:nvSpPr>
        <p:spPr>
          <a:xfrm>
            <a:off x="8339328" y="3648456"/>
            <a:ext cx="2514600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Auto-apply or route to Head if required</a:t>
            </a:r>
            <a:endParaRPr lang="en-US" sz="840" dirty="0"/>
          </a:p>
        </p:txBody>
      </p:sp>
      <p:sp>
        <p:nvSpPr>
          <p:cNvPr id="35" name="Shape 33"/>
          <p:cNvSpPr/>
          <p:nvPr/>
        </p:nvSpPr>
        <p:spPr>
          <a:xfrm>
            <a:off x="960120" y="4983480"/>
            <a:ext cx="1024128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1261872" y="5230368"/>
            <a:ext cx="960120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Example: QC Manager gives “final_qc.release_hold” to Priya for Plant BLR only, valid 7 days, because the senior inspector is on leave. Activity log stores reason and expiry.</a:t>
            </a:r>
            <a:endParaRPr lang="en-US" sz="960" dirty="0"/>
          </a:p>
        </p:txBody>
      </p:sp>
      <p:sp>
        <p:nvSpPr>
          <p:cNvPr id="37" name="Shape 35"/>
          <p:cNvSpPr/>
          <p:nvPr/>
        </p:nvSpPr>
        <p:spPr>
          <a:xfrm>
            <a:off x="438912" y="6446520"/>
            <a:ext cx="11292840" cy="0"/>
          </a:xfrm>
          <a:prstGeom prst="line">
            <a:avLst/>
          </a:prstGeom>
          <a:noFill/>
          <a:ln w="7620">
            <a:solidFill>
              <a:srgbClr val="CBD5E1">
                <a:alpha val="55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8912" y="6565392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Tan90 Manufacturing ERP MVP • Client-ready architecture deck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11228832" y="654710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329184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047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LOGIN</a:t>
            </a:r>
            <a:endParaRPr lang="en-US" sz="820" dirty="0"/>
          </a:p>
        </p:txBody>
      </p:sp>
      <p:sp>
        <p:nvSpPr>
          <p:cNvPr id="3" name="Text 1"/>
          <p:cNvSpPr/>
          <p:nvPr/>
        </p:nvSpPr>
        <p:spPr>
          <a:xfrm>
            <a:off x="438912" y="566928"/>
            <a:ext cx="9875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Categorised hierarchy-wise client testing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38912" y="1133856"/>
            <a:ext cx="98755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Client should be able to switch personas and immediately see menu, data, actions and dashboard changes.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1508760"/>
            <a:ext cx="5230368" cy="557784"/>
          </a:xfrm>
          <a:prstGeom prst="roundRect">
            <a:avLst>
              <a:gd name="adj" fmla="val 11475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664208"/>
            <a:ext cx="329184" cy="256032"/>
          </a:xfrm>
          <a:prstGeom prst="roundRect">
            <a:avLst>
              <a:gd name="adj" fmla="val 28571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714500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2563EB"/>
                </a:solidFill>
              </a:rPr>
              <a:t>1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280160" y="1673352"/>
            <a:ext cx="1600200" cy="137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Super Admin</a:t>
            </a:r>
            <a:endParaRPr lang="en-US" sz="1030" dirty="0"/>
          </a:p>
        </p:txBody>
      </p:sp>
      <p:sp>
        <p:nvSpPr>
          <p:cNvPr id="9" name="Text 7"/>
          <p:cNvSpPr/>
          <p:nvPr/>
        </p:nvSpPr>
        <p:spPr>
          <a:xfrm>
            <a:off x="3017520" y="1673352"/>
            <a:ext cx="1005840" cy="137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Control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4114800" y="1673352"/>
            <a:ext cx="1353312" cy="137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spaces + seed data + audit + dashboard builder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6217920" y="1508760"/>
            <a:ext cx="5230368" cy="557784"/>
          </a:xfrm>
          <a:prstGeom prst="roundRect">
            <a:avLst>
              <a:gd name="adj" fmla="val 11475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1664208"/>
            <a:ext cx="329184" cy="256032"/>
          </a:xfrm>
          <a:prstGeom prst="roundRect">
            <a:avLst>
              <a:gd name="adj" fmla="val 28571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73952" y="1714500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2563EB"/>
                </a:solidFill>
              </a:rPr>
              <a:t>2</a:t>
            </a:r>
            <a:endParaRPr lang="en-US" sz="730" dirty="0"/>
          </a:p>
        </p:txBody>
      </p:sp>
      <p:sp>
        <p:nvSpPr>
          <p:cNvPr id="14" name="Text 12"/>
          <p:cNvSpPr/>
          <p:nvPr/>
        </p:nvSpPr>
        <p:spPr>
          <a:xfrm>
            <a:off x="6903720" y="1673352"/>
            <a:ext cx="1600200" cy="137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Head: Production</a:t>
            </a:r>
            <a:endParaRPr lang="en-US" sz="1030" dirty="0"/>
          </a:p>
        </p:txBody>
      </p:sp>
      <p:sp>
        <p:nvSpPr>
          <p:cNvPr id="15" name="Text 13"/>
          <p:cNvSpPr/>
          <p:nvPr/>
        </p:nvSpPr>
        <p:spPr>
          <a:xfrm>
            <a:off x="8641080" y="1673352"/>
            <a:ext cx="1005840" cy="137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Vertical Control</a:t>
            </a:r>
            <a:endParaRPr lang="en-US" sz="780" dirty="0"/>
          </a:p>
        </p:txBody>
      </p:sp>
      <p:sp>
        <p:nvSpPr>
          <p:cNvPr id="16" name="Text 14"/>
          <p:cNvSpPr/>
          <p:nvPr/>
        </p:nvSpPr>
        <p:spPr>
          <a:xfrm>
            <a:off x="9738360" y="1673352"/>
            <a:ext cx="1353312" cy="137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Managers, production role templates, space dashboards</a:t>
            </a:r>
            <a:endParaRPr lang="en-US" sz="740" dirty="0"/>
          </a:p>
        </p:txBody>
      </p:sp>
      <p:sp>
        <p:nvSpPr>
          <p:cNvPr id="17" name="Shape 15"/>
          <p:cNvSpPr/>
          <p:nvPr/>
        </p:nvSpPr>
        <p:spPr>
          <a:xfrm>
            <a:off x="594360" y="2286000"/>
            <a:ext cx="5230368" cy="557784"/>
          </a:xfrm>
          <a:prstGeom prst="roundRect">
            <a:avLst>
              <a:gd name="adj" fmla="val 11475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2441448"/>
            <a:ext cx="329184" cy="256032"/>
          </a:xfrm>
          <a:prstGeom prst="roundRect">
            <a:avLst>
              <a:gd name="adj" fmla="val 28571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0392" y="2491740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2563EB"/>
                </a:solidFill>
              </a:rPr>
              <a:t>3</a:t>
            </a:r>
            <a:endParaRPr lang="en-US" sz="730" dirty="0"/>
          </a:p>
        </p:txBody>
      </p:sp>
      <p:sp>
        <p:nvSpPr>
          <p:cNvPr id="20" name="Text 18"/>
          <p:cNvSpPr/>
          <p:nvPr/>
        </p:nvSpPr>
        <p:spPr>
          <a:xfrm>
            <a:off x="1280160" y="2450592"/>
            <a:ext cx="1600200" cy="137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Head: Source to Stock</a:t>
            </a:r>
            <a:endParaRPr lang="en-US" sz="1030" dirty="0"/>
          </a:p>
        </p:txBody>
      </p:sp>
      <p:sp>
        <p:nvSpPr>
          <p:cNvPr id="21" name="Text 19"/>
          <p:cNvSpPr/>
          <p:nvPr/>
        </p:nvSpPr>
        <p:spPr>
          <a:xfrm>
            <a:off x="3017520" y="2450592"/>
            <a:ext cx="1005840" cy="137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Vertical Control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4114800" y="2450592"/>
            <a:ext cx="1353312" cy="137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Procurement, GRN/QC, raw-material stock</a:t>
            </a:r>
            <a:endParaRPr lang="en-US" sz="740" dirty="0"/>
          </a:p>
        </p:txBody>
      </p:sp>
      <p:sp>
        <p:nvSpPr>
          <p:cNvPr id="23" name="Shape 21"/>
          <p:cNvSpPr/>
          <p:nvPr/>
        </p:nvSpPr>
        <p:spPr>
          <a:xfrm>
            <a:off x="6217920" y="2286000"/>
            <a:ext cx="5230368" cy="557784"/>
          </a:xfrm>
          <a:prstGeom prst="roundRect">
            <a:avLst>
              <a:gd name="adj" fmla="val 11475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0" y="2441448"/>
            <a:ext cx="329184" cy="256032"/>
          </a:xfrm>
          <a:prstGeom prst="roundRect">
            <a:avLst>
              <a:gd name="adj" fmla="val 28571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73952" y="2491740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2563EB"/>
                </a:solidFill>
              </a:rPr>
              <a:t>4</a:t>
            </a:r>
            <a:endParaRPr lang="en-US" sz="730" dirty="0"/>
          </a:p>
        </p:txBody>
      </p:sp>
      <p:sp>
        <p:nvSpPr>
          <p:cNvPr id="26" name="Text 24"/>
          <p:cNvSpPr/>
          <p:nvPr/>
        </p:nvSpPr>
        <p:spPr>
          <a:xfrm>
            <a:off x="6903720" y="2450592"/>
            <a:ext cx="1600200" cy="137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Manager: GRN + QC</a:t>
            </a:r>
            <a:endParaRPr lang="en-US" sz="1030" dirty="0"/>
          </a:p>
        </p:txBody>
      </p:sp>
      <p:sp>
        <p:nvSpPr>
          <p:cNvPr id="27" name="Text 25"/>
          <p:cNvSpPr/>
          <p:nvPr/>
        </p:nvSpPr>
        <p:spPr>
          <a:xfrm>
            <a:off x="8641080" y="2450592"/>
            <a:ext cx="1005840" cy="137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Control</a:t>
            </a:r>
            <a:endParaRPr lang="en-US" sz="780" dirty="0"/>
          </a:p>
        </p:txBody>
      </p:sp>
      <p:sp>
        <p:nvSpPr>
          <p:cNvPr id="28" name="Text 26"/>
          <p:cNvSpPr/>
          <p:nvPr/>
        </p:nvSpPr>
        <p:spPr>
          <a:xfrm>
            <a:off x="9738360" y="2450592"/>
            <a:ext cx="1353312" cy="137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Employee direct permissions, team queues, activity logs</a:t>
            </a:r>
            <a:endParaRPr lang="en-US" sz="740" dirty="0"/>
          </a:p>
        </p:txBody>
      </p:sp>
      <p:sp>
        <p:nvSpPr>
          <p:cNvPr id="29" name="Shape 27"/>
          <p:cNvSpPr/>
          <p:nvPr/>
        </p:nvSpPr>
        <p:spPr>
          <a:xfrm>
            <a:off x="594360" y="3063240"/>
            <a:ext cx="5230368" cy="557784"/>
          </a:xfrm>
          <a:prstGeom prst="roundRect">
            <a:avLst>
              <a:gd name="adj" fmla="val 11475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77240" y="3218688"/>
            <a:ext cx="329184" cy="256032"/>
          </a:xfrm>
          <a:prstGeom prst="roundRect">
            <a:avLst>
              <a:gd name="adj" fmla="val 28571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0392" y="3268980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2563EB"/>
                </a:solidFill>
              </a:rPr>
              <a:t>5</a:t>
            </a:r>
            <a:endParaRPr lang="en-US" sz="730" dirty="0"/>
          </a:p>
        </p:txBody>
      </p:sp>
      <p:sp>
        <p:nvSpPr>
          <p:cNvPr id="32" name="Text 30"/>
          <p:cNvSpPr/>
          <p:nvPr/>
        </p:nvSpPr>
        <p:spPr>
          <a:xfrm>
            <a:off x="1280160" y="3227832"/>
            <a:ext cx="1600200" cy="137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Executive: GRN only</a:t>
            </a:r>
            <a:endParaRPr lang="en-US" sz="1030" dirty="0"/>
          </a:p>
        </p:txBody>
      </p:sp>
      <p:sp>
        <p:nvSpPr>
          <p:cNvPr id="33" name="Text 31"/>
          <p:cNvSpPr/>
          <p:nvPr/>
        </p:nvSpPr>
        <p:spPr>
          <a:xfrm>
            <a:off x="3017520" y="3227832"/>
            <a:ext cx="1005840" cy="137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</a:t>
            </a:r>
            <a:endParaRPr lang="en-US" sz="780" dirty="0"/>
          </a:p>
        </p:txBody>
      </p:sp>
      <p:sp>
        <p:nvSpPr>
          <p:cNvPr id="34" name="Text 32"/>
          <p:cNvSpPr/>
          <p:nvPr/>
        </p:nvSpPr>
        <p:spPr>
          <a:xfrm>
            <a:off x="4114800" y="3227832"/>
            <a:ext cx="1353312" cy="137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 GRN, bin suggestion, assigned records</a:t>
            </a:r>
            <a:endParaRPr lang="en-US" sz="740" dirty="0"/>
          </a:p>
        </p:txBody>
      </p:sp>
      <p:sp>
        <p:nvSpPr>
          <p:cNvPr id="35" name="Shape 33"/>
          <p:cNvSpPr/>
          <p:nvPr/>
        </p:nvSpPr>
        <p:spPr>
          <a:xfrm>
            <a:off x="6217920" y="3063240"/>
            <a:ext cx="5230368" cy="557784"/>
          </a:xfrm>
          <a:prstGeom prst="roundRect">
            <a:avLst>
              <a:gd name="adj" fmla="val 11475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00800" y="3218688"/>
            <a:ext cx="329184" cy="256032"/>
          </a:xfrm>
          <a:prstGeom prst="roundRect">
            <a:avLst>
              <a:gd name="adj" fmla="val 28571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73952" y="3268980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2563EB"/>
                </a:solidFill>
              </a:rPr>
              <a:t>6</a:t>
            </a:r>
            <a:endParaRPr lang="en-US" sz="730" dirty="0"/>
          </a:p>
        </p:txBody>
      </p:sp>
      <p:sp>
        <p:nvSpPr>
          <p:cNvPr id="38" name="Text 36"/>
          <p:cNvSpPr/>
          <p:nvPr/>
        </p:nvSpPr>
        <p:spPr>
          <a:xfrm>
            <a:off x="6903720" y="3227832"/>
            <a:ext cx="1600200" cy="137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Executive: QC only</a:t>
            </a:r>
            <a:endParaRPr lang="en-US" sz="1030" dirty="0"/>
          </a:p>
        </p:txBody>
      </p:sp>
      <p:sp>
        <p:nvSpPr>
          <p:cNvPr id="39" name="Text 37"/>
          <p:cNvSpPr/>
          <p:nvPr/>
        </p:nvSpPr>
        <p:spPr>
          <a:xfrm>
            <a:off x="8641080" y="3227832"/>
            <a:ext cx="1005840" cy="137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</a:t>
            </a:r>
            <a:endParaRPr lang="en-US" sz="780" dirty="0"/>
          </a:p>
        </p:txBody>
      </p:sp>
      <p:sp>
        <p:nvSpPr>
          <p:cNvPr id="40" name="Text 38"/>
          <p:cNvSpPr/>
          <p:nvPr/>
        </p:nvSpPr>
        <p:spPr>
          <a:xfrm>
            <a:off x="9738360" y="3227832"/>
            <a:ext cx="1353312" cy="137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Inspect, hold, reject, release as permitted</a:t>
            </a:r>
            <a:endParaRPr lang="en-US" sz="740" dirty="0"/>
          </a:p>
        </p:txBody>
      </p:sp>
      <p:sp>
        <p:nvSpPr>
          <p:cNvPr id="41" name="Shape 39"/>
          <p:cNvSpPr/>
          <p:nvPr/>
        </p:nvSpPr>
        <p:spPr>
          <a:xfrm>
            <a:off x="594360" y="3840480"/>
            <a:ext cx="5230368" cy="557784"/>
          </a:xfrm>
          <a:prstGeom prst="roundRect">
            <a:avLst>
              <a:gd name="adj" fmla="val 11475"/>
            </a:avLst>
          </a:prstGeom>
          <a:solidFill>
            <a:srgbClr val="ECFDF5"/>
          </a:solidFill>
          <a:ln w="10160">
            <a:solidFill>
              <a:srgbClr val="10B981">
                <a:alpha val="92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77240" y="3995928"/>
            <a:ext cx="329184" cy="256032"/>
          </a:xfrm>
          <a:prstGeom prst="roundRect">
            <a:avLst>
              <a:gd name="adj" fmla="val 28571"/>
            </a:avLst>
          </a:prstGeom>
          <a:solidFill>
            <a:srgbClr val="A7F3D0"/>
          </a:solidFill>
          <a:ln w="12700">
            <a:solidFill>
              <a:srgbClr val="A7F3D0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50392" y="4046220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047857"/>
                </a:solidFill>
              </a:rPr>
              <a:t>7</a:t>
            </a:r>
            <a:endParaRPr lang="en-US" sz="730" dirty="0"/>
          </a:p>
        </p:txBody>
      </p:sp>
      <p:sp>
        <p:nvSpPr>
          <p:cNvPr id="44" name="Text 42"/>
          <p:cNvSpPr/>
          <p:nvPr/>
        </p:nvSpPr>
        <p:spPr>
          <a:xfrm>
            <a:off x="1280160" y="4005072"/>
            <a:ext cx="1600200" cy="137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Executive: GRN + QC</a:t>
            </a:r>
            <a:endParaRPr lang="en-US" sz="1030" dirty="0"/>
          </a:p>
        </p:txBody>
      </p:sp>
      <p:sp>
        <p:nvSpPr>
          <p:cNvPr id="45" name="Text 43"/>
          <p:cNvSpPr/>
          <p:nvPr/>
        </p:nvSpPr>
        <p:spPr>
          <a:xfrm>
            <a:off x="3017520" y="4005072"/>
            <a:ext cx="1005840" cy="137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047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 Operational</a:t>
            </a:r>
            <a:endParaRPr lang="en-US" sz="780" dirty="0"/>
          </a:p>
        </p:txBody>
      </p:sp>
      <p:sp>
        <p:nvSpPr>
          <p:cNvPr id="46" name="Text 44"/>
          <p:cNvSpPr/>
          <p:nvPr/>
        </p:nvSpPr>
        <p:spPr>
          <a:xfrm>
            <a:off x="4114800" y="4005072"/>
            <a:ext cx="1353312" cy="137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Combined dashboard with both modules</a:t>
            </a:r>
            <a:endParaRPr lang="en-US" sz="740" dirty="0"/>
          </a:p>
        </p:txBody>
      </p:sp>
      <p:sp>
        <p:nvSpPr>
          <p:cNvPr id="47" name="Shape 45"/>
          <p:cNvSpPr/>
          <p:nvPr/>
        </p:nvSpPr>
        <p:spPr>
          <a:xfrm>
            <a:off x="6217920" y="3840480"/>
            <a:ext cx="5230368" cy="557784"/>
          </a:xfrm>
          <a:prstGeom prst="roundRect">
            <a:avLst>
              <a:gd name="adj" fmla="val 11475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400800" y="3995928"/>
            <a:ext cx="329184" cy="256032"/>
          </a:xfrm>
          <a:prstGeom prst="roundRect">
            <a:avLst>
              <a:gd name="adj" fmla="val 28571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73952" y="4046220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2563EB"/>
                </a:solidFill>
              </a:rPr>
              <a:t>8</a:t>
            </a:r>
            <a:endParaRPr lang="en-US" sz="730" dirty="0"/>
          </a:p>
        </p:txBody>
      </p:sp>
      <p:sp>
        <p:nvSpPr>
          <p:cNvPr id="50" name="Text 48"/>
          <p:cNvSpPr/>
          <p:nvPr/>
        </p:nvSpPr>
        <p:spPr>
          <a:xfrm>
            <a:off x="6903720" y="4005072"/>
            <a:ext cx="1600200" cy="137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Vendor Portal</a:t>
            </a:r>
            <a:endParaRPr lang="en-US" sz="1030" dirty="0"/>
          </a:p>
        </p:txBody>
      </p:sp>
      <p:sp>
        <p:nvSpPr>
          <p:cNvPr id="51" name="Text 49"/>
          <p:cNvSpPr/>
          <p:nvPr/>
        </p:nvSpPr>
        <p:spPr>
          <a:xfrm>
            <a:off x="8641080" y="4005072"/>
            <a:ext cx="1005840" cy="137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External</a:t>
            </a:r>
            <a:endParaRPr lang="en-US" sz="780" dirty="0"/>
          </a:p>
        </p:txBody>
      </p:sp>
      <p:sp>
        <p:nvSpPr>
          <p:cNvPr id="52" name="Text 50"/>
          <p:cNvSpPr/>
          <p:nvPr/>
        </p:nvSpPr>
        <p:spPr>
          <a:xfrm>
            <a:off x="9738360" y="4005072"/>
            <a:ext cx="1353312" cy="137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ASN, delivery status, documents, limited access</a:t>
            </a:r>
            <a:endParaRPr lang="en-US" sz="740" dirty="0"/>
          </a:p>
        </p:txBody>
      </p:sp>
      <p:sp>
        <p:nvSpPr>
          <p:cNvPr id="53" name="Shape 51"/>
          <p:cNvSpPr/>
          <p:nvPr/>
        </p:nvSpPr>
        <p:spPr>
          <a:xfrm>
            <a:off x="3918204" y="4695444"/>
            <a:ext cx="4233672" cy="1033272"/>
          </a:xfrm>
          <a:prstGeom prst="roundRect">
            <a:avLst>
              <a:gd name="adj" fmla="val 6195"/>
            </a:avLst>
          </a:prstGeom>
          <a:solidFill>
            <a:srgbClr val="FFFFFF"/>
          </a:solidFill>
          <a:ln w="10160">
            <a:solidFill>
              <a:srgbClr val="CBD5E1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pic>
        <p:nvPicPr>
          <p:cNvPr id="54" name="Image 0" descr="/mnt/data/tan90-unified-mvp/preview-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03966" y="4709160"/>
            <a:ext cx="862149" cy="1005840"/>
          </a:xfrm>
          <a:prstGeom prst="rect">
            <a:avLst/>
          </a:prstGeom>
        </p:spPr>
      </p:pic>
      <p:sp>
        <p:nvSpPr>
          <p:cNvPr id="55" name="Shape 52"/>
          <p:cNvSpPr/>
          <p:nvPr/>
        </p:nvSpPr>
        <p:spPr>
          <a:xfrm>
            <a:off x="438912" y="6446520"/>
            <a:ext cx="11292840" cy="0"/>
          </a:xfrm>
          <a:prstGeom prst="line">
            <a:avLst/>
          </a:prstGeom>
          <a:noFill/>
          <a:ln w="7620">
            <a:solidFill>
              <a:srgbClr val="CBD5E1">
                <a:alpha val="55000"/>
              </a:srgbClr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438912" y="6565392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Tan90 Manufacturing ERP MVP • Client-ready architecture deck</a:t>
            </a:r>
            <a:endParaRPr lang="en-US" sz="700" dirty="0"/>
          </a:p>
        </p:txBody>
      </p:sp>
      <p:sp>
        <p:nvSpPr>
          <p:cNvPr id="57" name="Text 54"/>
          <p:cNvSpPr/>
          <p:nvPr/>
        </p:nvSpPr>
        <p:spPr>
          <a:xfrm>
            <a:off x="11228832" y="654710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329184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047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 BUILDER</a:t>
            </a:r>
            <a:endParaRPr lang="en-US" sz="820" dirty="0"/>
          </a:p>
        </p:txBody>
      </p:sp>
      <p:sp>
        <p:nvSpPr>
          <p:cNvPr id="3" name="Text 1"/>
          <p:cNvSpPr/>
          <p:nvPr/>
        </p:nvSpPr>
        <p:spPr>
          <a:xfrm>
            <a:off x="438912" y="566928"/>
            <a:ext cx="9875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Drag-and-drop dashboards for every level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38912" y="1133856"/>
            <a:ext cx="98755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Dashboard layouts should be controlled centrally but personalised safely by executives where unlocked.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80644" y="1495044"/>
            <a:ext cx="5605272" cy="4005072"/>
          </a:xfrm>
          <a:prstGeom prst="roundRect">
            <a:avLst>
              <a:gd name="adj" fmla="val 1598"/>
            </a:avLst>
          </a:prstGeom>
          <a:solidFill>
            <a:srgbClr val="FFFFFF"/>
          </a:solidFill>
          <a:ln w="10160">
            <a:solidFill>
              <a:srgbClr val="CBD5E1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pic>
        <p:nvPicPr>
          <p:cNvPr id="6" name="Image 0" descr="/mnt/data/tan90-unified-mvp/preview-dashboard-builder.png">    </p:cNvPr>
          <p:cNvPicPr>
            <a:picLocks noChangeAspect="1"/>
          </p:cNvPicPr>
          <p:nvPr/>
        </p:nvPicPr>
        <p:blipFill>
          <a:blip r:embed="rId1"/>
          <a:srcRect l="2000" r="18147" t="2000" b="16000"/>
          <a:stretch/>
        </p:blipFill>
        <p:spPr>
          <a:xfrm>
            <a:off x="594360" y="1508760"/>
            <a:ext cx="5577840" cy="39776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537960" y="1490472"/>
            <a:ext cx="4983480" cy="429768"/>
          </a:xfrm>
          <a:prstGeom prst="roundRect">
            <a:avLst>
              <a:gd name="adj" fmla="val 14894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711696" y="1600200"/>
            <a:ext cx="292608" cy="256032"/>
          </a:xfrm>
          <a:prstGeom prst="roundRect">
            <a:avLst>
              <a:gd name="adj" fmla="val 28571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784848" y="1650492"/>
            <a:ext cx="1463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2563EB"/>
                </a:solidFill>
              </a:rPr>
              <a:t>1</a:t>
            </a:r>
            <a:endParaRPr lang="en-US" sz="730" dirty="0"/>
          </a:p>
        </p:txBody>
      </p:sp>
      <p:sp>
        <p:nvSpPr>
          <p:cNvPr id="10" name="Text 7"/>
          <p:cNvSpPr/>
          <p:nvPr/>
        </p:nvSpPr>
        <p:spPr>
          <a:xfrm>
            <a:off x="7168896" y="1600200"/>
            <a:ext cx="1463040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Organisation default</a:t>
            </a:r>
            <a:endParaRPr lang="en-US" sz="940" dirty="0"/>
          </a:p>
        </p:txBody>
      </p:sp>
      <p:sp>
        <p:nvSpPr>
          <p:cNvPr id="11" name="Text 8"/>
          <p:cNvSpPr/>
          <p:nvPr/>
        </p:nvSpPr>
        <p:spPr>
          <a:xfrm>
            <a:off x="8823960" y="1600200"/>
            <a:ext cx="2240280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Super Admin publishes base templates</a:t>
            </a:r>
            <a:endParaRPr lang="en-US" sz="740" dirty="0"/>
          </a:p>
        </p:txBody>
      </p:sp>
      <p:sp>
        <p:nvSpPr>
          <p:cNvPr id="12" name="Shape 9"/>
          <p:cNvSpPr/>
          <p:nvPr/>
        </p:nvSpPr>
        <p:spPr>
          <a:xfrm>
            <a:off x="6537960" y="2084832"/>
            <a:ext cx="4983480" cy="429768"/>
          </a:xfrm>
          <a:prstGeom prst="roundRect">
            <a:avLst>
              <a:gd name="adj" fmla="val 14894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711696" y="2194560"/>
            <a:ext cx="292608" cy="256032"/>
          </a:xfrm>
          <a:prstGeom prst="roundRect">
            <a:avLst>
              <a:gd name="adj" fmla="val 28571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784848" y="2244852"/>
            <a:ext cx="1463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2563EB"/>
                </a:solidFill>
              </a:rPr>
              <a:t>2</a:t>
            </a:r>
            <a:endParaRPr lang="en-US" sz="730" dirty="0"/>
          </a:p>
        </p:txBody>
      </p:sp>
      <p:sp>
        <p:nvSpPr>
          <p:cNvPr id="15" name="Text 12"/>
          <p:cNvSpPr/>
          <p:nvPr/>
        </p:nvSpPr>
        <p:spPr>
          <a:xfrm>
            <a:off x="7168896" y="2194560"/>
            <a:ext cx="1463040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Vertical default</a:t>
            </a:r>
            <a:endParaRPr lang="en-US" sz="940" dirty="0"/>
          </a:p>
        </p:txBody>
      </p:sp>
      <p:sp>
        <p:nvSpPr>
          <p:cNvPr id="16" name="Text 13"/>
          <p:cNvSpPr/>
          <p:nvPr/>
        </p:nvSpPr>
        <p:spPr>
          <a:xfrm>
            <a:off x="8823960" y="2194560"/>
            <a:ext cx="2240280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 configures KPIs for the vertical</a:t>
            </a:r>
            <a:endParaRPr lang="en-US" sz="740" dirty="0"/>
          </a:p>
        </p:txBody>
      </p:sp>
      <p:sp>
        <p:nvSpPr>
          <p:cNvPr id="17" name="Shape 14"/>
          <p:cNvSpPr/>
          <p:nvPr/>
        </p:nvSpPr>
        <p:spPr>
          <a:xfrm>
            <a:off x="6537960" y="2679192"/>
            <a:ext cx="4983480" cy="429768"/>
          </a:xfrm>
          <a:prstGeom prst="roundRect">
            <a:avLst>
              <a:gd name="adj" fmla="val 14894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711696" y="2788920"/>
            <a:ext cx="292608" cy="256032"/>
          </a:xfrm>
          <a:prstGeom prst="roundRect">
            <a:avLst>
              <a:gd name="adj" fmla="val 28571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784848" y="2839212"/>
            <a:ext cx="1463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2563EB"/>
                </a:solidFill>
              </a:rPr>
              <a:t>3</a:t>
            </a:r>
            <a:endParaRPr lang="en-US" sz="730" dirty="0"/>
          </a:p>
        </p:txBody>
      </p:sp>
      <p:sp>
        <p:nvSpPr>
          <p:cNvPr id="20" name="Text 17"/>
          <p:cNvSpPr/>
          <p:nvPr/>
        </p:nvSpPr>
        <p:spPr>
          <a:xfrm>
            <a:off x="7168896" y="2788920"/>
            <a:ext cx="1463040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 template</a:t>
            </a:r>
            <a:endParaRPr lang="en-US" sz="940" dirty="0"/>
          </a:p>
        </p:txBody>
      </p:sp>
      <p:sp>
        <p:nvSpPr>
          <p:cNvPr id="21" name="Text 18"/>
          <p:cNvSpPr/>
          <p:nvPr/>
        </p:nvSpPr>
        <p:spPr>
          <a:xfrm>
            <a:off x="8823960" y="2788920"/>
            <a:ext cx="2240280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Default dashboard for role</a:t>
            </a:r>
            <a:endParaRPr lang="en-US" sz="740" dirty="0"/>
          </a:p>
        </p:txBody>
      </p:sp>
      <p:sp>
        <p:nvSpPr>
          <p:cNvPr id="22" name="Shape 19"/>
          <p:cNvSpPr/>
          <p:nvPr/>
        </p:nvSpPr>
        <p:spPr>
          <a:xfrm>
            <a:off x="6537960" y="3273552"/>
            <a:ext cx="4983480" cy="429768"/>
          </a:xfrm>
          <a:prstGeom prst="roundRect">
            <a:avLst>
              <a:gd name="adj" fmla="val 14894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711696" y="3383280"/>
            <a:ext cx="292608" cy="256032"/>
          </a:xfrm>
          <a:prstGeom prst="roundRect">
            <a:avLst>
              <a:gd name="adj" fmla="val 28571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784848" y="3433572"/>
            <a:ext cx="1463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2563EB"/>
                </a:solidFill>
              </a:rPr>
              <a:t>4</a:t>
            </a:r>
            <a:endParaRPr lang="en-US" sz="730" dirty="0"/>
          </a:p>
        </p:txBody>
      </p:sp>
      <p:sp>
        <p:nvSpPr>
          <p:cNvPr id="25" name="Text 22"/>
          <p:cNvSpPr/>
          <p:nvPr/>
        </p:nvSpPr>
        <p:spPr>
          <a:xfrm>
            <a:off x="7168896" y="3383280"/>
            <a:ext cx="1463040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dashboard</a:t>
            </a:r>
            <a:endParaRPr lang="en-US" sz="940" dirty="0"/>
          </a:p>
        </p:txBody>
      </p:sp>
      <p:sp>
        <p:nvSpPr>
          <p:cNvPr id="26" name="Text 23"/>
          <p:cNvSpPr/>
          <p:nvPr/>
        </p:nvSpPr>
        <p:spPr>
          <a:xfrm>
            <a:off x="8823960" y="3383280"/>
            <a:ext cx="2240280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Manager publishes team view</a:t>
            </a:r>
            <a:endParaRPr lang="en-US" sz="740" dirty="0"/>
          </a:p>
        </p:txBody>
      </p:sp>
      <p:sp>
        <p:nvSpPr>
          <p:cNvPr id="27" name="Shape 24"/>
          <p:cNvSpPr/>
          <p:nvPr/>
        </p:nvSpPr>
        <p:spPr>
          <a:xfrm>
            <a:off x="6537960" y="3867912"/>
            <a:ext cx="4983480" cy="429768"/>
          </a:xfrm>
          <a:prstGeom prst="roundRect">
            <a:avLst>
              <a:gd name="adj" fmla="val 14894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711696" y="3977640"/>
            <a:ext cx="292608" cy="256032"/>
          </a:xfrm>
          <a:prstGeom prst="roundRect">
            <a:avLst>
              <a:gd name="adj" fmla="val 28571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784848" y="4027932"/>
            <a:ext cx="1463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2563EB"/>
                </a:solidFill>
              </a:rPr>
              <a:t>5</a:t>
            </a:r>
            <a:endParaRPr lang="en-US" sz="730" dirty="0"/>
          </a:p>
        </p:txBody>
      </p:sp>
      <p:sp>
        <p:nvSpPr>
          <p:cNvPr id="30" name="Text 27"/>
          <p:cNvSpPr/>
          <p:nvPr/>
        </p:nvSpPr>
        <p:spPr>
          <a:xfrm>
            <a:off x="7168896" y="3977640"/>
            <a:ext cx="1463040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Individual dashboard</a:t>
            </a:r>
            <a:endParaRPr lang="en-US" sz="940" dirty="0"/>
          </a:p>
        </p:txBody>
      </p:sp>
      <p:sp>
        <p:nvSpPr>
          <p:cNvPr id="31" name="Text 28"/>
          <p:cNvSpPr/>
          <p:nvPr/>
        </p:nvSpPr>
        <p:spPr>
          <a:xfrm>
            <a:off x="8823960" y="3977640"/>
            <a:ext cx="2240280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Manager gives user-specific widgets</a:t>
            </a:r>
            <a:endParaRPr lang="en-US" sz="740" dirty="0"/>
          </a:p>
        </p:txBody>
      </p:sp>
      <p:sp>
        <p:nvSpPr>
          <p:cNvPr id="32" name="Shape 29"/>
          <p:cNvSpPr/>
          <p:nvPr/>
        </p:nvSpPr>
        <p:spPr>
          <a:xfrm>
            <a:off x="6537960" y="4462272"/>
            <a:ext cx="4983480" cy="429768"/>
          </a:xfrm>
          <a:prstGeom prst="roundRect">
            <a:avLst>
              <a:gd name="adj" fmla="val 14894"/>
            </a:avLst>
          </a:prstGeom>
          <a:solidFill>
            <a:srgbClr val="ECFDF5"/>
          </a:solidFill>
          <a:ln w="10160">
            <a:solidFill>
              <a:srgbClr val="10B981">
                <a:alpha val="92000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711696" y="4572000"/>
            <a:ext cx="292608" cy="256032"/>
          </a:xfrm>
          <a:prstGeom prst="roundRect">
            <a:avLst>
              <a:gd name="adj" fmla="val 28571"/>
            </a:avLst>
          </a:prstGeom>
          <a:solidFill>
            <a:srgbClr val="A7F3D0"/>
          </a:solidFill>
          <a:ln w="12700">
            <a:solidFill>
              <a:srgbClr val="A7F3D0">
                <a:alpha val="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784848" y="4622292"/>
            <a:ext cx="1463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047857"/>
                </a:solidFill>
              </a:rPr>
              <a:t>6</a:t>
            </a:r>
            <a:endParaRPr lang="en-US" sz="730" dirty="0"/>
          </a:p>
        </p:txBody>
      </p:sp>
      <p:sp>
        <p:nvSpPr>
          <p:cNvPr id="35" name="Text 32"/>
          <p:cNvSpPr/>
          <p:nvPr/>
        </p:nvSpPr>
        <p:spPr>
          <a:xfrm>
            <a:off x="7168896" y="4572000"/>
            <a:ext cx="1463040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Personal customisation</a:t>
            </a:r>
            <a:endParaRPr lang="en-US" sz="940" dirty="0"/>
          </a:p>
        </p:txBody>
      </p:sp>
      <p:sp>
        <p:nvSpPr>
          <p:cNvPr id="36" name="Text 33"/>
          <p:cNvSpPr/>
          <p:nvPr/>
        </p:nvSpPr>
        <p:spPr>
          <a:xfrm>
            <a:off x="8823960" y="4572000"/>
            <a:ext cx="2240280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reorders unlocked widgets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537960" y="5303520"/>
            <a:ext cx="4983480" cy="502920"/>
          </a:xfrm>
          <a:prstGeom prst="roundRect">
            <a:avLst>
              <a:gd name="adj" fmla="val 12727"/>
            </a:avLst>
          </a:prstGeom>
          <a:solidFill>
            <a:srgbClr val="FEF3C7"/>
          </a:solidFill>
          <a:ln w="10160">
            <a:solidFill>
              <a:srgbClr val="FCD34D">
                <a:alpha val="92000"/>
              </a:srgbClr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812280" y="5468112"/>
            <a:ext cx="438912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2400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Widget permission is separate from dashboard layout permission. A finance widget cannot appear unless finance data access is allowed.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438912" y="6446520"/>
            <a:ext cx="11292840" cy="0"/>
          </a:xfrm>
          <a:prstGeom prst="line">
            <a:avLst/>
          </a:prstGeom>
          <a:noFill/>
          <a:ln w="7620">
            <a:solidFill>
              <a:srgbClr val="CBD5E1">
                <a:alpha val="55000"/>
              </a:srgbClr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438912" y="6565392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Tan90 Manufacturing ERP MVP • Client-ready architecture deck</a:t>
            </a:r>
            <a:endParaRPr lang="en-US" sz="700" dirty="0"/>
          </a:p>
        </p:txBody>
      </p:sp>
      <p:sp>
        <p:nvSpPr>
          <p:cNvPr id="41" name="Text 38"/>
          <p:cNvSpPr/>
          <p:nvPr/>
        </p:nvSpPr>
        <p:spPr>
          <a:xfrm>
            <a:off x="11228832" y="654710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329184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047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SPACE 01</a:t>
            </a:r>
            <a:endParaRPr lang="en-US" sz="820" dirty="0"/>
          </a:p>
        </p:txBody>
      </p:sp>
      <p:sp>
        <p:nvSpPr>
          <p:cNvPr id="3" name="Text 1"/>
          <p:cNvSpPr/>
          <p:nvPr/>
        </p:nvSpPr>
        <p:spPr>
          <a:xfrm>
            <a:off x="438912" y="566928"/>
            <a:ext cx="9875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Command Center &amp; My Work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38912" y="1133856"/>
            <a:ext cx="98755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The first screen for every user: live KPIs, my tasks, approvals, alerts and exceptions based on permissions.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80644" y="1449324"/>
            <a:ext cx="5376672" cy="3941064"/>
          </a:xfrm>
          <a:prstGeom prst="roundRect">
            <a:avLst>
              <a:gd name="adj" fmla="val 1624"/>
            </a:avLst>
          </a:prstGeom>
          <a:solidFill>
            <a:srgbClr val="FFFFFF"/>
          </a:solidFill>
          <a:ln w="10160">
            <a:solidFill>
              <a:srgbClr val="CBD5E1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pic>
        <p:nvPicPr>
          <p:cNvPr id="6" name="Image 0" descr="/mnt/data/advanced-control-center.png">    </p:cNvPr>
          <p:cNvPicPr>
            <a:picLocks noChangeAspect="1"/>
          </p:cNvPicPr>
          <p:nvPr/>
        </p:nvPicPr>
        <p:blipFill>
          <a:blip r:embed="rId1"/>
          <a:srcRect l="3000" r="33519" t="0" b="24000"/>
          <a:stretch/>
        </p:blipFill>
        <p:spPr>
          <a:xfrm>
            <a:off x="594360" y="1463040"/>
            <a:ext cx="5349240" cy="391363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309360" y="1508760"/>
            <a:ext cx="516636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37960" y="1664208"/>
            <a:ext cx="146304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cockpit</a:t>
            </a:r>
            <a:endParaRPr lang="en-US" sz="1220" dirty="0"/>
          </a:p>
        </p:txBody>
      </p:sp>
      <p:sp>
        <p:nvSpPr>
          <p:cNvPr id="9" name="Text 6"/>
          <p:cNvSpPr/>
          <p:nvPr/>
        </p:nvSpPr>
        <p:spPr>
          <a:xfrm>
            <a:off x="8229600" y="1664208"/>
            <a:ext cx="27432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 production, pending QC, low stock, dispatch closure, wastage, machine utilization</a:t>
            </a:r>
            <a:endParaRPr lang="en-US" sz="830" dirty="0"/>
          </a:p>
        </p:txBody>
      </p:sp>
      <p:sp>
        <p:nvSpPr>
          <p:cNvPr id="10" name="Shape 7"/>
          <p:cNvSpPr/>
          <p:nvPr/>
        </p:nvSpPr>
        <p:spPr>
          <a:xfrm>
            <a:off x="6309360" y="2386584"/>
            <a:ext cx="5166360" cy="685800"/>
          </a:xfrm>
          <a:prstGeom prst="roundRect">
            <a:avLst>
              <a:gd name="adj" fmla="val 9333"/>
            </a:avLst>
          </a:prstGeom>
          <a:solidFill>
            <a:srgbClr val="F8FAFC"/>
          </a:solidFill>
          <a:ln w="10160">
            <a:solidFill>
              <a:srgbClr val="E5E7EB">
                <a:alpha val="92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37960" y="2542032"/>
            <a:ext cx="146304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tasks</a:t>
            </a:r>
            <a:endParaRPr lang="en-US" sz="1220" dirty="0"/>
          </a:p>
        </p:txBody>
      </p:sp>
      <p:sp>
        <p:nvSpPr>
          <p:cNvPr id="12" name="Text 9"/>
          <p:cNvSpPr/>
          <p:nvPr/>
        </p:nvSpPr>
        <p:spPr>
          <a:xfrm>
            <a:off x="8229600" y="2542032"/>
            <a:ext cx="27432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GRN pending, QC inspection, material issue, job card, approval, POD upload</a:t>
            </a:r>
            <a:endParaRPr lang="en-US" sz="830" dirty="0"/>
          </a:p>
        </p:txBody>
      </p:sp>
      <p:sp>
        <p:nvSpPr>
          <p:cNvPr id="13" name="Shape 10"/>
          <p:cNvSpPr/>
          <p:nvPr/>
        </p:nvSpPr>
        <p:spPr>
          <a:xfrm>
            <a:off x="6309360" y="3264408"/>
            <a:ext cx="516636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37960" y="3419856"/>
            <a:ext cx="146304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Exceptions</a:t>
            </a:r>
            <a:endParaRPr lang="en-US" sz="1220" dirty="0"/>
          </a:p>
        </p:txBody>
      </p:sp>
      <p:sp>
        <p:nvSpPr>
          <p:cNvPr id="15" name="Text 12"/>
          <p:cNvSpPr/>
          <p:nvPr/>
        </p:nvSpPr>
        <p:spPr>
          <a:xfrm>
            <a:off x="8229600" y="3419856"/>
            <a:ext cx="27432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Shortage, delay, quality hold, high wastage, unposted GRN, overdue dispatch</a:t>
            </a:r>
            <a:endParaRPr lang="en-US" sz="830" dirty="0"/>
          </a:p>
        </p:txBody>
      </p:sp>
      <p:sp>
        <p:nvSpPr>
          <p:cNvPr id="16" name="Shape 13"/>
          <p:cNvSpPr/>
          <p:nvPr/>
        </p:nvSpPr>
        <p:spPr>
          <a:xfrm>
            <a:off x="6309360" y="4142232"/>
            <a:ext cx="5166360" cy="685800"/>
          </a:xfrm>
          <a:prstGeom prst="roundRect">
            <a:avLst>
              <a:gd name="adj" fmla="val 9333"/>
            </a:avLst>
          </a:prstGeom>
          <a:solidFill>
            <a:srgbClr val="F8FAFC"/>
          </a:solidFill>
          <a:ln w="10160">
            <a:solidFill>
              <a:srgbClr val="E5E7EB">
                <a:alpha val="92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37960" y="4297680"/>
            <a:ext cx="146304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Drilldown</a:t>
            </a:r>
            <a:endParaRPr lang="en-US" sz="1220" dirty="0"/>
          </a:p>
        </p:txBody>
      </p:sp>
      <p:sp>
        <p:nvSpPr>
          <p:cNvPr id="18" name="Text 15"/>
          <p:cNvSpPr/>
          <p:nvPr/>
        </p:nvSpPr>
        <p:spPr>
          <a:xfrm>
            <a:off x="8229600" y="4297680"/>
            <a:ext cx="27432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Plant-wise, SKU-wise, batch-wise, user-wise and warehouse-wise views</a:t>
            </a:r>
            <a:endParaRPr lang="en-US" sz="830" dirty="0"/>
          </a:p>
        </p:txBody>
      </p:sp>
      <p:sp>
        <p:nvSpPr>
          <p:cNvPr id="19" name="Shape 16"/>
          <p:cNvSpPr/>
          <p:nvPr/>
        </p:nvSpPr>
        <p:spPr>
          <a:xfrm>
            <a:off x="438912" y="6446520"/>
            <a:ext cx="11292840" cy="0"/>
          </a:xfrm>
          <a:prstGeom prst="line">
            <a:avLst/>
          </a:prstGeom>
          <a:noFill/>
          <a:ln w="7620">
            <a:solidFill>
              <a:srgbClr val="CBD5E1">
                <a:alpha val="55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38912" y="6565392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Tan90 Manufacturing ERP MVP • Client-ready architecture deck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11228832" y="654710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329184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047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SPACE 02</a:t>
            </a:r>
            <a:endParaRPr lang="en-US" sz="820" dirty="0"/>
          </a:p>
        </p:txBody>
      </p:sp>
      <p:sp>
        <p:nvSpPr>
          <p:cNvPr id="3" name="Text 1"/>
          <p:cNvSpPr/>
          <p:nvPr/>
        </p:nvSpPr>
        <p:spPr>
          <a:xfrm>
            <a:off x="438912" y="566928"/>
            <a:ext cx="9875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People, hierarchy &amp; access control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38912" y="1133856"/>
            <a:ext cx="98755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This space controls users, roles, hierarchy, direct permissions, saved views, dashboard assignments and activity logs.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627632"/>
            <a:ext cx="3154680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50392" y="1828800"/>
            <a:ext cx="329184" cy="256032"/>
          </a:xfrm>
          <a:prstGeom prst="roundRect">
            <a:avLst>
              <a:gd name="adj" fmla="val 28571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3544" y="1879092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2563EB"/>
                </a:solidFill>
              </a:rPr>
              <a:t>1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298448" y="1828800"/>
            <a:ext cx="192024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 users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32688" y="2203704"/>
            <a:ext cx="2523744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Create, transfer, activate, deactivate, assign manager, team and plant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4343400" y="1627632"/>
            <a:ext cx="3154680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53712" y="1828800"/>
            <a:ext cx="329184" cy="256032"/>
          </a:xfrm>
          <a:prstGeom prst="roundRect">
            <a:avLst>
              <a:gd name="adj" fmla="val 28571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26864" y="1879092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2563EB"/>
                </a:solidFill>
              </a:rPr>
              <a:t>2</a:t>
            </a:r>
            <a:endParaRPr lang="en-US" sz="730" dirty="0"/>
          </a:p>
        </p:txBody>
      </p:sp>
      <p:sp>
        <p:nvSpPr>
          <p:cNvPr id="13" name="Text 11"/>
          <p:cNvSpPr/>
          <p:nvPr/>
        </p:nvSpPr>
        <p:spPr>
          <a:xfrm>
            <a:off x="5001768" y="1828800"/>
            <a:ext cx="192024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 roles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36008" y="2203704"/>
            <a:ext cx="2523744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 templates by vertical, module, screen, action, field and scope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8046720" y="1627632"/>
            <a:ext cx="3154680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10160">
            <a:solidFill>
              <a:srgbClr val="10B981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57032" y="1828800"/>
            <a:ext cx="329184" cy="256032"/>
          </a:xfrm>
          <a:prstGeom prst="roundRect">
            <a:avLst>
              <a:gd name="adj" fmla="val 28571"/>
            </a:avLst>
          </a:prstGeom>
          <a:solidFill>
            <a:srgbClr val="A7F3D0"/>
          </a:solidFill>
          <a:ln w="12700">
            <a:solidFill>
              <a:srgbClr val="A7F3D0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30184" y="1879092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047857"/>
                </a:solidFill>
              </a:rPr>
              <a:t>3</a:t>
            </a:r>
            <a:endParaRPr lang="en-US" sz="730" dirty="0"/>
          </a:p>
        </p:txBody>
      </p:sp>
      <p:sp>
        <p:nvSpPr>
          <p:cNvPr id="18" name="Text 16"/>
          <p:cNvSpPr/>
          <p:nvPr/>
        </p:nvSpPr>
        <p:spPr>
          <a:xfrm>
            <a:off x="8705088" y="1828800"/>
            <a:ext cx="192024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 grants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39328" y="2203704"/>
            <a:ext cx="2523744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 user permission with reason, expiry and ceiling validation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640080" y="3072384"/>
            <a:ext cx="3154680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50392" y="3273552"/>
            <a:ext cx="329184" cy="256032"/>
          </a:xfrm>
          <a:prstGeom prst="roundRect">
            <a:avLst>
              <a:gd name="adj" fmla="val 28571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3544" y="3323844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2563EB"/>
                </a:solidFill>
              </a:rPr>
              <a:t>4</a:t>
            </a:r>
            <a:endParaRPr lang="en-US" sz="730" dirty="0"/>
          </a:p>
        </p:txBody>
      </p:sp>
      <p:sp>
        <p:nvSpPr>
          <p:cNvPr id="23" name="Text 21"/>
          <p:cNvSpPr/>
          <p:nvPr/>
        </p:nvSpPr>
        <p:spPr>
          <a:xfrm>
            <a:off x="1298448" y="3273552"/>
            <a:ext cx="192024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Saved views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32688" y="3648456"/>
            <a:ext cx="2523744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Column visibility, filters, field masks and row actions per role/user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4343400" y="3072384"/>
            <a:ext cx="3154680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53712" y="3273552"/>
            <a:ext cx="329184" cy="256032"/>
          </a:xfrm>
          <a:prstGeom prst="roundRect">
            <a:avLst>
              <a:gd name="adj" fmla="val 28571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26864" y="3323844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2563EB"/>
                </a:solidFill>
              </a:rPr>
              <a:t>5</a:t>
            </a:r>
            <a:endParaRPr lang="en-US" sz="730" dirty="0"/>
          </a:p>
        </p:txBody>
      </p:sp>
      <p:sp>
        <p:nvSpPr>
          <p:cNvPr id="28" name="Text 26"/>
          <p:cNvSpPr/>
          <p:nvPr/>
        </p:nvSpPr>
        <p:spPr>
          <a:xfrm>
            <a:off x="5001768" y="3273552"/>
            <a:ext cx="192024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 access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636008" y="3648456"/>
            <a:ext cx="2523744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Assign widget library, defaults, locks and personal customisation rights</a:t>
            </a:r>
            <a:endParaRPr lang="en-US" sz="820" dirty="0"/>
          </a:p>
        </p:txBody>
      </p:sp>
      <p:sp>
        <p:nvSpPr>
          <p:cNvPr id="30" name="Shape 28"/>
          <p:cNvSpPr/>
          <p:nvPr/>
        </p:nvSpPr>
        <p:spPr>
          <a:xfrm>
            <a:off x="8046720" y="3072384"/>
            <a:ext cx="3154680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257032" y="3273552"/>
            <a:ext cx="329184" cy="256032"/>
          </a:xfrm>
          <a:prstGeom prst="roundRect">
            <a:avLst>
              <a:gd name="adj" fmla="val 28571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30184" y="3323844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2563EB"/>
                </a:solidFill>
              </a:rPr>
              <a:t>6</a:t>
            </a:r>
            <a:endParaRPr lang="en-US" sz="730" dirty="0"/>
          </a:p>
        </p:txBody>
      </p:sp>
      <p:sp>
        <p:nvSpPr>
          <p:cNvPr id="33" name="Text 31"/>
          <p:cNvSpPr/>
          <p:nvPr/>
        </p:nvSpPr>
        <p:spPr>
          <a:xfrm>
            <a:off x="8705088" y="3273552"/>
            <a:ext cx="192024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Activity logs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339328" y="3648456"/>
            <a:ext cx="2523744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Login, role change, permission grant, dashboard publish and employee action history</a:t>
            </a:r>
            <a:endParaRPr lang="en-US" sz="820" dirty="0"/>
          </a:p>
        </p:txBody>
      </p:sp>
      <p:sp>
        <p:nvSpPr>
          <p:cNvPr id="35" name="Shape 33"/>
          <p:cNvSpPr/>
          <p:nvPr/>
        </p:nvSpPr>
        <p:spPr>
          <a:xfrm>
            <a:off x="438912" y="6446520"/>
            <a:ext cx="11292840" cy="0"/>
          </a:xfrm>
          <a:prstGeom prst="line">
            <a:avLst/>
          </a:prstGeom>
          <a:noFill/>
          <a:ln w="7620">
            <a:solidFill>
              <a:srgbClr val="CBD5E1">
                <a:alpha val="55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8912" y="6565392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Tan90 Manufacturing ERP MVP • Client-ready architecture deck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11228832" y="654710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329184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047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UI DIRECTION</a:t>
            </a:r>
            <a:endParaRPr lang="en-US" sz="820" dirty="0"/>
          </a:p>
        </p:txBody>
      </p:sp>
      <p:sp>
        <p:nvSpPr>
          <p:cNvPr id="3" name="Text 1"/>
          <p:cNvSpPr/>
          <p:nvPr/>
        </p:nvSpPr>
        <p:spPr>
          <a:xfrm>
            <a:off x="438912" y="566928"/>
            <a:ext cx="9875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Role/user management must feel familiar and advanced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38912" y="1133856"/>
            <a:ext cx="98755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Use the provided UI reference style, then add hierarchy, direct permissions and dashboard builder controls.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89204" y="1431036"/>
            <a:ext cx="3685032" cy="1947672"/>
          </a:xfrm>
          <a:prstGeom prst="roundRect">
            <a:avLst>
              <a:gd name="adj" fmla="val 3286"/>
            </a:avLst>
          </a:prstGeom>
          <a:solidFill>
            <a:srgbClr val="FFFFFF"/>
          </a:solidFill>
          <a:ln w="10160">
            <a:solidFill>
              <a:srgbClr val="CBD5E1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pic>
        <p:nvPicPr>
          <p:cNvPr id="6" name="Image 0" descr="/mnt/data/4d72ca3d-117c-4ed2-9c70-71e82e00067d.png">    </p:cNvPr>
          <p:cNvPicPr>
            <a:picLocks noChangeAspect="1"/>
          </p:cNvPicPr>
          <p:nvPr/>
        </p:nvPicPr>
        <p:blipFill>
          <a:blip r:embed="rId1"/>
          <a:srcRect l="5000" r="5877" t="2000" b="20000"/>
          <a:stretch/>
        </p:blipFill>
        <p:spPr>
          <a:xfrm>
            <a:off x="502920" y="1444752"/>
            <a:ext cx="3657600" cy="19202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302252" y="1431036"/>
            <a:ext cx="3685032" cy="1947672"/>
          </a:xfrm>
          <a:prstGeom prst="roundRect">
            <a:avLst>
              <a:gd name="adj" fmla="val 3286"/>
            </a:avLst>
          </a:prstGeom>
          <a:solidFill>
            <a:srgbClr val="FFFFFF"/>
          </a:solidFill>
          <a:ln w="10160">
            <a:solidFill>
              <a:srgbClr val="CBD5E1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pic>
        <p:nvPicPr>
          <p:cNvPr id="8" name="Image 1" descr="/mnt/data/93c15ca1-6aaf-40c4-8737-80df8f35427b.png">    </p:cNvPr>
          <p:cNvPicPr>
            <a:picLocks noChangeAspect="1"/>
          </p:cNvPicPr>
          <p:nvPr/>
        </p:nvPicPr>
        <p:blipFill>
          <a:blip r:embed="rId2"/>
          <a:srcRect l="4000" r="11746" t="2000" b="26000"/>
          <a:stretch/>
        </p:blipFill>
        <p:spPr>
          <a:xfrm>
            <a:off x="4315968" y="1444752"/>
            <a:ext cx="3657600" cy="192024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8124444" y="1431036"/>
            <a:ext cx="3547872" cy="1947672"/>
          </a:xfrm>
          <a:prstGeom prst="roundRect">
            <a:avLst>
              <a:gd name="adj" fmla="val 3286"/>
            </a:avLst>
          </a:prstGeom>
          <a:solidFill>
            <a:srgbClr val="FFFFFF"/>
          </a:solidFill>
          <a:ln w="10160">
            <a:solidFill>
              <a:srgbClr val="CBD5E1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pic>
        <p:nvPicPr>
          <p:cNvPr id="10" name="Image 2" descr="/mnt/data/6ecec036-17ed-457e-a912-8f0f40556ab3.png">    </p:cNvPr>
          <p:cNvPicPr>
            <a:picLocks noChangeAspect="1"/>
          </p:cNvPicPr>
          <p:nvPr/>
        </p:nvPicPr>
        <p:blipFill>
          <a:blip r:embed="rId3"/>
          <a:srcRect l="4000" r="18728" t="2000" b="26000"/>
          <a:stretch/>
        </p:blipFill>
        <p:spPr>
          <a:xfrm>
            <a:off x="8138160" y="1444752"/>
            <a:ext cx="3520440" cy="192024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594360" y="3730752"/>
            <a:ext cx="342900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822960" y="3913632"/>
            <a:ext cx="13716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 Roles</a:t>
            </a:r>
            <a:endParaRPr lang="en-US" sz="1220" dirty="0"/>
          </a:p>
        </p:txBody>
      </p:sp>
      <p:sp>
        <p:nvSpPr>
          <p:cNvPr id="13" name="Text 8"/>
          <p:cNvSpPr/>
          <p:nvPr/>
        </p:nvSpPr>
        <p:spPr>
          <a:xfrm>
            <a:off x="2240280" y="3886200"/>
            <a:ext cx="150876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Search, list/grid, permission count, users, edit/clone/delete</a:t>
            </a:r>
            <a:endParaRPr lang="en-US" sz="750" dirty="0"/>
          </a:p>
        </p:txBody>
      </p:sp>
      <p:sp>
        <p:nvSpPr>
          <p:cNvPr id="14" name="Shape 9"/>
          <p:cNvSpPr/>
          <p:nvPr/>
        </p:nvSpPr>
        <p:spPr>
          <a:xfrm>
            <a:off x="4389120" y="3730752"/>
            <a:ext cx="342900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4617720" y="3913632"/>
            <a:ext cx="13716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 Role</a:t>
            </a:r>
            <a:endParaRPr lang="en-US" sz="1220" dirty="0"/>
          </a:p>
        </p:txBody>
      </p:sp>
      <p:sp>
        <p:nvSpPr>
          <p:cNvPr id="16" name="Text 11"/>
          <p:cNvSpPr/>
          <p:nvPr/>
        </p:nvSpPr>
        <p:spPr>
          <a:xfrm>
            <a:off x="6035040" y="3886200"/>
            <a:ext cx="150876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tabs, permissions, inherited/locked states, scopes</a:t>
            </a:r>
            <a:endParaRPr lang="en-US" sz="750" dirty="0"/>
          </a:p>
        </p:txBody>
      </p:sp>
      <p:sp>
        <p:nvSpPr>
          <p:cNvPr id="17" name="Shape 12"/>
          <p:cNvSpPr/>
          <p:nvPr/>
        </p:nvSpPr>
        <p:spPr>
          <a:xfrm>
            <a:off x="8183880" y="3730752"/>
            <a:ext cx="342900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8412480" y="3913632"/>
            <a:ext cx="13716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 Users</a:t>
            </a:r>
            <a:endParaRPr lang="en-US" sz="1220" dirty="0"/>
          </a:p>
        </p:txBody>
      </p:sp>
      <p:sp>
        <p:nvSpPr>
          <p:cNvPr id="19" name="Text 14"/>
          <p:cNvSpPr/>
          <p:nvPr/>
        </p:nvSpPr>
        <p:spPr>
          <a:xfrm>
            <a:off x="9829800" y="3886200"/>
            <a:ext cx="150876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Card/list view, filters, direct grant, team transfer, activity</a:t>
            </a:r>
            <a:endParaRPr lang="en-US" sz="750" dirty="0"/>
          </a:p>
        </p:txBody>
      </p:sp>
      <p:sp>
        <p:nvSpPr>
          <p:cNvPr id="20" name="Shape 15"/>
          <p:cNvSpPr/>
          <p:nvPr/>
        </p:nvSpPr>
        <p:spPr>
          <a:xfrm>
            <a:off x="1051560" y="5010912"/>
            <a:ext cx="10058400" cy="566928"/>
          </a:xfrm>
          <a:prstGeom prst="roundRect">
            <a:avLst>
              <a:gd name="adj" fmla="val 11290"/>
            </a:avLst>
          </a:prstGeom>
          <a:solidFill>
            <a:srgbClr val="ECFDF5"/>
          </a:solidFill>
          <a:ln w="10160">
            <a:solidFill>
              <a:srgbClr val="A7F3D0">
                <a:alpha val="92000"/>
              </a:srgbClr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1417320" y="5212080"/>
            <a:ext cx="937260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047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Enhancement required: hierarchy scope, data scope, direct overrides, saved views, field masks and widget permissions on top of this UI pattern.</a:t>
            </a:r>
            <a:endParaRPr lang="en-US" sz="980" dirty="0"/>
          </a:p>
        </p:txBody>
      </p:sp>
      <p:sp>
        <p:nvSpPr>
          <p:cNvPr id="22" name="Shape 17"/>
          <p:cNvSpPr/>
          <p:nvPr/>
        </p:nvSpPr>
        <p:spPr>
          <a:xfrm>
            <a:off x="438912" y="6446520"/>
            <a:ext cx="11292840" cy="0"/>
          </a:xfrm>
          <a:prstGeom prst="line">
            <a:avLst/>
          </a:prstGeom>
          <a:noFill/>
          <a:ln w="7620">
            <a:solidFill>
              <a:srgbClr val="CBD5E1">
                <a:alpha val="55000"/>
              </a:srgbClr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438912" y="6565392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Tan90 Manufacturing ERP MVP • Client-ready architecture deck</a:t>
            </a:r>
            <a:endParaRPr lang="en-US" sz="700" dirty="0"/>
          </a:p>
        </p:txBody>
      </p:sp>
      <p:sp>
        <p:nvSpPr>
          <p:cNvPr id="24" name="Text 19"/>
          <p:cNvSpPr/>
          <p:nvPr/>
        </p:nvSpPr>
        <p:spPr>
          <a:xfrm>
            <a:off x="11228832" y="654710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17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329184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047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 PERMISSION STUDIO</a:t>
            </a:r>
            <a:endParaRPr lang="en-US" sz="820" dirty="0"/>
          </a:p>
        </p:txBody>
      </p:sp>
      <p:sp>
        <p:nvSpPr>
          <p:cNvPr id="3" name="Text 1"/>
          <p:cNvSpPr/>
          <p:nvPr/>
        </p:nvSpPr>
        <p:spPr>
          <a:xfrm>
            <a:off x="438912" y="566928"/>
            <a:ext cx="9875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Client-ready advanced role editor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38912" y="1133856"/>
            <a:ext cx="98755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Role management should explain what is allowed, what is inherited, what is locked and what can be delegated.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72084" y="1403604"/>
            <a:ext cx="5239512" cy="4050792"/>
          </a:xfrm>
          <a:prstGeom prst="roundRect">
            <a:avLst>
              <a:gd name="adj" fmla="val 1580"/>
            </a:avLst>
          </a:prstGeom>
          <a:solidFill>
            <a:srgbClr val="FFFFFF"/>
          </a:solidFill>
          <a:ln w="10160">
            <a:solidFill>
              <a:srgbClr val="CBD5E1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pic>
        <p:nvPicPr>
          <p:cNvPr id="6" name="Image 0" descr="/mnt/data/tan90-unified-mvp/preview-role-studio.png">    </p:cNvPr>
          <p:cNvPicPr>
            <a:picLocks noChangeAspect="1"/>
          </p:cNvPicPr>
          <p:nvPr/>
        </p:nvPicPr>
        <p:blipFill>
          <a:blip r:embed="rId1"/>
          <a:srcRect l="3000" r="23231" t="3000" b="15000"/>
          <a:stretch/>
        </p:blipFill>
        <p:spPr>
          <a:xfrm>
            <a:off x="685800" y="1417320"/>
            <a:ext cx="5212080" cy="4023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355080" y="1508760"/>
            <a:ext cx="2331720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19672" y="1627632"/>
            <a:ext cx="77724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Permissions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7360920" y="1627632"/>
            <a:ext cx="100584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module, page, tab, action</a:t>
            </a:r>
            <a:endParaRPr lang="en-US" sz="710" dirty="0"/>
          </a:p>
        </p:txBody>
      </p:sp>
      <p:sp>
        <p:nvSpPr>
          <p:cNvPr id="10" name="Shape 7"/>
          <p:cNvSpPr/>
          <p:nvPr/>
        </p:nvSpPr>
        <p:spPr>
          <a:xfrm>
            <a:off x="8961120" y="1508760"/>
            <a:ext cx="2331720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25712" y="1627632"/>
            <a:ext cx="77724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Scope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9966960" y="1627632"/>
            <a:ext cx="100584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plant, warehouse, team, records</a:t>
            </a:r>
            <a:endParaRPr lang="en-US" sz="710" dirty="0"/>
          </a:p>
        </p:txBody>
      </p:sp>
      <p:sp>
        <p:nvSpPr>
          <p:cNvPr id="13" name="Shape 10"/>
          <p:cNvSpPr/>
          <p:nvPr/>
        </p:nvSpPr>
        <p:spPr>
          <a:xfrm>
            <a:off x="6355080" y="2221992"/>
            <a:ext cx="2331720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19672" y="2340864"/>
            <a:ext cx="77724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Fields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360920" y="2340864"/>
            <a:ext cx="100584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hidden, masked, read-only, editable</a:t>
            </a:r>
            <a:endParaRPr lang="en-US" sz="710" dirty="0"/>
          </a:p>
        </p:txBody>
      </p:sp>
      <p:sp>
        <p:nvSpPr>
          <p:cNvPr id="16" name="Shape 13"/>
          <p:cNvSpPr/>
          <p:nvPr/>
        </p:nvSpPr>
        <p:spPr>
          <a:xfrm>
            <a:off x="8961120" y="2221992"/>
            <a:ext cx="2331720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125712" y="2340864"/>
            <a:ext cx="77724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Views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9966960" y="2340864"/>
            <a:ext cx="100584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saved columns, filters, row actions</a:t>
            </a:r>
            <a:endParaRPr lang="en-US" sz="710" dirty="0"/>
          </a:p>
        </p:txBody>
      </p:sp>
      <p:sp>
        <p:nvSpPr>
          <p:cNvPr id="19" name="Shape 16"/>
          <p:cNvSpPr/>
          <p:nvPr/>
        </p:nvSpPr>
        <p:spPr>
          <a:xfrm>
            <a:off x="6355080" y="2935224"/>
            <a:ext cx="2331720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519672" y="3054096"/>
            <a:ext cx="77724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7360920" y="3054096"/>
            <a:ext cx="100584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assigned users, direct exceptions</a:t>
            </a:r>
            <a:endParaRPr lang="en-US" sz="710" dirty="0"/>
          </a:p>
        </p:txBody>
      </p:sp>
      <p:sp>
        <p:nvSpPr>
          <p:cNvPr id="22" name="Shape 19"/>
          <p:cNvSpPr/>
          <p:nvPr/>
        </p:nvSpPr>
        <p:spPr>
          <a:xfrm>
            <a:off x="8961120" y="2935224"/>
            <a:ext cx="2331720" cy="512064"/>
          </a:xfrm>
          <a:prstGeom prst="roundRect">
            <a:avLst>
              <a:gd name="adj" fmla="val 12500"/>
            </a:avLst>
          </a:prstGeom>
          <a:solidFill>
            <a:srgbClr val="ECFDF5"/>
          </a:solidFill>
          <a:ln w="10160">
            <a:solidFill>
              <a:srgbClr val="10B981">
                <a:alpha val="92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125712" y="3054096"/>
            <a:ext cx="77724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9966960" y="3054096"/>
            <a:ext cx="100584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widgets, locks, defaults</a:t>
            </a:r>
            <a:endParaRPr lang="en-US" sz="710" dirty="0"/>
          </a:p>
        </p:txBody>
      </p:sp>
      <p:sp>
        <p:nvSpPr>
          <p:cNvPr id="25" name="Shape 22"/>
          <p:cNvSpPr/>
          <p:nvPr/>
        </p:nvSpPr>
        <p:spPr>
          <a:xfrm>
            <a:off x="6355080" y="3648456"/>
            <a:ext cx="2331720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519672" y="3767328"/>
            <a:ext cx="77724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History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7360920" y="3767328"/>
            <a:ext cx="100584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versions, compare, rollback</a:t>
            </a:r>
            <a:endParaRPr lang="en-US" sz="710" dirty="0"/>
          </a:p>
        </p:txBody>
      </p:sp>
      <p:sp>
        <p:nvSpPr>
          <p:cNvPr id="28" name="Shape 25"/>
          <p:cNvSpPr/>
          <p:nvPr/>
        </p:nvSpPr>
        <p:spPr>
          <a:xfrm>
            <a:off x="6400800" y="4663440"/>
            <a:ext cx="4983480" cy="685800"/>
          </a:xfrm>
          <a:prstGeom prst="roundRect">
            <a:avLst>
              <a:gd name="adj" fmla="val 9333"/>
            </a:avLst>
          </a:prstGeom>
          <a:solidFill>
            <a:srgbClr val="FEF3C7"/>
          </a:solidFill>
          <a:ln w="10160">
            <a:solidFill>
              <a:srgbClr val="FCD34D">
                <a:alpha val="9200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675120" y="4901184"/>
            <a:ext cx="443484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92400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role save must show “effective access preview” before publish: allowed routes, blocked routes, data scope and impacted users.</a:t>
            </a:r>
            <a:endParaRPr lang="en-US" sz="880" dirty="0"/>
          </a:p>
        </p:txBody>
      </p:sp>
      <p:sp>
        <p:nvSpPr>
          <p:cNvPr id="30" name="Shape 27"/>
          <p:cNvSpPr/>
          <p:nvPr/>
        </p:nvSpPr>
        <p:spPr>
          <a:xfrm>
            <a:off x="438912" y="6446520"/>
            <a:ext cx="11292840" cy="0"/>
          </a:xfrm>
          <a:prstGeom prst="line">
            <a:avLst/>
          </a:prstGeom>
          <a:noFill/>
          <a:ln w="7620">
            <a:solidFill>
              <a:srgbClr val="CBD5E1">
                <a:alpha val="5500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38912" y="6565392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Tan90 Manufacturing ERP MVP • Client-ready architecture deck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11228832" y="654710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18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329184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047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SPACE 03</a:t>
            </a:r>
            <a:endParaRPr lang="en-US" sz="820" dirty="0"/>
          </a:p>
        </p:txBody>
      </p:sp>
      <p:sp>
        <p:nvSpPr>
          <p:cNvPr id="3" name="Text 1"/>
          <p:cNvSpPr/>
          <p:nvPr/>
        </p:nvSpPr>
        <p:spPr>
          <a:xfrm>
            <a:off x="438912" y="566928"/>
            <a:ext cx="9875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Masters &amp; Product Engineering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38912" y="1133856"/>
            <a:ext cx="98755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Reusable product, plant, warehouse, BOM, routing and quality setup that powers procurement, production and costing.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627632"/>
            <a:ext cx="315468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05256" y="1810512"/>
            <a:ext cx="329184" cy="256032"/>
          </a:xfrm>
          <a:prstGeom prst="roundRect">
            <a:avLst>
              <a:gd name="adj" fmla="val 28571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1860804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2563EB"/>
                </a:solidFill>
              </a:rPr>
              <a:t>1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344168" y="1819656"/>
            <a:ext cx="196596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Organisation setup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978408" y="2157984"/>
            <a:ext cx="2523744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Company, business unit, plant, location, warehouse, zone, rack, shelf, bin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389120" y="1627632"/>
            <a:ext cx="315468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08576" y="1810512"/>
            <a:ext cx="329184" cy="256032"/>
          </a:xfrm>
          <a:prstGeom prst="roundRect">
            <a:avLst>
              <a:gd name="adj" fmla="val 28571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81728" y="1860804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2563EB"/>
                </a:solidFill>
              </a:rPr>
              <a:t>2</a:t>
            </a:r>
            <a:endParaRPr lang="en-US" sz="730" dirty="0"/>
          </a:p>
        </p:txBody>
      </p:sp>
      <p:sp>
        <p:nvSpPr>
          <p:cNvPr id="13" name="Text 11"/>
          <p:cNvSpPr/>
          <p:nvPr/>
        </p:nvSpPr>
        <p:spPr>
          <a:xfrm>
            <a:off x="5047488" y="1819656"/>
            <a:ext cx="196596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Item &amp; SKU master</a:t>
            </a:r>
            <a:endParaRPr lang="en-US" sz="1220" dirty="0"/>
          </a:p>
        </p:txBody>
      </p:sp>
      <p:sp>
        <p:nvSpPr>
          <p:cNvPr id="14" name="Text 12"/>
          <p:cNvSpPr/>
          <p:nvPr/>
        </p:nvSpPr>
        <p:spPr>
          <a:xfrm>
            <a:off x="4681728" y="2157984"/>
            <a:ext cx="2523744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Finished goods, raw materials, packaging, UOM, temperature class, batch tracking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8092440" y="1627632"/>
            <a:ext cx="3154680" cy="960120"/>
          </a:xfrm>
          <a:prstGeom prst="roundRect">
            <a:avLst>
              <a:gd name="adj" fmla="val 6667"/>
            </a:avLst>
          </a:prstGeom>
          <a:solidFill>
            <a:srgbClr val="ECFDF5"/>
          </a:solidFill>
          <a:ln w="10160">
            <a:solidFill>
              <a:srgbClr val="10B981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11896" y="1810512"/>
            <a:ext cx="329184" cy="256032"/>
          </a:xfrm>
          <a:prstGeom prst="roundRect">
            <a:avLst>
              <a:gd name="adj" fmla="val 28571"/>
            </a:avLst>
          </a:prstGeom>
          <a:solidFill>
            <a:srgbClr val="A7F3D0"/>
          </a:solidFill>
          <a:ln w="12700">
            <a:solidFill>
              <a:srgbClr val="A7F3D0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85048" y="1860804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047857"/>
                </a:solidFill>
              </a:rPr>
              <a:t>3</a:t>
            </a:r>
            <a:endParaRPr lang="en-US" sz="730" dirty="0"/>
          </a:p>
        </p:txBody>
      </p:sp>
      <p:sp>
        <p:nvSpPr>
          <p:cNvPr id="18" name="Text 16"/>
          <p:cNvSpPr/>
          <p:nvPr/>
        </p:nvSpPr>
        <p:spPr>
          <a:xfrm>
            <a:off x="8750808" y="1819656"/>
            <a:ext cx="196596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BOM / Recipe</a:t>
            </a:r>
            <a:endParaRPr lang="en-US" sz="1220" dirty="0"/>
          </a:p>
        </p:txBody>
      </p:sp>
      <p:sp>
        <p:nvSpPr>
          <p:cNvPr id="19" name="Text 17"/>
          <p:cNvSpPr/>
          <p:nvPr/>
        </p:nvSpPr>
        <p:spPr>
          <a:xfrm>
            <a:off x="8385048" y="2157984"/>
            <a:ext cx="2523744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Versioned recipes, BOM lines, alternates, substitutions, release gates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85800" y="3044952"/>
            <a:ext cx="315468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05256" y="3227832"/>
            <a:ext cx="329184" cy="256032"/>
          </a:xfrm>
          <a:prstGeom prst="roundRect">
            <a:avLst>
              <a:gd name="adj" fmla="val 28571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8408" y="3278124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2563EB"/>
                </a:solidFill>
              </a:rPr>
              <a:t>4</a:t>
            </a:r>
            <a:endParaRPr lang="en-US" sz="730" dirty="0"/>
          </a:p>
        </p:txBody>
      </p:sp>
      <p:sp>
        <p:nvSpPr>
          <p:cNvPr id="23" name="Text 21"/>
          <p:cNvSpPr/>
          <p:nvPr/>
        </p:nvSpPr>
        <p:spPr>
          <a:xfrm>
            <a:off x="1344168" y="3236976"/>
            <a:ext cx="196596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Routing &amp; machines</a:t>
            </a:r>
            <a:endParaRPr lang="en-US" sz="1220" dirty="0"/>
          </a:p>
        </p:txBody>
      </p:sp>
      <p:sp>
        <p:nvSpPr>
          <p:cNvPr id="24" name="Text 22"/>
          <p:cNvSpPr/>
          <p:nvPr/>
        </p:nvSpPr>
        <p:spPr>
          <a:xfrm>
            <a:off x="978408" y="3575304"/>
            <a:ext cx="2523744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 centers, machine capacity, labor/machine rates, standard time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389120" y="3044952"/>
            <a:ext cx="315468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08576" y="3227832"/>
            <a:ext cx="329184" cy="256032"/>
          </a:xfrm>
          <a:prstGeom prst="roundRect">
            <a:avLst>
              <a:gd name="adj" fmla="val 28571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81728" y="3278124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2563EB"/>
                </a:solidFill>
              </a:rPr>
              <a:t>5</a:t>
            </a:r>
            <a:endParaRPr lang="en-US" sz="730" dirty="0"/>
          </a:p>
        </p:txBody>
      </p:sp>
      <p:sp>
        <p:nvSpPr>
          <p:cNvPr id="28" name="Text 26"/>
          <p:cNvSpPr/>
          <p:nvPr/>
        </p:nvSpPr>
        <p:spPr>
          <a:xfrm>
            <a:off x="5047488" y="3236976"/>
            <a:ext cx="196596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QC specifications</a:t>
            </a:r>
            <a:endParaRPr lang="en-US" sz="1220" dirty="0"/>
          </a:p>
        </p:txBody>
      </p:sp>
      <p:sp>
        <p:nvSpPr>
          <p:cNvPr id="29" name="Text 27"/>
          <p:cNvSpPr/>
          <p:nvPr/>
        </p:nvSpPr>
        <p:spPr>
          <a:xfrm>
            <a:off x="4681728" y="3575304"/>
            <a:ext cx="2523744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Parameters, sample size, acceptance rules, certificates, hold rules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8092440" y="3044952"/>
            <a:ext cx="315468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311896" y="3227832"/>
            <a:ext cx="329184" cy="256032"/>
          </a:xfrm>
          <a:prstGeom prst="roundRect">
            <a:avLst>
              <a:gd name="adj" fmla="val 28571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85048" y="3278124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2563EB"/>
                </a:solidFill>
              </a:rPr>
              <a:t>6</a:t>
            </a:r>
            <a:endParaRPr lang="en-US" sz="730" dirty="0"/>
          </a:p>
        </p:txBody>
      </p:sp>
      <p:sp>
        <p:nvSpPr>
          <p:cNvPr id="33" name="Text 31"/>
          <p:cNvSpPr/>
          <p:nvPr/>
        </p:nvSpPr>
        <p:spPr>
          <a:xfrm>
            <a:off x="8750808" y="3236976"/>
            <a:ext cx="196596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Costing baseline</a:t>
            </a:r>
            <a:endParaRPr lang="en-US" sz="1220" dirty="0"/>
          </a:p>
        </p:txBody>
      </p:sp>
      <p:sp>
        <p:nvSpPr>
          <p:cNvPr id="34" name="Text 32"/>
          <p:cNvSpPr/>
          <p:nvPr/>
        </p:nvSpPr>
        <p:spPr>
          <a:xfrm>
            <a:off x="8385048" y="3575304"/>
            <a:ext cx="2523744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 rates, rollup, standard cost, cost simulation and ECO impact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1463040" y="4892040"/>
            <a:ext cx="1024128" cy="420624"/>
          </a:xfrm>
          <a:prstGeom prst="roundRect">
            <a:avLst>
              <a:gd name="adj" fmla="val 15217"/>
            </a:avLst>
          </a:prstGeom>
          <a:solidFill>
            <a:srgbClr val="DBEAFE"/>
          </a:solidFill>
          <a:ln w="10160">
            <a:solidFill>
              <a:srgbClr val="DBEAF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536192" y="4946904"/>
            <a:ext cx="877824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SKU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487168" y="5102352"/>
            <a:ext cx="310896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2971800" y="4892040"/>
            <a:ext cx="1024128" cy="420624"/>
          </a:xfrm>
          <a:prstGeom prst="roundRect">
            <a:avLst>
              <a:gd name="adj" fmla="val 15217"/>
            </a:avLst>
          </a:prstGeom>
          <a:solidFill>
            <a:srgbClr val="DBEAFE"/>
          </a:solidFill>
          <a:ln w="10160">
            <a:solidFill>
              <a:srgbClr val="DBEAF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44952" y="4946904"/>
            <a:ext cx="877824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Recipe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995928" y="5102352"/>
            <a:ext cx="310896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4480560" y="4892040"/>
            <a:ext cx="1024128" cy="420624"/>
          </a:xfrm>
          <a:prstGeom prst="roundRect">
            <a:avLst>
              <a:gd name="adj" fmla="val 15217"/>
            </a:avLst>
          </a:prstGeom>
          <a:solidFill>
            <a:srgbClr val="DBEAFE"/>
          </a:solidFill>
          <a:ln w="10160">
            <a:solidFill>
              <a:srgbClr val="DBEAF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53712" y="4946904"/>
            <a:ext cx="877824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BOM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504688" y="5102352"/>
            <a:ext cx="310896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5989320" y="4892040"/>
            <a:ext cx="1024128" cy="420624"/>
          </a:xfrm>
          <a:prstGeom prst="roundRect">
            <a:avLst>
              <a:gd name="adj" fmla="val 15217"/>
            </a:avLst>
          </a:prstGeom>
          <a:solidFill>
            <a:srgbClr val="DBEAFE"/>
          </a:solidFill>
          <a:ln w="10160">
            <a:solidFill>
              <a:srgbClr val="DBEAF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062472" y="4946904"/>
            <a:ext cx="877824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Routing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7013448" y="5102352"/>
            <a:ext cx="310896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7498080" y="4892040"/>
            <a:ext cx="1024128" cy="420624"/>
          </a:xfrm>
          <a:prstGeom prst="roundRect">
            <a:avLst>
              <a:gd name="adj" fmla="val 15217"/>
            </a:avLst>
          </a:prstGeom>
          <a:solidFill>
            <a:srgbClr val="DBEAFE"/>
          </a:solidFill>
          <a:ln w="10160">
            <a:solidFill>
              <a:srgbClr val="DBEAF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571232" y="4946904"/>
            <a:ext cx="877824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QC Spec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8522208" y="5102352"/>
            <a:ext cx="310896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9006840" y="4892040"/>
            <a:ext cx="1024128" cy="420624"/>
          </a:xfrm>
          <a:prstGeom prst="roundRect">
            <a:avLst>
              <a:gd name="adj" fmla="val 15217"/>
            </a:avLst>
          </a:prstGeom>
          <a:solidFill>
            <a:srgbClr val="DCFCE7"/>
          </a:solidFill>
          <a:ln w="10160">
            <a:solidFill>
              <a:srgbClr val="DCFCE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079992" y="4946904"/>
            <a:ext cx="877824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47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MRP ready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438912" y="6446520"/>
            <a:ext cx="11292840" cy="0"/>
          </a:xfrm>
          <a:prstGeom prst="line">
            <a:avLst/>
          </a:prstGeom>
          <a:noFill/>
          <a:ln w="7620">
            <a:solidFill>
              <a:srgbClr val="CBD5E1">
                <a:alpha val="5500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38912" y="6565392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Tan90 Manufacturing ERP MVP • Client-ready architecture deck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11228832" y="654710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19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329184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047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SPACE 04</a:t>
            </a:r>
            <a:endParaRPr lang="en-US" sz="820" dirty="0"/>
          </a:p>
        </p:txBody>
      </p:sp>
      <p:sp>
        <p:nvSpPr>
          <p:cNvPr id="3" name="Text 1"/>
          <p:cNvSpPr/>
          <p:nvPr/>
        </p:nvSpPr>
        <p:spPr>
          <a:xfrm>
            <a:off x="438912" y="566928"/>
            <a:ext cx="9875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Source to Stock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38912" y="1133856"/>
            <a:ext cx="98755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Procurement, vendor ASN, gate entry, unloading, incoming QC, GRN, putaway and raw-material inventory in one space.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80644" y="1403604"/>
            <a:ext cx="5285232" cy="3913632"/>
          </a:xfrm>
          <a:prstGeom prst="roundRect">
            <a:avLst>
              <a:gd name="adj" fmla="val 1636"/>
            </a:avLst>
          </a:prstGeom>
          <a:solidFill>
            <a:srgbClr val="FFFFFF"/>
          </a:solidFill>
          <a:ln w="10160">
            <a:solidFill>
              <a:srgbClr val="CBD5E1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pic>
        <p:nvPicPr>
          <p:cNvPr id="6" name="Image 0" descr="/mnt/data/tan90-unified-mvp/preview-source-stock.png">    </p:cNvPr>
          <p:cNvPicPr>
            <a:picLocks noChangeAspect="1"/>
          </p:cNvPicPr>
          <p:nvPr/>
        </p:nvPicPr>
        <p:blipFill>
          <a:blip r:embed="rId1"/>
          <a:srcRect l="2000" r="20958" t="2000" b="16000"/>
          <a:stretch/>
        </p:blipFill>
        <p:spPr>
          <a:xfrm>
            <a:off x="594360" y="1417320"/>
            <a:ext cx="5257800" cy="3886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217920" y="1481328"/>
            <a:ext cx="1993392" cy="347472"/>
          </a:xfrm>
          <a:prstGeom prst="roundRect">
            <a:avLst>
              <a:gd name="adj" fmla="val 18421"/>
            </a:avLst>
          </a:prstGeom>
          <a:solidFill>
            <a:srgbClr val="E0F2FE"/>
          </a:solidFill>
          <a:ln w="10160">
            <a:solidFill>
              <a:srgbClr val="E0F2F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291072" y="1536192"/>
            <a:ext cx="1847088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MRP Shortage</a:t>
            </a:r>
            <a:endParaRPr lang="en-US" sz="780" dirty="0"/>
          </a:p>
        </p:txBody>
      </p:sp>
      <p:sp>
        <p:nvSpPr>
          <p:cNvPr id="9" name="Shape 6"/>
          <p:cNvSpPr/>
          <p:nvPr/>
        </p:nvSpPr>
        <p:spPr>
          <a:xfrm>
            <a:off x="8686800" y="1481328"/>
            <a:ext cx="1993392" cy="347472"/>
          </a:xfrm>
          <a:prstGeom prst="roundRect">
            <a:avLst>
              <a:gd name="adj" fmla="val 18421"/>
            </a:avLst>
          </a:prstGeom>
          <a:solidFill>
            <a:srgbClr val="E0F2FE"/>
          </a:solidFill>
          <a:ln w="10160">
            <a:solidFill>
              <a:srgbClr val="E0F2F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759952" y="1536192"/>
            <a:ext cx="1847088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Purchase Request</a:t>
            </a:r>
            <a:endParaRPr lang="en-US" sz="780" dirty="0"/>
          </a:p>
        </p:txBody>
      </p:sp>
      <p:sp>
        <p:nvSpPr>
          <p:cNvPr id="11" name="Shape 8"/>
          <p:cNvSpPr/>
          <p:nvPr/>
        </p:nvSpPr>
        <p:spPr>
          <a:xfrm>
            <a:off x="6217920" y="2011680"/>
            <a:ext cx="1993392" cy="347472"/>
          </a:xfrm>
          <a:prstGeom prst="roundRect">
            <a:avLst>
              <a:gd name="adj" fmla="val 18421"/>
            </a:avLst>
          </a:prstGeom>
          <a:solidFill>
            <a:srgbClr val="E0F2FE"/>
          </a:solidFill>
          <a:ln w="10160">
            <a:solidFill>
              <a:srgbClr val="E0F2F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91072" y="2066544"/>
            <a:ext cx="1847088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RFQ / PO</a:t>
            </a:r>
            <a:endParaRPr lang="en-US" sz="780" dirty="0"/>
          </a:p>
        </p:txBody>
      </p:sp>
      <p:sp>
        <p:nvSpPr>
          <p:cNvPr id="13" name="Shape 10"/>
          <p:cNvSpPr/>
          <p:nvPr/>
        </p:nvSpPr>
        <p:spPr>
          <a:xfrm>
            <a:off x="8686800" y="2011680"/>
            <a:ext cx="1993392" cy="347472"/>
          </a:xfrm>
          <a:prstGeom prst="roundRect">
            <a:avLst>
              <a:gd name="adj" fmla="val 18421"/>
            </a:avLst>
          </a:prstGeom>
          <a:solidFill>
            <a:srgbClr val="E0F2FE"/>
          </a:solidFill>
          <a:ln w="10160">
            <a:solidFill>
              <a:srgbClr val="E0F2F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759952" y="2066544"/>
            <a:ext cx="1847088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Vendor ASN</a:t>
            </a:r>
            <a:endParaRPr lang="en-US" sz="780" dirty="0"/>
          </a:p>
        </p:txBody>
      </p:sp>
      <p:sp>
        <p:nvSpPr>
          <p:cNvPr id="15" name="Shape 12"/>
          <p:cNvSpPr/>
          <p:nvPr/>
        </p:nvSpPr>
        <p:spPr>
          <a:xfrm>
            <a:off x="6217920" y="2542032"/>
            <a:ext cx="1993392" cy="347472"/>
          </a:xfrm>
          <a:prstGeom prst="roundRect">
            <a:avLst>
              <a:gd name="adj" fmla="val 18421"/>
            </a:avLst>
          </a:prstGeom>
          <a:solidFill>
            <a:srgbClr val="E0F2FE"/>
          </a:solidFill>
          <a:ln w="10160">
            <a:solidFill>
              <a:srgbClr val="E0F2F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91072" y="2596896"/>
            <a:ext cx="1847088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Gate Entry</a:t>
            </a:r>
            <a:endParaRPr lang="en-US" sz="780" dirty="0"/>
          </a:p>
        </p:txBody>
      </p:sp>
      <p:sp>
        <p:nvSpPr>
          <p:cNvPr id="17" name="Shape 14"/>
          <p:cNvSpPr/>
          <p:nvPr/>
        </p:nvSpPr>
        <p:spPr>
          <a:xfrm>
            <a:off x="8686800" y="2542032"/>
            <a:ext cx="1993392" cy="347472"/>
          </a:xfrm>
          <a:prstGeom prst="roundRect">
            <a:avLst>
              <a:gd name="adj" fmla="val 18421"/>
            </a:avLst>
          </a:prstGeom>
          <a:solidFill>
            <a:srgbClr val="E0F2FE"/>
          </a:solidFill>
          <a:ln w="10160">
            <a:solidFill>
              <a:srgbClr val="E0F2F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759952" y="2596896"/>
            <a:ext cx="1847088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Unloading</a:t>
            </a:r>
            <a:endParaRPr lang="en-US" sz="780" dirty="0"/>
          </a:p>
        </p:txBody>
      </p:sp>
      <p:sp>
        <p:nvSpPr>
          <p:cNvPr id="19" name="Shape 16"/>
          <p:cNvSpPr/>
          <p:nvPr/>
        </p:nvSpPr>
        <p:spPr>
          <a:xfrm>
            <a:off x="6217920" y="3072384"/>
            <a:ext cx="1993392" cy="347472"/>
          </a:xfrm>
          <a:prstGeom prst="roundRect">
            <a:avLst>
              <a:gd name="adj" fmla="val 18421"/>
            </a:avLst>
          </a:prstGeom>
          <a:solidFill>
            <a:srgbClr val="FEF3C7"/>
          </a:solidFill>
          <a:ln w="10160">
            <a:solidFill>
              <a:srgbClr val="FEF3C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291072" y="3127248"/>
            <a:ext cx="1847088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92400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Incoming QC</a:t>
            </a:r>
            <a:endParaRPr lang="en-US" sz="780" dirty="0"/>
          </a:p>
        </p:txBody>
      </p:sp>
      <p:sp>
        <p:nvSpPr>
          <p:cNvPr id="21" name="Shape 18"/>
          <p:cNvSpPr/>
          <p:nvPr/>
        </p:nvSpPr>
        <p:spPr>
          <a:xfrm>
            <a:off x="8686800" y="3072384"/>
            <a:ext cx="1993392" cy="347472"/>
          </a:xfrm>
          <a:prstGeom prst="roundRect">
            <a:avLst>
              <a:gd name="adj" fmla="val 18421"/>
            </a:avLst>
          </a:prstGeom>
          <a:solidFill>
            <a:srgbClr val="DCFCE7"/>
          </a:solidFill>
          <a:ln w="10160">
            <a:solidFill>
              <a:srgbClr val="DCFCE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759952" y="3127248"/>
            <a:ext cx="1847088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047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GRN</a:t>
            </a:r>
            <a:endParaRPr lang="en-US" sz="780" dirty="0"/>
          </a:p>
        </p:txBody>
      </p:sp>
      <p:sp>
        <p:nvSpPr>
          <p:cNvPr id="23" name="Shape 20"/>
          <p:cNvSpPr/>
          <p:nvPr/>
        </p:nvSpPr>
        <p:spPr>
          <a:xfrm>
            <a:off x="6217920" y="3602736"/>
            <a:ext cx="1993392" cy="347472"/>
          </a:xfrm>
          <a:prstGeom prst="roundRect">
            <a:avLst>
              <a:gd name="adj" fmla="val 18421"/>
            </a:avLst>
          </a:prstGeom>
          <a:solidFill>
            <a:srgbClr val="E0F2FE"/>
          </a:solidFill>
          <a:ln w="10160">
            <a:solidFill>
              <a:srgbClr val="E0F2F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291072" y="3657600"/>
            <a:ext cx="1847088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Putaway</a:t>
            </a:r>
            <a:endParaRPr lang="en-US" sz="780" dirty="0"/>
          </a:p>
        </p:txBody>
      </p:sp>
      <p:sp>
        <p:nvSpPr>
          <p:cNvPr id="25" name="Shape 22"/>
          <p:cNvSpPr/>
          <p:nvPr/>
        </p:nvSpPr>
        <p:spPr>
          <a:xfrm>
            <a:off x="8686800" y="3602736"/>
            <a:ext cx="1993392" cy="347472"/>
          </a:xfrm>
          <a:prstGeom prst="roundRect">
            <a:avLst>
              <a:gd name="adj" fmla="val 18421"/>
            </a:avLst>
          </a:prstGeom>
          <a:solidFill>
            <a:srgbClr val="E0F2FE"/>
          </a:solidFill>
          <a:ln w="10160">
            <a:solidFill>
              <a:srgbClr val="E0F2F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759952" y="3657600"/>
            <a:ext cx="1847088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Stock Ledger</a:t>
            </a:r>
            <a:endParaRPr lang="en-US" sz="780" dirty="0"/>
          </a:p>
        </p:txBody>
      </p:sp>
      <p:sp>
        <p:nvSpPr>
          <p:cNvPr id="27" name="Shape 24"/>
          <p:cNvSpPr/>
          <p:nvPr/>
        </p:nvSpPr>
        <p:spPr>
          <a:xfrm>
            <a:off x="6492240" y="5166360"/>
            <a:ext cx="4617720" cy="530352"/>
          </a:xfrm>
          <a:prstGeom prst="roundRect">
            <a:avLst>
              <a:gd name="adj" fmla="val 12069"/>
            </a:avLst>
          </a:prstGeom>
          <a:solidFill>
            <a:srgbClr val="ECFDF5"/>
          </a:solidFill>
          <a:ln w="10160">
            <a:solidFill>
              <a:srgbClr val="A7F3D0">
                <a:alpha val="9200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766560" y="5349240"/>
            <a:ext cx="411480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047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Output: trusted batch-wise raw-material stock, QC status and pending finance match.</a:t>
            </a:r>
            <a:endParaRPr lang="en-US" sz="870" dirty="0"/>
          </a:p>
        </p:txBody>
      </p:sp>
      <p:sp>
        <p:nvSpPr>
          <p:cNvPr id="29" name="Shape 26"/>
          <p:cNvSpPr/>
          <p:nvPr/>
        </p:nvSpPr>
        <p:spPr>
          <a:xfrm>
            <a:off x="438912" y="6446520"/>
            <a:ext cx="11292840" cy="0"/>
          </a:xfrm>
          <a:prstGeom prst="line">
            <a:avLst/>
          </a:prstGeom>
          <a:noFill/>
          <a:ln w="7620">
            <a:solidFill>
              <a:srgbClr val="CBD5E1">
                <a:alpha val="5500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38912" y="6565392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Tan90 Manufacturing ERP MVP • Client-ready architecture deck</a:t>
            </a:r>
            <a:endParaRPr lang="en-US" sz="700" dirty="0"/>
          </a:p>
        </p:txBody>
      </p:sp>
      <p:sp>
        <p:nvSpPr>
          <p:cNvPr id="31" name="Text 28"/>
          <p:cNvSpPr/>
          <p:nvPr/>
        </p:nvSpPr>
        <p:spPr>
          <a:xfrm>
            <a:off x="11228832" y="654710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20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329184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047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SOURCE-TO-STOCK FLOW</a:t>
            </a:r>
            <a:endParaRPr lang="en-US" sz="820" dirty="0"/>
          </a:p>
        </p:txBody>
      </p:sp>
      <p:sp>
        <p:nvSpPr>
          <p:cNvPr id="3" name="Text 1"/>
          <p:cNvSpPr/>
          <p:nvPr/>
        </p:nvSpPr>
        <p:spPr>
          <a:xfrm>
            <a:off x="438912" y="566928"/>
            <a:ext cx="9875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Procurement, QC and GRN should remain separated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38912" y="1133856"/>
            <a:ext cx="98755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QC should decide acceptance/rejection/hold; GRN should post stock only after QC release. This protects inventory accuracy.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847088"/>
            <a:ext cx="841248" cy="475488"/>
          </a:xfrm>
          <a:prstGeom prst="roundRect">
            <a:avLst>
              <a:gd name="adj" fmla="val 13462"/>
            </a:avLst>
          </a:prstGeom>
          <a:solidFill>
            <a:srgbClr val="E0F2FE"/>
          </a:solidFill>
          <a:ln w="10160">
            <a:solidFill>
              <a:srgbClr val="E0F2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1901952"/>
            <a:ext cx="694944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84632" y="2487168"/>
            <a:ext cx="877824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shortage request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1344168" y="2084832"/>
            <a:ext cx="283464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655064" y="1847088"/>
            <a:ext cx="841248" cy="475488"/>
          </a:xfrm>
          <a:prstGeom prst="roundRect">
            <a:avLst>
              <a:gd name="adj" fmla="val 13462"/>
            </a:avLst>
          </a:prstGeom>
          <a:solidFill>
            <a:srgbClr val="E0F2FE"/>
          </a:solidFill>
          <a:ln w="10160">
            <a:solidFill>
              <a:srgbClr val="E0F2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28216" y="1901952"/>
            <a:ext cx="694944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RFQ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36776" y="2487168"/>
            <a:ext cx="877824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vendor quotes</a:t>
            </a:r>
            <a:endParaRPr lang="en-US" sz="650" dirty="0"/>
          </a:p>
        </p:txBody>
      </p:sp>
      <p:sp>
        <p:nvSpPr>
          <p:cNvPr id="12" name="Shape 10"/>
          <p:cNvSpPr/>
          <p:nvPr/>
        </p:nvSpPr>
        <p:spPr>
          <a:xfrm>
            <a:off x="2496312" y="2084832"/>
            <a:ext cx="283464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807208" y="1847088"/>
            <a:ext cx="841248" cy="475488"/>
          </a:xfrm>
          <a:prstGeom prst="roundRect">
            <a:avLst>
              <a:gd name="adj" fmla="val 13462"/>
            </a:avLst>
          </a:prstGeom>
          <a:solidFill>
            <a:srgbClr val="E0F2FE"/>
          </a:solidFill>
          <a:ln w="10160">
            <a:solidFill>
              <a:srgbClr val="E0F2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80360" y="1901952"/>
            <a:ext cx="694944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88920" y="2487168"/>
            <a:ext cx="877824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purchase order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3648456" y="2084832"/>
            <a:ext cx="283464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959352" y="1847088"/>
            <a:ext cx="841248" cy="475488"/>
          </a:xfrm>
          <a:prstGeom prst="roundRect">
            <a:avLst>
              <a:gd name="adj" fmla="val 13462"/>
            </a:avLst>
          </a:prstGeom>
          <a:solidFill>
            <a:srgbClr val="E0F2FE"/>
          </a:solidFill>
          <a:ln w="10160">
            <a:solidFill>
              <a:srgbClr val="E0F2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32504" y="1901952"/>
            <a:ext cx="694944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941064" y="2487168"/>
            <a:ext cx="877824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vendor dispatch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4800600" y="2084832"/>
            <a:ext cx="283464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111496" y="1847088"/>
            <a:ext cx="841248" cy="475488"/>
          </a:xfrm>
          <a:prstGeom prst="roundRect">
            <a:avLst>
              <a:gd name="adj" fmla="val 13462"/>
            </a:avLst>
          </a:prstGeom>
          <a:solidFill>
            <a:srgbClr val="E0F2FE"/>
          </a:solidFill>
          <a:ln w="10160">
            <a:solidFill>
              <a:srgbClr val="E0F2F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84648" y="1901952"/>
            <a:ext cx="694944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93208" y="2487168"/>
            <a:ext cx="877824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vehicle entry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5952744" y="2084832"/>
            <a:ext cx="283464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263640" y="1847088"/>
            <a:ext cx="841248" cy="475488"/>
          </a:xfrm>
          <a:prstGeom prst="roundRect">
            <a:avLst>
              <a:gd name="adj" fmla="val 13462"/>
            </a:avLst>
          </a:prstGeom>
          <a:solidFill>
            <a:srgbClr val="E0F2FE"/>
          </a:solidFill>
          <a:ln w="10160">
            <a:solidFill>
              <a:srgbClr val="E0F2F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36792" y="1901952"/>
            <a:ext cx="694944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Unload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245352" y="2487168"/>
            <a:ext cx="877824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qty/doc check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7104888" y="2084832"/>
            <a:ext cx="283464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415784" y="1847088"/>
            <a:ext cx="841248" cy="475488"/>
          </a:xfrm>
          <a:prstGeom prst="roundRect">
            <a:avLst>
              <a:gd name="adj" fmla="val 13462"/>
            </a:avLst>
          </a:prstGeom>
          <a:solidFill>
            <a:srgbClr val="FEF3C7"/>
          </a:solidFill>
          <a:ln w="10160">
            <a:solidFill>
              <a:srgbClr val="FEF3C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88936" y="1901952"/>
            <a:ext cx="694944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2400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QC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397496" y="2487168"/>
            <a:ext cx="877824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accept/reject/hold</a:t>
            </a:r>
            <a:endParaRPr lang="en-US" sz="650" dirty="0"/>
          </a:p>
        </p:txBody>
      </p:sp>
      <p:sp>
        <p:nvSpPr>
          <p:cNvPr id="32" name="Shape 30"/>
          <p:cNvSpPr/>
          <p:nvPr/>
        </p:nvSpPr>
        <p:spPr>
          <a:xfrm>
            <a:off x="8257032" y="2084832"/>
            <a:ext cx="283464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8567928" y="1847088"/>
            <a:ext cx="841248" cy="475488"/>
          </a:xfrm>
          <a:prstGeom prst="roundRect">
            <a:avLst>
              <a:gd name="adj" fmla="val 13462"/>
            </a:avLst>
          </a:prstGeom>
          <a:solidFill>
            <a:srgbClr val="DCFCE7"/>
          </a:solidFill>
          <a:ln w="10160">
            <a:solidFill>
              <a:srgbClr val="DCFCE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641080" y="1901952"/>
            <a:ext cx="694944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47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549640" y="2487168"/>
            <a:ext cx="877824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stock post</a:t>
            </a:r>
            <a:endParaRPr lang="en-US" sz="650" dirty="0"/>
          </a:p>
        </p:txBody>
      </p:sp>
      <p:sp>
        <p:nvSpPr>
          <p:cNvPr id="36" name="Shape 34"/>
          <p:cNvSpPr/>
          <p:nvPr/>
        </p:nvSpPr>
        <p:spPr>
          <a:xfrm>
            <a:off x="9409176" y="2084832"/>
            <a:ext cx="283464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9720072" y="1847088"/>
            <a:ext cx="841248" cy="475488"/>
          </a:xfrm>
          <a:prstGeom prst="roundRect">
            <a:avLst>
              <a:gd name="adj" fmla="val 13462"/>
            </a:avLst>
          </a:prstGeom>
          <a:solidFill>
            <a:srgbClr val="E0F2FE"/>
          </a:solidFill>
          <a:ln w="10160">
            <a:solidFill>
              <a:srgbClr val="E0F2F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793224" y="1901952"/>
            <a:ext cx="694944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Putaway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9701784" y="2487168"/>
            <a:ext cx="877824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bin/rack</a:t>
            </a:r>
            <a:endParaRPr lang="en-US" sz="650" dirty="0"/>
          </a:p>
        </p:txBody>
      </p:sp>
      <p:sp>
        <p:nvSpPr>
          <p:cNvPr id="40" name="Shape 38"/>
          <p:cNvSpPr/>
          <p:nvPr/>
        </p:nvSpPr>
        <p:spPr>
          <a:xfrm>
            <a:off x="10561320" y="2084832"/>
            <a:ext cx="283464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10872216" y="1847088"/>
            <a:ext cx="841248" cy="475488"/>
          </a:xfrm>
          <a:prstGeom prst="roundRect">
            <a:avLst>
              <a:gd name="adj" fmla="val 13462"/>
            </a:avLst>
          </a:prstGeom>
          <a:solidFill>
            <a:srgbClr val="E0F2FE"/>
          </a:solidFill>
          <a:ln w="10160">
            <a:solidFill>
              <a:srgbClr val="E0F2F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945368" y="1901952"/>
            <a:ext cx="694944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Ledger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0853928" y="2487168"/>
            <a:ext cx="877824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batch stock</a:t>
            </a:r>
            <a:endParaRPr lang="en-US" sz="650" dirty="0"/>
          </a:p>
        </p:txBody>
      </p:sp>
      <p:sp>
        <p:nvSpPr>
          <p:cNvPr id="44" name="Shape 42"/>
          <p:cNvSpPr/>
          <p:nvPr/>
        </p:nvSpPr>
        <p:spPr>
          <a:xfrm>
            <a:off x="822960" y="3931920"/>
            <a:ext cx="233172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1024128" y="4133088"/>
            <a:ext cx="192024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QC statuses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1005840" y="4480560"/>
            <a:ext cx="192024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Accepted, rejected, partially accepted, hold, rework, return to vendor</a:t>
            </a:r>
            <a:endParaRPr lang="en-US" sz="780" dirty="0"/>
          </a:p>
        </p:txBody>
      </p:sp>
      <p:sp>
        <p:nvSpPr>
          <p:cNvPr id="47" name="Shape 45"/>
          <p:cNvSpPr/>
          <p:nvPr/>
        </p:nvSpPr>
        <p:spPr>
          <a:xfrm>
            <a:off x="3611880" y="3931920"/>
            <a:ext cx="233172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3813048" y="4133088"/>
            <a:ext cx="192024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GRN controls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3794760" y="4480560"/>
            <a:ext cx="192024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Invoice/challan match, accepted quantity only, bin suggestion, stock ledger</a:t>
            </a:r>
            <a:endParaRPr lang="en-US" sz="780" dirty="0"/>
          </a:p>
        </p:txBody>
      </p:sp>
      <p:sp>
        <p:nvSpPr>
          <p:cNvPr id="50" name="Shape 48"/>
          <p:cNvSpPr/>
          <p:nvPr/>
        </p:nvSpPr>
        <p:spPr>
          <a:xfrm>
            <a:off x="6400800" y="3931920"/>
            <a:ext cx="233172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6601968" y="4133088"/>
            <a:ext cx="192024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Finance handoff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6583680" y="4480560"/>
            <a:ext cx="192024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PO-GRN-invoice three-way match, variance and claims</a:t>
            </a:r>
            <a:endParaRPr lang="en-US" sz="780" dirty="0"/>
          </a:p>
        </p:txBody>
      </p:sp>
      <p:sp>
        <p:nvSpPr>
          <p:cNvPr id="53" name="Shape 51"/>
          <p:cNvSpPr/>
          <p:nvPr/>
        </p:nvSpPr>
        <p:spPr>
          <a:xfrm>
            <a:off x="9189720" y="3931920"/>
            <a:ext cx="233172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9390888" y="4133088"/>
            <a:ext cx="192024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Vendor visibility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9372600" y="4480560"/>
            <a:ext cx="192024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ASN status, delivery documents, rejection reason, payment status</a:t>
            </a:r>
            <a:endParaRPr lang="en-US" sz="780" dirty="0"/>
          </a:p>
        </p:txBody>
      </p:sp>
      <p:sp>
        <p:nvSpPr>
          <p:cNvPr id="56" name="Shape 54"/>
          <p:cNvSpPr/>
          <p:nvPr/>
        </p:nvSpPr>
        <p:spPr>
          <a:xfrm>
            <a:off x="438912" y="6446520"/>
            <a:ext cx="11292840" cy="0"/>
          </a:xfrm>
          <a:prstGeom prst="line">
            <a:avLst/>
          </a:prstGeom>
          <a:noFill/>
          <a:ln w="7620">
            <a:solidFill>
              <a:srgbClr val="CBD5E1">
                <a:alpha val="5500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38912" y="6565392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Tan90 Manufacturing ERP MVP • Client-ready architecture deck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11228832" y="654710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21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329184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86EFA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SPACE 05</a:t>
            </a:r>
            <a:endParaRPr lang="en-US" sz="820" dirty="0"/>
          </a:p>
        </p:txBody>
      </p:sp>
      <p:sp>
        <p:nvSpPr>
          <p:cNvPr id="3" name="Text 1"/>
          <p:cNvSpPr/>
          <p:nvPr/>
        </p:nvSpPr>
        <p:spPr>
          <a:xfrm>
            <a:off x="438912" y="566928"/>
            <a:ext cx="9875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Production Space — all production modules together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38912" y="1133856"/>
            <a:ext cx="98755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A single production workspace contains demand, MRP, work orders, material issue, job cards, output, machine usage, wastage and WIP/final QC.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737360"/>
            <a:ext cx="2331720" cy="786384"/>
          </a:xfrm>
          <a:prstGeom prst="roundRect">
            <a:avLst>
              <a:gd name="adj" fmla="val 8140"/>
            </a:avLst>
          </a:prstGeom>
          <a:solidFill>
            <a:srgbClr val="111827"/>
          </a:solidFill>
          <a:ln w="10160">
            <a:solidFill>
              <a:srgbClr val="334155">
                <a:alpha val="9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" y="1901952"/>
            <a:ext cx="329184" cy="256032"/>
          </a:xfrm>
          <a:prstGeom prst="roundRect">
            <a:avLst>
              <a:gd name="adj" fmla="val 28571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9264" y="1952244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2563EB"/>
                </a:solidFill>
              </a:rPr>
              <a:t>1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344168" y="1920240"/>
            <a:ext cx="1417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Demand &amp; plan</a:t>
            </a:r>
            <a:endParaRPr lang="en-US" sz="1040" dirty="0"/>
          </a:p>
        </p:txBody>
      </p:sp>
      <p:sp>
        <p:nvSpPr>
          <p:cNvPr id="9" name="Text 7"/>
          <p:cNvSpPr/>
          <p:nvPr/>
        </p:nvSpPr>
        <p:spPr>
          <a:xfrm>
            <a:off x="932688" y="2249424"/>
            <a:ext cx="1883664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 demand, forecast, capacity</a:t>
            </a:r>
            <a:endParaRPr lang="en-US" sz="690" dirty="0"/>
          </a:p>
        </p:txBody>
      </p:sp>
      <p:sp>
        <p:nvSpPr>
          <p:cNvPr id="10" name="Shape 8"/>
          <p:cNvSpPr/>
          <p:nvPr/>
        </p:nvSpPr>
        <p:spPr>
          <a:xfrm>
            <a:off x="3520440" y="1737360"/>
            <a:ext cx="2331720" cy="786384"/>
          </a:xfrm>
          <a:prstGeom prst="roundRect">
            <a:avLst>
              <a:gd name="adj" fmla="val 8140"/>
            </a:avLst>
          </a:prstGeom>
          <a:solidFill>
            <a:srgbClr val="111827"/>
          </a:solidFill>
          <a:ln w="10160">
            <a:solidFill>
              <a:srgbClr val="334155">
                <a:alpha val="9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85032" y="1901952"/>
            <a:ext cx="329184" cy="256032"/>
          </a:xfrm>
          <a:prstGeom prst="roundRect">
            <a:avLst>
              <a:gd name="adj" fmla="val 28571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58184" y="1952244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2563EB"/>
                </a:solidFill>
              </a:rPr>
              <a:t>2</a:t>
            </a:r>
            <a:endParaRPr lang="en-US" sz="730" dirty="0"/>
          </a:p>
        </p:txBody>
      </p:sp>
      <p:sp>
        <p:nvSpPr>
          <p:cNvPr id="13" name="Text 11"/>
          <p:cNvSpPr/>
          <p:nvPr/>
        </p:nvSpPr>
        <p:spPr>
          <a:xfrm>
            <a:off x="4133088" y="1920240"/>
            <a:ext cx="1417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MRP &amp; shortage</a:t>
            </a:r>
            <a:endParaRPr lang="en-US" sz="1040" dirty="0"/>
          </a:p>
        </p:txBody>
      </p:sp>
      <p:sp>
        <p:nvSpPr>
          <p:cNvPr id="14" name="Text 12"/>
          <p:cNvSpPr/>
          <p:nvPr/>
        </p:nvSpPr>
        <p:spPr>
          <a:xfrm>
            <a:off x="3721608" y="2249424"/>
            <a:ext cx="1883664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BOM explosion, stock check, PR</a:t>
            </a:r>
            <a:endParaRPr lang="en-US" sz="690" dirty="0"/>
          </a:p>
        </p:txBody>
      </p:sp>
      <p:sp>
        <p:nvSpPr>
          <p:cNvPr id="15" name="Shape 13"/>
          <p:cNvSpPr/>
          <p:nvPr/>
        </p:nvSpPr>
        <p:spPr>
          <a:xfrm>
            <a:off x="6309360" y="1737360"/>
            <a:ext cx="2331720" cy="786384"/>
          </a:xfrm>
          <a:prstGeom prst="roundRect">
            <a:avLst>
              <a:gd name="adj" fmla="val 8140"/>
            </a:avLst>
          </a:prstGeom>
          <a:solidFill>
            <a:srgbClr val="111827"/>
          </a:solidFill>
          <a:ln w="10160">
            <a:solidFill>
              <a:srgbClr val="334155">
                <a:alpha val="9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73952" y="1901952"/>
            <a:ext cx="329184" cy="256032"/>
          </a:xfrm>
          <a:prstGeom prst="roundRect">
            <a:avLst>
              <a:gd name="adj" fmla="val 28571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47104" y="1952244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2563EB"/>
                </a:solidFill>
              </a:rPr>
              <a:t>3</a:t>
            </a:r>
            <a:endParaRPr lang="en-US" sz="730" dirty="0"/>
          </a:p>
        </p:txBody>
      </p:sp>
      <p:sp>
        <p:nvSpPr>
          <p:cNvPr id="18" name="Text 16"/>
          <p:cNvSpPr/>
          <p:nvPr/>
        </p:nvSpPr>
        <p:spPr>
          <a:xfrm>
            <a:off x="6922008" y="1920240"/>
            <a:ext cx="1417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 orders</a:t>
            </a:r>
            <a:endParaRPr lang="en-US" sz="1040" dirty="0"/>
          </a:p>
        </p:txBody>
      </p:sp>
      <p:sp>
        <p:nvSpPr>
          <p:cNvPr id="19" name="Text 17"/>
          <p:cNvSpPr/>
          <p:nvPr/>
        </p:nvSpPr>
        <p:spPr>
          <a:xfrm>
            <a:off x="6510528" y="2249424"/>
            <a:ext cx="1883664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batch size, route, recipe version</a:t>
            </a:r>
            <a:endParaRPr lang="en-US" sz="690" dirty="0"/>
          </a:p>
        </p:txBody>
      </p:sp>
      <p:sp>
        <p:nvSpPr>
          <p:cNvPr id="20" name="Shape 18"/>
          <p:cNvSpPr/>
          <p:nvPr/>
        </p:nvSpPr>
        <p:spPr>
          <a:xfrm>
            <a:off x="9098280" y="1737360"/>
            <a:ext cx="2331720" cy="786384"/>
          </a:xfrm>
          <a:prstGeom prst="roundRect">
            <a:avLst>
              <a:gd name="adj" fmla="val 8140"/>
            </a:avLst>
          </a:prstGeom>
          <a:solidFill>
            <a:srgbClr val="111827"/>
          </a:solidFill>
          <a:ln w="10160">
            <a:solidFill>
              <a:srgbClr val="334155">
                <a:alpha val="9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262872" y="1901952"/>
            <a:ext cx="329184" cy="256032"/>
          </a:xfrm>
          <a:prstGeom prst="roundRect">
            <a:avLst>
              <a:gd name="adj" fmla="val 28571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36024" y="1952244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2563EB"/>
                </a:solidFill>
              </a:rPr>
              <a:t>4</a:t>
            </a:r>
            <a:endParaRPr lang="en-US" sz="730" dirty="0"/>
          </a:p>
        </p:txBody>
      </p:sp>
      <p:sp>
        <p:nvSpPr>
          <p:cNvPr id="23" name="Text 21"/>
          <p:cNvSpPr/>
          <p:nvPr/>
        </p:nvSpPr>
        <p:spPr>
          <a:xfrm>
            <a:off x="9710928" y="1920240"/>
            <a:ext cx="1417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 issue</a:t>
            </a:r>
            <a:endParaRPr lang="en-US" sz="1040" dirty="0"/>
          </a:p>
        </p:txBody>
      </p:sp>
      <p:sp>
        <p:nvSpPr>
          <p:cNvPr id="24" name="Text 22"/>
          <p:cNvSpPr/>
          <p:nvPr/>
        </p:nvSpPr>
        <p:spPr>
          <a:xfrm>
            <a:off x="9299448" y="2249424"/>
            <a:ext cx="1883664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request, approve, issue, return</a:t>
            </a:r>
            <a:endParaRPr lang="en-US" sz="690" dirty="0"/>
          </a:p>
        </p:txBody>
      </p:sp>
      <p:sp>
        <p:nvSpPr>
          <p:cNvPr id="25" name="Shape 23"/>
          <p:cNvSpPr/>
          <p:nvPr/>
        </p:nvSpPr>
        <p:spPr>
          <a:xfrm>
            <a:off x="731520" y="2926080"/>
            <a:ext cx="2331720" cy="786384"/>
          </a:xfrm>
          <a:prstGeom prst="roundRect">
            <a:avLst>
              <a:gd name="adj" fmla="val 8140"/>
            </a:avLst>
          </a:prstGeom>
          <a:solidFill>
            <a:srgbClr val="111827"/>
          </a:solidFill>
          <a:ln w="10160">
            <a:solidFill>
              <a:srgbClr val="334155">
                <a:alpha val="92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96112" y="3090672"/>
            <a:ext cx="329184" cy="256032"/>
          </a:xfrm>
          <a:prstGeom prst="roundRect">
            <a:avLst>
              <a:gd name="adj" fmla="val 28571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9264" y="3140964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2563EB"/>
                </a:solidFill>
              </a:rPr>
              <a:t>5</a:t>
            </a:r>
            <a:endParaRPr lang="en-US" sz="730" dirty="0"/>
          </a:p>
        </p:txBody>
      </p:sp>
      <p:sp>
        <p:nvSpPr>
          <p:cNvPr id="28" name="Text 26"/>
          <p:cNvSpPr/>
          <p:nvPr/>
        </p:nvSpPr>
        <p:spPr>
          <a:xfrm>
            <a:off x="1344168" y="3108960"/>
            <a:ext cx="1417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Job cards</a:t>
            </a:r>
            <a:endParaRPr lang="en-US" sz="1040" dirty="0"/>
          </a:p>
        </p:txBody>
      </p:sp>
      <p:sp>
        <p:nvSpPr>
          <p:cNvPr id="29" name="Text 27"/>
          <p:cNvSpPr/>
          <p:nvPr/>
        </p:nvSpPr>
        <p:spPr>
          <a:xfrm>
            <a:off x="932688" y="3438144"/>
            <a:ext cx="1883664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operator, machine, shift</a:t>
            </a:r>
            <a:endParaRPr lang="en-US" sz="690" dirty="0"/>
          </a:p>
        </p:txBody>
      </p:sp>
      <p:sp>
        <p:nvSpPr>
          <p:cNvPr id="30" name="Shape 28"/>
          <p:cNvSpPr/>
          <p:nvPr/>
        </p:nvSpPr>
        <p:spPr>
          <a:xfrm>
            <a:off x="3520440" y="2926080"/>
            <a:ext cx="2331720" cy="786384"/>
          </a:xfrm>
          <a:prstGeom prst="roundRect">
            <a:avLst>
              <a:gd name="adj" fmla="val 8140"/>
            </a:avLst>
          </a:prstGeom>
          <a:solidFill>
            <a:srgbClr val="064E3B"/>
          </a:solidFill>
          <a:ln w="10160">
            <a:solidFill>
              <a:srgbClr val="10B981">
                <a:alpha val="92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85032" y="3090672"/>
            <a:ext cx="329184" cy="256032"/>
          </a:xfrm>
          <a:prstGeom prst="roundRect">
            <a:avLst>
              <a:gd name="adj" fmla="val 28571"/>
            </a:avLst>
          </a:prstGeom>
          <a:solidFill>
            <a:srgbClr val="A7F3D0"/>
          </a:solidFill>
          <a:ln w="12700">
            <a:solidFill>
              <a:srgbClr val="A7F3D0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58184" y="3140964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047857"/>
                </a:solidFill>
              </a:rPr>
              <a:t>6</a:t>
            </a:r>
            <a:endParaRPr lang="en-US" sz="730" dirty="0"/>
          </a:p>
        </p:txBody>
      </p:sp>
      <p:sp>
        <p:nvSpPr>
          <p:cNvPr id="33" name="Text 31"/>
          <p:cNvSpPr/>
          <p:nvPr/>
        </p:nvSpPr>
        <p:spPr>
          <a:xfrm>
            <a:off x="4133088" y="3108960"/>
            <a:ext cx="1417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&amp; wastage</a:t>
            </a:r>
            <a:endParaRPr lang="en-US" sz="1040" dirty="0"/>
          </a:p>
        </p:txBody>
      </p:sp>
      <p:sp>
        <p:nvSpPr>
          <p:cNvPr id="34" name="Text 32"/>
          <p:cNvSpPr/>
          <p:nvPr/>
        </p:nvSpPr>
        <p:spPr>
          <a:xfrm>
            <a:off x="3721608" y="3438144"/>
            <a:ext cx="1883664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 output, scrap, consumption</a:t>
            </a:r>
            <a:endParaRPr lang="en-US" sz="690" dirty="0"/>
          </a:p>
        </p:txBody>
      </p:sp>
      <p:sp>
        <p:nvSpPr>
          <p:cNvPr id="35" name="Shape 33"/>
          <p:cNvSpPr/>
          <p:nvPr/>
        </p:nvSpPr>
        <p:spPr>
          <a:xfrm>
            <a:off x="6309360" y="2926080"/>
            <a:ext cx="2331720" cy="786384"/>
          </a:xfrm>
          <a:prstGeom prst="roundRect">
            <a:avLst>
              <a:gd name="adj" fmla="val 8140"/>
            </a:avLst>
          </a:prstGeom>
          <a:solidFill>
            <a:srgbClr val="111827"/>
          </a:solidFill>
          <a:ln w="10160">
            <a:solidFill>
              <a:srgbClr val="334155">
                <a:alpha val="92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73952" y="3090672"/>
            <a:ext cx="329184" cy="256032"/>
          </a:xfrm>
          <a:prstGeom prst="roundRect">
            <a:avLst>
              <a:gd name="adj" fmla="val 28571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47104" y="3140964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2563EB"/>
                </a:solidFill>
              </a:rPr>
              <a:t>7</a:t>
            </a:r>
            <a:endParaRPr lang="en-US" sz="730" dirty="0"/>
          </a:p>
        </p:txBody>
      </p:sp>
      <p:sp>
        <p:nvSpPr>
          <p:cNvPr id="38" name="Text 36"/>
          <p:cNvSpPr/>
          <p:nvPr/>
        </p:nvSpPr>
        <p:spPr>
          <a:xfrm>
            <a:off x="6922008" y="3108960"/>
            <a:ext cx="1417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In-process QC</a:t>
            </a:r>
            <a:endParaRPr lang="en-US" sz="1040" dirty="0"/>
          </a:p>
        </p:txBody>
      </p:sp>
      <p:sp>
        <p:nvSpPr>
          <p:cNvPr id="39" name="Text 37"/>
          <p:cNvSpPr/>
          <p:nvPr/>
        </p:nvSpPr>
        <p:spPr>
          <a:xfrm>
            <a:off x="6510528" y="3438144"/>
            <a:ext cx="1883664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sample checks, hold, rework</a:t>
            </a:r>
            <a:endParaRPr lang="en-US" sz="690" dirty="0"/>
          </a:p>
        </p:txBody>
      </p:sp>
      <p:sp>
        <p:nvSpPr>
          <p:cNvPr id="40" name="Shape 38"/>
          <p:cNvSpPr/>
          <p:nvPr/>
        </p:nvSpPr>
        <p:spPr>
          <a:xfrm>
            <a:off x="9098280" y="2926080"/>
            <a:ext cx="2331720" cy="786384"/>
          </a:xfrm>
          <a:prstGeom prst="roundRect">
            <a:avLst>
              <a:gd name="adj" fmla="val 8140"/>
            </a:avLst>
          </a:prstGeom>
          <a:solidFill>
            <a:srgbClr val="111827"/>
          </a:solidFill>
          <a:ln w="10160">
            <a:solidFill>
              <a:srgbClr val="334155">
                <a:alpha val="92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262872" y="3090672"/>
            <a:ext cx="329184" cy="256032"/>
          </a:xfrm>
          <a:prstGeom prst="roundRect">
            <a:avLst>
              <a:gd name="adj" fmla="val 28571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336024" y="3140964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2563EB"/>
                </a:solidFill>
              </a:rPr>
              <a:t>8</a:t>
            </a:r>
            <a:endParaRPr lang="en-US" sz="730" dirty="0"/>
          </a:p>
        </p:txBody>
      </p:sp>
      <p:sp>
        <p:nvSpPr>
          <p:cNvPr id="43" name="Text 41"/>
          <p:cNvSpPr/>
          <p:nvPr/>
        </p:nvSpPr>
        <p:spPr>
          <a:xfrm>
            <a:off x="9710928" y="3108960"/>
            <a:ext cx="1417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FG receipt</a:t>
            </a:r>
            <a:endParaRPr lang="en-US" sz="1040" dirty="0"/>
          </a:p>
        </p:txBody>
      </p:sp>
      <p:sp>
        <p:nvSpPr>
          <p:cNvPr id="44" name="Text 42"/>
          <p:cNvSpPr/>
          <p:nvPr/>
        </p:nvSpPr>
        <p:spPr>
          <a:xfrm>
            <a:off x="9299448" y="3438144"/>
            <a:ext cx="1883664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QC release to warehouse</a:t>
            </a:r>
            <a:endParaRPr lang="en-US" sz="690" dirty="0"/>
          </a:p>
        </p:txBody>
      </p:sp>
      <p:sp>
        <p:nvSpPr>
          <p:cNvPr id="45" name="Shape 43"/>
          <p:cNvSpPr/>
          <p:nvPr/>
        </p:nvSpPr>
        <p:spPr>
          <a:xfrm>
            <a:off x="868680" y="4892040"/>
            <a:ext cx="1417320" cy="256032"/>
          </a:xfrm>
          <a:prstGeom prst="roundRect">
            <a:avLst>
              <a:gd name="adj" fmla="val 28571"/>
            </a:avLst>
          </a:prstGeom>
          <a:solidFill>
            <a:srgbClr val="DCFCE7"/>
          </a:solidFill>
          <a:ln w="12700">
            <a:solidFill>
              <a:srgbClr val="DCFCE7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41832" y="4942332"/>
            <a:ext cx="1271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047857"/>
                </a:solidFill>
              </a:rPr>
              <a:t>Batch-wise execution</a:t>
            </a:r>
            <a:endParaRPr lang="en-US" sz="730" dirty="0"/>
          </a:p>
        </p:txBody>
      </p:sp>
      <p:sp>
        <p:nvSpPr>
          <p:cNvPr id="47" name="Shape 45"/>
          <p:cNvSpPr/>
          <p:nvPr/>
        </p:nvSpPr>
        <p:spPr>
          <a:xfrm>
            <a:off x="2679192" y="4892040"/>
            <a:ext cx="1417320" cy="256032"/>
          </a:xfrm>
          <a:prstGeom prst="roundRect">
            <a:avLst>
              <a:gd name="adj" fmla="val 28571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752344" y="4942332"/>
            <a:ext cx="1271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2563EB"/>
                </a:solidFill>
              </a:rPr>
              <a:t>Material control</a:t>
            </a:r>
            <a:endParaRPr lang="en-US" sz="730" dirty="0"/>
          </a:p>
        </p:txBody>
      </p:sp>
      <p:sp>
        <p:nvSpPr>
          <p:cNvPr id="49" name="Shape 47"/>
          <p:cNvSpPr/>
          <p:nvPr/>
        </p:nvSpPr>
        <p:spPr>
          <a:xfrm>
            <a:off x="4489704" y="4892040"/>
            <a:ext cx="1417320" cy="256032"/>
          </a:xfrm>
          <a:prstGeom prst="roundRect">
            <a:avLst>
              <a:gd name="adj" fmla="val 28571"/>
            </a:avLst>
          </a:prstGeom>
          <a:solidFill>
            <a:srgbClr val="DCFCE7"/>
          </a:solidFill>
          <a:ln w="12700">
            <a:solidFill>
              <a:srgbClr val="DCFCE7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62856" y="4942332"/>
            <a:ext cx="1271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047857"/>
                </a:solidFill>
              </a:rPr>
              <a:t>Machine utilization</a:t>
            </a:r>
            <a:endParaRPr lang="en-US" sz="730" dirty="0"/>
          </a:p>
        </p:txBody>
      </p:sp>
      <p:sp>
        <p:nvSpPr>
          <p:cNvPr id="51" name="Shape 49"/>
          <p:cNvSpPr/>
          <p:nvPr/>
        </p:nvSpPr>
        <p:spPr>
          <a:xfrm>
            <a:off x="6300216" y="4892040"/>
            <a:ext cx="1417320" cy="256032"/>
          </a:xfrm>
          <a:prstGeom prst="roundRect">
            <a:avLst>
              <a:gd name="adj" fmla="val 28571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73368" y="4942332"/>
            <a:ext cx="1271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2563EB"/>
                </a:solidFill>
              </a:rPr>
              <a:t>Wastage tracking</a:t>
            </a:r>
            <a:endParaRPr lang="en-US" sz="730" dirty="0"/>
          </a:p>
        </p:txBody>
      </p:sp>
      <p:sp>
        <p:nvSpPr>
          <p:cNvPr id="53" name="Shape 51"/>
          <p:cNvSpPr/>
          <p:nvPr/>
        </p:nvSpPr>
        <p:spPr>
          <a:xfrm>
            <a:off x="8110728" y="4892040"/>
            <a:ext cx="1417320" cy="256032"/>
          </a:xfrm>
          <a:prstGeom prst="roundRect">
            <a:avLst>
              <a:gd name="adj" fmla="val 28571"/>
            </a:avLst>
          </a:prstGeom>
          <a:solidFill>
            <a:srgbClr val="DCFCE7"/>
          </a:solidFill>
          <a:ln w="12700">
            <a:solidFill>
              <a:srgbClr val="DCFCE7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183880" y="4942332"/>
            <a:ext cx="1271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047857"/>
                </a:solidFill>
              </a:rPr>
              <a:t>QC integration</a:t>
            </a:r>
            <a:endParaRPr lang="en-US" sz="730" dirty="0"/>
          </a:p>
        </p:txBody>
      </p:sp>
      <p:sp>
        <p:nvSpPr>
          <p:cNvPr id="55" name="Shape 53"/>
          <p:cNvSpPr/>
          <p:nvPr/>
        </p:nvSpPr>
        <p:spPr>
          <a:xfrm>
            <a:off x="9921240" y="4892040"/>
            <a:ext cx="1417320" cy="256032"/>
          </a:xfrm>
          <a:prstGeom prst="roundRect">
            <a:avLst>
              <a:gd name="adj" fmla="val 28571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994392" y="4942332"/>
            <a:ext cx="1271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2563EB"/>
                </a:solidFill>
              </a:rPr>
              <a:t>FG handoff</a:t>
            </a:r>
            <a:endParaRPr lang="en-US" sz="730" dirty="0"/>
          </a:p>
        </p:txBody>
      </p:sp>
      <p:sp>
        <p:nvSpPr>
          <p:cNvPr id="57" name="Shape 55"/>
          <p:cNvSpPr/>
          <p:nvPr/>
        </p:nvSpPr>
        <p:spPr>
          <a:xfrm>
            <a:off x="438912" y="6446520"/>
            <a:ext cx="11292840" cy="0"/>
          </a:xfrm>
          <a:prstGeom prst="line">
            <a:avLst/>
          </a:prstGeom>
          <a:noFill/>
          <a:ln w="7620">
            <a:solidFill>
              <a:srgbClr val="CBD5E1">
                <a:alpha val="5500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38912" y="6565392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Tan90 Manufacturing ERP MVP • Client-ready architecture deck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11228832" y="654710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22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329184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047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 FLOW</a:t>
            </a:r>
            <a:endParaRPr lang="en-US" sz="820" dirty="0"/>
          </a:p>
        </p:txBody>
      </p:sp>
      <p:sp>
        <p:nvSpPr>
          <p:cNvPr id="3" name="Text 1"/>
          <p:cNvSpPr/>
          <p:nvPr/>
        </p:nvSpPr>
        <p:spPr>
          <a:xfrm>
            <a:off x="438912" y="566928"/>
            <a:ext cx="9875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one work order moves through the space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38912" y="1133856"/>
            <a:ext cx="98755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This is the client-demoable flow for a production manager and shop-floor executive.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94944" y="1828800"/>
            <a:ext cx="1993392" cy="502920"/>
          </a:xfrm>
          <a:prstGeom prst="roundRect">
            <a:avLst>
              <a:gd name="adj" fmla="val 12727"/>
            </a:avLst>
          </a:prstGeom>
          <a:solidFill>
            <a:srgbClr val="E0F2FE"/>
          </a:solidFill>
          <a:ln w="10160">
            <a:solidFill>
              <a:srgbClr val="E0F2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1883664"/>
            <a:ext cx="1847088" cy="393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 Plan</a:t>
            </a:r>
            <a:endParaRPr lang="en-US" sz="940" dirty="0"/>
          </a:p>
        </p:txBody>
      </p:sp>
      <p:sp>
        <p:nvSpPr>
          <p:cNvPr id="7" name="Text 5"/>
          <p:cNvSpPr/>
          <p:nvPr/>
        </p:nvSpPr>
        <p:spPr>
          <a:xfrm>
            <a:off x="740664" y="2487168"/>
            <a:ext cx="187452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qty + due date</a:t>
            </a:r>
            <a:endParaRPr lang="en-US" sz="720" dirty="0"/>
          </a:p>
        </p:txBody>
      </p:sp>
      <p:sp>
        <p:nvSpPr>
          <p:cNvPr id="8" name="Shape 6"/>
          <p:cNvSpPr/>
          <p:nvPr/>
        </p:nvSpPr>
        <p:spPr>
          <a:xfrm>
            <a:off x="2688336" y="2084832"/>
            <a:ext cx="676656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483864" y="1828800"/>
            <a:ext cx="1993392" cy="502920"/>
          </a:xfrm>
          <a:prstGeom prst="roundRect">
            <a:avLst>
              <a:gd name="adj" fmla="val 12727"/>
            </a:avLst>
          </a:prstGeom>
          <a:solidFill>
            <a:srgbClr val="E0F2FE"/>
          </a:solidFill>
          <a:ln w="10160">
            <a:solidFill>
              <a:srgbClr val="E0F2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57016" y="1883664"/>
            <a:ext cx="1847088" cy="393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MRP Check</a:t>
            </a:r>
            <a:endParaRPr lang="en-US" sz="940" dirty="0"/>
          </a:p>
        </p:txBody>
      </p:sp>
      <p:sp>
        <p:nvSpPr>
          <p:cNvPr id="11" name="Text 9"/>
          <p:cNvSpPr/>
          <p:nvPr/>
        </p:nvSpPr>
        <p:spPr>
          <a:xfrm>
            <a:off x="3529584" y="2487168"/>
            <a:ext cx="187452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 shortage</a:t>
            </a:r>
            <a:endParaRPr lang="en-US" sz="720" dirty="0"/>
          </a:p>
        </p:txBody>
      </p:sp>
      <p:sp>
        <p:nvSpPr>
          <p:cNvPr id="12" name="Shape 10"/>
          <p:cNvSpPr/>
          <p:nvPr/>
        </p:nvSpPr>
        <p:spPr>
          <a:xfrm>
            <a:off x="5477256" y="2084832"/>
            <a:ext cx="676656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272784" y="1828800"/>
            <a:ext cx="1993392" cy="502920"/>
          </a:xfrm>
          <a:prstGeom prst="roundRect">
            <a:avLst>
              <a:gd name="adj" fmla="val 12727"/>
            </a:avLst>
          </a:prstGeom>
          <a:solidFill>
            <a:srgbClr val="E0F2FE"/>
          </a:solidFill>
          <a:ln w="10160">
            <a:solidFill>
              <a:srgbClr val="E0F2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45936" y="1883664"/>
            <a:ext cx="1847088" cy="393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 Order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6318504" y="2487168"/>
            <a:ext cx="187452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Recipe/BOM version</a:t>
            </a:r>
            <a:endParaRPr lang="en-US" sz="720" dirty="0"/>
          </a:p>
        </p:txBody>
      </p:sp>
      <p:sp>
        <p:nvSpPr>
          <p:cNvPr id="16" name="Shape 14"/>
          <p:cNvSpPr/>
          <p:nvPr/>
        </p:nvSpPr>
        <p:spPr>
          <a:xfrm>
            <a:off x="8266176" y="2084832"/>
            <a:ext cx="676656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061704" y="1828800"/>
            <a:ext cx="1993392" cy="502920"/>
          </a:xfrm>
          <a:prstGeom prst="roundRect">
            <a:avLst>
              <a:gd name="adj" fmla="val 12727"/>
            </a:avLst>
          </a:prstGeom>
          <a:solidFill>
            <a:srgbClr val="E0F2FE"/>
          </a:solidFill>
          <a:ln w="10160">
            <a:solidFill>
              <a:srgbClr val="E0F2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34856" y="1883664"/>
            <a:ext cx="1847088" cy="393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 Issue</a:t>
            </a:r>
            <a:endParaRPr lang="en-US" sz="940" dirty="0"/>
          </a:p>
        </p:txBody>
      </p:sp>
      <p:sp>
        <p:nvSpPr>
          <p:cNvPr id="19" name="Text 17"/>
          <p:cNvSpPr/>
          <p:nvPr/>
        </p:nvSpPr>
        <p:spPr>
          <a:xfrm>
            <a:off x="9107424" y="2487168"/>
            <a:ext cx="187452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Store approves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10058400" y="2331720"/>
            <a:ext cx="0" cy="82296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94944" y="3337560"/>
            <a:ext cx="1993392" cy="502920"/>
          </a:xfrm>
          <a:prstGeom prst="roundRect">
            <a:avLst>
              <a:gd name="adj" fmla="val 12727"/>
            </a:avLst>
          </a:prstGeom>
          <a:solidFill>
            <a:srgbClr val="E0F2FE"/>
          </a:solidFill>
          <a:ln w="10160">
            <a:solidFill>
              <a:srgbClr val="E0F2F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392424"/>
            <a:ext cx="1847088" cy="393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Job Card</a:t>
            </a:r>
            <a:endParaRPr lang="en-US" sz="940" dirty="0"/>
          </a:p>
        </p:txBody>
      </p:sp>
      <p:sp>
        <p:nvSpPr>
          <p:cNvPr id="23" name="Text 21"/>
          <p:cNvSpPr/>
          <p:nvPr/>
        </p:nvSpPr>
        <p:spPr>
          <a:xfrm>
            <a:off x="740664" y="3995928"/>
            <a:ext cx="187452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 + operator</a:t>
            </a:r>
            <a:endParaRPr lang="en-US" sz="720" dirty="0"/>
          </a:p>
        </p:txBody>
      </p:sp>
      <p:sp>
        <p:nvSpPr>
          <p:cNvPr id="24" name="Shape 22"/>
          <p:cNvSpPr/>
          <p:nvPr/>
        </p:nvSpPr>
        <p:spPr>
          <a:xfrm>
            <a:off x="2688336" y="3593592"/>
            <a:ext cx="676656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3483864" y="3337560"/>
            <a:ext cx="1993392" cy="502920"/>
          </a:xfrm>
          <a:prstGeom prst="roundRect">
            <a:avLst>
              <a:gd name="adj" fmla="val 12727"/>
            </a:avLst>
          </a:prstGeom>
          <a:solidFill>
            <a:srgbClr val="E0F2FE"/>
          </a:solidFill>
          <a:ln w="10160">
            <a:solidFill>
              <a:srgbClr val="E0F2F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57016" y="3392424"/>
            <a:ext cx="1847088" cy="393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Entry</a:t>
            </a:r>
            <a:endParaRPr lang="en-US" sz="940" dirty="0"/>
          </a:p>
        </p:txBody>
      </p:sp>
      <p:sp>
        <p:nvSpPr>
          <p:cNvPr id="27" name="Text 25"/>
          <p:cNvSpPr/>
          <p:nvPr/>
        </p:nvSpPr>
        <p:spPr>
          <a:xfrm>
            <a:off x="3529584" y="3995928"/>
            <a:ext cx="187452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 + scrap</a:t>
            </a:r>
            <a:endParaRPr lang="en-US" sz="720" dirty="0"/>
          </a:p>
        </p:txBody>
      </p:sp>
      <p:sp>
        <p:nvSpPr>
          <p:cNvPr id="28" name="Shape 26"/>
          <p:cNvSpPr/>
          <p:nvPr/>
        </p:nvSpPr>
        <p:spPr>
          <a:xfrm>
            <a:off x="5477256" y="3593592"/>
            <a:ext cx="676656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272784" y="3337560"/>
            <a:ext cx="1993392" cy="502920"/>
          </a:xfrm>
          <a:prstGeom prst="roundRect">
            <a:avLst>
              <a:gd name="adj" fmla="val 12727"/>
            </a:avLst>
          </a:prstGeom>
          <a:solidFill>
            <a:srgbClr val="FFE4E6"/>
          </a:solidFill>
          <a:ln w="10160">
            <a:solidFill>
              <a:srgbClr val="FFE4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45936" y="3392424"/>
            <a:ext cx="1847088" cy="393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E11D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QC</a:t>
            </a:r>
            <a:endParaRPr lang="en-US" sz="940" dirty="0"/>
          </a:p>
        </p:txBody>
      </p:sp>
      <p:sp>
        <p:nvSpPr>
          <p:cNvPr id="31" name="Text 29"/>
          <p:cNvSpPr/>
          <p:nvPr/>
        </p:nvSpPr>
        <p:spPr>
          <a:xfrm>
            <a:off x="6318504" y="3995928"/>
            <a:ext cx="187452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Release/rework/reject</a:t>
            </a:r>
            <a:endParaRPr lang="en-US" sz="720" dirty="0"/>
          </a:p>
        </p:txBody>
      </p:sp>
      <p:sp>
        <p:nvSpPr>
          <p:cNvPr id="32" name="Shape 30"/>
          <p:cNvSpPr/>
          <p:nvPr/>
        </p:nvSpPr>
        <p:spPr>
          <a:xfrm>
            <a:off x="8266176" y="3593592"/>
            <a:ext cx="676656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9061704" y="3337560"/>
            <a:ext cx="1993392" cy="502920"/>
          </a:xfrm>
          <a:prstGeom prst="roundRect">
            <a:avLst>
              <a:gd name="adj" fmla="val 12727"/>
            </a:avLst>
          </a:prstGeom>
          <a:solidFill>
            <a:srgbClr val="DCFCE7"/>
          </a:solidFill>
          <a:ln w="10160">
            <a:solidFill>
              <a:srgbClr val="DCFCE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34856" y="3392424"/>
            <a:ext cx="1847088" cy="393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047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FG Receipt</a:t>
            </a:r>
            <a:endParaRPr lang="en-US" sz="940" dirty="0"/>
          </a:p>
        </p:txBody>
      </p:sp>
      <p:sp>
        <p:nvSpPr>
          <p:cNvPr id="35" name="Text 33"/>
          <p:cNvSpPr/>
          <p:nvPr/>
        </p:nvSpPr>
        <p:spPr>
          <a:xfrm>
            <a:off x="9107424" y="3995928"/>
            <a:ext cx="187452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Warehouse stock</a:t>
            </a:r>
            <a:endParaRPr lang="en-US" sz="720" dirty="0"/>
          </a:p>
        </p:txBody>
      </p:sp>
      <p:sp>
        <p:nvSpPr>
          <p:cNvPr id="36" name="Shape 34"/>
          <p:cNvSpPr/>
          <p:nvPr/>
        </p:nvSpPr>
        <p:spPr>
          <a:xfrm>
            <a:off x="1097280" y="5074920"/>
            <a:ext cx="9966960" cy="566928"/>
          </a:xfrm>
          <a:prstGeom prst="roundRect">
            <a:avLst>
              <a:gd name="adj" fmla="val 11290"/>
            </a:avLst>
          </a:prstGeom>
          <a:solidFill>
            <a:srgbClr val="FEF3C7"/>
          </a:solidFill>
          <a:ln w="10160">
            <a:solidFill>
              <a:srgbClr val="FCD34D">
                <a:alpha val="92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17320" y="5276088"/>
            <a:ext cx="932688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92400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step creates auditable events: who, when, plant, machine, shift, batch, material lot, output, scrap reason and QC status.</a:t>
            </a:r>
            <a:endParaRPr lang="en-US" sz="980" dirty="0"/>
          </a:p>
        </p:txBody>
      </p:sp>
      <p:sp>
        <p:nvSpPr>
          <p:cNvPr id="38" name="Shape 36"/>
          <p:cNvSpPr/>
          <p:nvPr/>
        </p:nvSpPr>
        <p:spPr>
          <a:xfrm>
            <a:off x="438912" y="6446520"/>
            <a:ext cx="11292840" cy="0"/>
          </a:xfrm>
          <a:prstGeom prst="line">
            <a:avLst/>
          </a:prstGeom>
          <a:noFill/>
          <a:ln w="7620">
            <a:solidFill>
              <a:srgbClr val="CBD5E1">
                <a:alpha val="55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38912" y="6565392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Tan90 Manufacturing ERP MVP • Client-ready architecture deck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11228832" y="654710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23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329184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047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 CONTROLS</a:t>
            </a:r>
            <a:endParaRPr lang="en-US" sz="820" dirty="0"/>
          </a:p>
        </p:txBody>
      </p:sp>
      <p:sp>
        <p:nvSpPr>
          <p:cNvPr id="3" name="Text 1"/>
          <p:cNvSpPr/>
          <p:nvPr/>
        </p:nvSpPr>
        <p:spPr>
          <a:xfrm>
            <a:off x="438912" y="566928"/>
            <a:ext cx="9875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Machine usage, wastage and efficiency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38912" y="1133856"/>
            <a:ext cx="98755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The MVP must capture daily/shift-wise production performance because wastage and machine utilization are core client goals.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627632"/>
            <a:ext cx="3154680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41832" y="1883664"/>
            <a:ext cx="260604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 plan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87552" y="2231136"/>
            <a:ext cx="251460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9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 allocation, capacity, planned run hours, changeover time</a:t>
            </a:r>
            <a:endParaRPr lang="en-US" sz="790" dirty="0"/>
          </a:p>
        </p:txBody>
      </p:sp>
      <p:sp>
        <p:nvSpPr>
          <p:cNvPr id="8" name="Shape 6"/>
          <p:cNvSpPr/>
          <p:nvPr/>
        </p:nvSpPr>
        <p:spPr>
          <a:xfrm>
            <a:off x="4389120" y="1627632"/>
            <a:ext cx="3154680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45152" y="1883664"/>
            <a:ext cx="260604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 entry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690872" y="2231136"/>
            <a:ext cx="251460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9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operator, shift, start/stop, downtime, produced qty, rejected qty</a:t>
            </a:r>
            <a:endParaRPr lang="en-US" sz="790" dirty="0"/>
          </a:p>
        </p:txBody>
      </p:sp>
      <p:sp>
        <p:nvSpPr>
          <p:cNvPr id="11" name="Shape 9"/>
          <p:cNvSpPr/>
          <p:nvPr/>
        </p:nvSpPr>
        <p:spPr>
          <a:xfrm>
            <a:off x="8092440" y="1627632"/>
            <a:ext cx="3154680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48472" y="1883664"/>
            <a:ext cx="260604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Wastage reasons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394192" y="2231136"/>
            <a:ext cx="251460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9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sealing issue, leakage, film waste, PCM loss, rework, scrap category</a:t>
            </a:r>
            <a:endParaRPr lang="en-US" sz="790" dirty="0"/>
          </a:p>
        </p:txBody>
      </p:sp>
      <p:sp>
        <p:nvSpPr>
          <p:cNvPr id="14" name="Shape 12"/>
          <p:cNvSpPr/>
          <p:nvPr/>
        </p:nvSpPr>
        <p:spPr>
          <a:xfrm>
            <a:off x="685800" y="3090672"/>
            <a:ext cx="3154680" cy="987552"/>
          </a:xfrm>
          <a:prstGeom prst="roundRect">
            <a:avLst>
              <a:gd name="adj" fmla="val 6481"/>
            </a:avLst>
          </a:prstGeom>
          <a:solidFill>
            <a:srgbClr val="ECFDF5"/>
          </a:solidFill>
          <a:ln w="10160">
            <a:solidFill>
              <a:srgbClr val="10B981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41832" y="3346704"/>
            <a:ext cx="260604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Efficiency KPIs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87552" y="3694176"/>
            <a:ext cx="251460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9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 vs actual, OEE-ready utilization, wastage %, output per hour</a:t>
            </a:r>
            <a:endParaRPr lang="en-US" sz="790" dirty="0"/>
          </a:p>
        </p:txBody>
      </p:sp>
      <p:sp>
        <p:nvSpPr>
          <p:cNvPr id="17" name="Shape 15"/>
          <p:cNvSpPr/>
          <p:nvPr/>
        </p:nvSpPr>
        <p:spPr>
          <a:xfrm>
            <a:off x="4389120" y="3090672"/>
            <a:ext cx="3154680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645152" y="3346704"/>
            <a:ext cx="260604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Approval gates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690872" y="3694176"/>
            <a:ext cx="251460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9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manager approval for high wastage, breakdown reason, rework closure</a:t>
            </a:r>
            <a:endParaRPr lang="en-US" sz="790" dirty="0"/>
          </a:p>
        </p:txBody>
      </p:sp>
      <p:sp>
        <p:nvSpPr>
          <p:cNvPr id="20" name="Shape 18"/>
          <p:cNvSpPr/>
          <p:nvPr/>
        </p:nvSpPr>
        <p:spPr>
          <a:xfrm>
            <a:off x="8092440" y="3090672"/>
            <a:ext cx="3154680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348472" y="3346704"/>
            <a:ext cx="260604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394192" y="3694176"/>
            <a:ext cx="251460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9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unit-wise, machine-wise, SKU-wise, operator-wise trends</a:t>
            </a:r>
            <a:endParaRPr lang="en-US" sz="790" dirty="0"/>
          </a:p>
        </p:txBody>
      </p:sp>
      <p:sp>
        <p:nvSpPr>
          <p:cNvPr id="23" name="Shape 21"/>
          <p:cNvSpPr/>
          <p:nvPr/>
        </p:nvSpPr>
        <p:spPr>
          <a:xfrm>
            <a:off x="1828800" y="5010912"/>
            <a:ext cx="155448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901952" y="5129784"/>
            <a:ext cx="1408176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9,700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883664" y="5431536"/>
            <a:ext cx="1444752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Daily Output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3886200" y="5010912"/>
            <a:ext cx="155448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959352" y="5129784"/>
            <a:ext cx="1408176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3.0%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941064" y="5431536"/>
            <a:ext cx="1444752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EA58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Wastage %</a:t>
            </a:r>
            <a:endParaRPr lang="en-US" sz="650" dirty="0"/>
          </a:p>
        </p:txBody>
      </p:sp>
      <p:sp>
        <p:nvSpPr>
          <p:cNvPr id="29" name="Shape 27"/>
          <p:cNvSpPr/>
          <p:nvPr/>
        </p:nvSpPr>
        <p:spPr>
          <a:xfrm>
            <a:off x="5943600" y="5010912"/>
            <a:ext cx="155448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016752" y="5129784"/>
            <a:ext cx="1408176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7h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998464" y="5431536"/>
            <a:ext cx="1444752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Time</a:t>
            </a:r>
            <a:endParaRPr lang="en-US" sz="650" dirty="0"/>
          </a:p>
        </p:txBody>
      </p:sp>
      <p:sp>
        <p:nvSpPr>
          <p:cNvPr id="32" name="Shape 30"/>
          <p:cNvSpPr/>
          <p:nvPr/>
        </p:nvSpPr>
        <p:spPr>
          <a:xfrm>
            <a:off x="8001000" y="5010912"/>
            <a:ext cx="155448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8074152" y="5129784"/>
            <a:ext cx="1408176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1h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8055864" y="5431536"/>
            <a:ext cx="1444752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E11D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Breakdown</a:t>
            </a:r>
            <a:endParaRPr lang="en-US" sz="650" dirty="0"/>
          </a:p>
        </p:txBody>
      </p:sp>
      <p:sp>
        <p:nvSpPr>
          <p:cNvPr id="35" name="Shape 33"/>
          <p:cNvSpPr/>
          <p:nvPr/>
        </p:nvSpPr>
        <p:spPr>
          <a:xfrm>
            <a:off x="438912" y="6446520"/>
            <a:ext cx="11292840" cy="0"/>
          </a:xfrm>
          <a:prstGeom prst="line">
            <a:avLst/>
          </a:prstGeom>
          <a:noFill/>
          <a:ln w="7620">
            <a:solidFill>
              <a:srgbClr val="CBD5E1">
                <a:alpha val="55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8912" y="6565392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Tan90 Manufacturing ERP MVP • Client-ready architecture deck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11228832" y="654710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24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329184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047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 MODEL</a:t>
            </a:r>
            <a:endParaRPr lang="en-US" sz="820" dirty="0"/>
          </a:p>
        </p:txBody>
      </p:sp>
      <p:sp>
        <p:nvSpPr>
          <p:cNvPr id="3" name="Text 1"/>
          <p:cNvSpPr/>
          <p:nvPr/>
        </p:nvSpPr>
        <p:spPr>
          <a:xfrm>
            <a:off x="438912" y="566928"/>
            <a:ext cx="9875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QC is embedded at every critical gate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38912" y="1133856"/>
            <a:ext cx="98755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Quality is not a single module; it is a control layer over inward material, production WIP and finished goods release.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14400" y="1828800"/>
            <a:ext cx="2971800" cy="1325880"/>
          </a:xfrm>
          <a:prstGeom prst="roundRect">
            <a:avLst>
              <a:gd name="adj" fmla="val 4828"/>
            </a:avLst>
          </a:prstGeom>
          <a:solidFill>
            <a:srgbClr val="E0F2FE"/>
          </a:solidFill>
          <a:ln w="10160">
            <a:solidFill>
              <a:srgbClr val="BAE6FD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234440" y="2084832"/>
            <a:ext cx="233172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Incoming QC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2542032"/>
            <a:ext cx="224028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Vendor material check before stock posting</a:t>
            </a:r>
            <a:endParaRPr lang="en-US" sz="830" dirty="0"/>
          </a:p>
        </p:txBody>
      </p:sp>
      <p:sp>
        <p:nvSpPr>
          <p:cNvPr id="8" name="Shape 6"/>
          <p:cNvSpPr/>
          <p:nvPr/>
        </p:nvSpPr>
        <p:spPr>
          <a:xfrm>
            <a:off x="1325880" y="2889504"/>
            <a:ext cx="2148840" cy="256032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99032" y="2939796"/>
            <a:ext cx="20025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2563EB"/>
                </a:solidFill>
              </a:rPr>
              <a:t>Accept, reject, partial accept, hold</a:t>
            </a:r>
            <a:endParaRPr lang="en-US" sz="730" dirty="0"/>
          </a:p>
        </p:txBody>
      </p:sp>
      <p:sp>
        <p:nvSpPr>
          <p:cNvPr id="10" name="Shape 8"/>
          <p:cNvSpPr/>
          <p:nvPr/>
        </p:nvSpPr>
        <p:spPr>
          <a:xfrm>
            <a:off x="4617720" y="1828800"/>
            <a:ext cx="2971800" cy="1325880"/>
          </a:xfrm>
          <a:prstGeom prst="roundRect">
            <a:avLst>
              <a:gd name="adj" fmla="val 4828"/>
            </a:avLst>
          </a:prstGeom>
          <a:solidFill>
            <a:srgbClr val="FEF3C7"/>
          </a:solidFill>
          <a:ln w="10160">
            <a:solidFill>
              <a:srgbClr val="FCD34D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37760" y="2084832"/>
            <a:ext cx="233172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2400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In-process QC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83480" y="2542032"/>
            <a:ext cx="224028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During job card execution</a:t>
            </a:r>
            <a:endParaRPr lang="en-US" sz="830" dirty="0"/>
          </a:p>
        </p:txBody>
      </p:sp>
      <p:sp>
        <p:nvSpPr>
          <p:cNvPr id="13" name="Shape 11"/>
          <p:cNvSpPr/>
          <p:nvPr/>
        </p:nvSpPr>
        <p:spPr>
          <a:xfrm>
            <a:off x="5029200" y="2889504"/>
            <a:ext cx="2148840" cy="256032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02352" y="2939796"/>
            <a:ext cx="20025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92400E"/>
                </a:solidFill>
              </a:rPr>
              <a:t>sample inspection, deviation, CAPA</a:t>
            </a:r>
            <a:endParaRPr lang="en-US" sz="730" dirty="0"/>
          </a:p>
        </p:txBody>
      </p:sp>
      <p:sp>
        <p:nvSpPr>
          <p:cNvPr id="15" name="Shape 13"/>
          <p:cNvSpPr/>
          <p:nvPr/>
        </p:nvSpPr>
        <p:spPr>
          <a:xfrm>
            <a:off x="8321040" y="1828800"/>
            <a:ext cx="2971800" cy="1325880"/>
          </a:xfrm>
          <a:prstGeom prst="roundRect">
            <a:avLst>
              <a:gd name="adj" fmla="val 4828"/>
            </a:avLst>
          </a:prstGeom>
          <a:solidFill>
            <a:srgbClr val="ECFDF5"/>
          </a:solidFill>
          <a:ln w="10160">
            <a:solidFill>
              <a:srgbClr val="A7F3D0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641080" y="2084832"/>
            <a:ext cx="233172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47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QC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686800" y="2542032"/>
            <a:ext cx="224028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 finished goods enter warehouse</a:t>
            </a:r>
            <a:endParaRPr lang="en-US" sz="830" dirty="0"/>
          </a:p>
        </p:txBody>
      </p:sp>
      <p:sp>
        <p:nvSpPr>
          <p:cNvPr id="18" name="Shape 16"/>
          <p:cNvSpPr/>
          <p:nvPr/>
        </p:nvSpPr>
        <p:spPr>
          <a:xfrm>
            <a:off x="8732520" y="2889504"/>
            <a:ext cx="2148840" cy="256032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05672" y="2939796"/>
            <a:ext cx="20025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047857"/>
                </a:solidFill>
              </a:rPr>
              <a:t>release, rework, scrap, certificate</a:t>
            </a:r>
            <a:endParaRPr lang="en-US" sz="730" dirty="0"/>
          </a:p>
        </p:txBody>
      </p:sp>
      <p:sp>
        <p:nvSpPr>
          <p:cNvPr id="20" name="Shape 18"/>
          <p:cNvSpPr/>
          <p:nvPr/>
        </p:nvSpPr>
        <p:spPr>
          <a:xfrm>
            <a:off x="960120" y="4251960"/>
            <a:ext cx="1325880" cy="256032"/>
          </a:xfrm>
          <a:prstGeom prst="roundRect">
            <a:avLst>
              <a:gd name="adj" fmla="val 28571"/>
            </a:avLst>
          </a:prstGeom>
          <a:solidFill>
            <a:srgbClr val="DCFCE7"/>
          </a:solidFill>
          <a:ln w="12700">
            <a:solidFill>
              <a:srgbClr val="DCFCE7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33272" y="4302252"/>
            <a:ext cx="11795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047857"/>
                </a:solidFill>
              </a:rPr>
              <a:t>spec parameter</a:t>
            </a:r>
            <a:endParaRPr lang="en-US" sz="730" dirty="0"/>
          </a:p>
        </p:txBody>
      </p:sp>
      <p:sp>
        <p:nvSpPr>
          <p:cNvPr id="22" name="Shape 20"/>
          <p:cNvSpPr/>
          <p:nvPr/>
        </p:nvSpPr>
        <p:spPr>
          <a:xfrm>
            <a:off x="2743200" y="4251960"/>
            <a:ext cx="1325880" cy="256032"/>
          </a:xfrm>
          <a:prstGeom prst="roundRect">
            <a:avLst>
              <a:gd name="adj" fmla="val 28571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16352" y="4302252"/>
            <a:ext cx="11795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2563EB"/>
                </a:solidFill>
              </a:rPr>
              <a:t>sample size</a:t>
            </a:r>
            <a:endParaRPr lang="en-US" sz="730" dirty="0"/>
          </a:p>
        </p:txBody>
      </p:sp>
      <p:sp>
        <p:nvSpPr>
          <p:cNvPr id="24" name="Shape 22"/>
          <p:cNvSpPr/>
          <p:nvPr/>
        </p:nvSpPr>
        <p:spPr>
          <a:xfrm>
            <a:off x="4526280" y="4251960"/>
            <a:ext cx="1325880" cy="256032"/>
          </a:xfrm>
          <a:prstGeom prst="roundRect">
            <a:avLst>
              <a:gd name="adj" fmla="val 28571"/>
            </a:avLst>
          </a:prstGeom>
          <a:solidFill>
            <a:srgbClr val="DCFCE7"/>
          </a:solidFill>
          <a:ln w="12700">
            <a:solidFill>
              <a:srgbClr val="DCFCE7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99432" y="4302252"/>
            <a:ext cx="11795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047857"/>
                </a:solidFill>
              </a:rPr>
              <a:t>inspection value</a:t>
            </a:r>
            <a:endParaRPr lang="en-US" sz="730" dirty="0"/>
          </a:p>
        </p:txBody>
      </p:sp>
      <p:sp>
        <p:nvSpPr>
          <p:cNvPr id="26" name="Shape 24"/>
          <p:cNvSpPr/>
          <p:nvPr/>
        </p:nvSpPr>
        <p:spPr>
          <a:xfrm>
            <a:off x="6309360" y="4251960"/>
            <a:ext cx="1325880" cy="256032"/>
          </a:xfrm>
          <a:prstGeom prst="roundRect">
            <a:avLst>
              <a:gd name="adj" fmla="val 28571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82512" y="4302252"/>
            <a:ext cx="11795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2563EB"/>
                </a:solidFill>
              </a:rPr>
              <a:t>acceptance rule</a:t>
            </a:r>
            <a:endParaRPr lang="en-US" sz="730" dirty="0"/>
          </a:p>
        </p:txBody>
      </p:sp>
      <p:sp>
        <p:nvSpPr>
          <p:cNvPr id="28" name="Shape 26"/>
          <p:cNvSpPr/>
          <p:nvPr/>
        </p:nvSpPr>
        <p:spPr>
          <a:xfrm>
            <a:off x="8092440" y="4251960"/>
            <a:ext cx="1325880" cy="256032"/>
          </a:xfrm>
          <a:prstGeom prst="roundRect">
            <a:avLst>
              <a:gd name="adj" fmla="val 28571"/>
            </a:avLst>
          </a:prstGeom>
          <a:solidFill>
            <a:srgbClr val="DCFCE7"/>
          </a:solidFill>
          <a:ln w="12700">
            <a:solidFill>
              <a:srgbClr val="DCFCE7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65592" y="4302252"/>
            <a:ext cx="11795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047857"/>
                </a:solidFill>
              </a:rPr>
              <a:t>hold reason</a:t>
            </a:r>
            <a:endParaRPr lang="en-US" sz="730" dirty="0"/>
          </a:p>
        </p:txBody>
      </p:sp>
      <p:sp>
        <p:nvSpPr>
          <p:cNvPr id="30" name="Shape 28"/>
          <p:cNvSpPr/>
          <p:nvPr/>
        </p:nvSpPr>
        <p:spPr>
          <a:xfrm>
            <a:off x="9875520" y="4251960"/>
            <a:ext cx="1325880" cy="256032"/>
          </a:xfrm>
          <a:prstGeom prst="roundRect">
            <a:avLst>
              <a:gd name="adj" fmla="val 28571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948672" y="4302252"/>
            <a:ext cx="11795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2563EB"/>
                </a:solidFill>
              </a:rPr>
              <a:t>release certificate</a:t>
            </a:r>
            <a:endParaRPr lang="en-US" sz="730" dirty="0"/>
          </a:p>
        </p:txBody>
      </p:sp>
      <p:sp>
        <p:nvSpPr>
          <p:cNvPr id="32" name="Shape 30"/>
          <p:cNvSpPr/>
          <p:nvPr/>
        </p:nvSpPr>
        <p:spPr>
          <a:xfrm>
            <a:off x="1051560" y="5074920"/>
            <a:ext cx="1010412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1371600" y="5294376"/>
            <a:ext cx="946404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 records must attach to item, batch, supplier, work order and customer dispatch to support full traceability.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38912" y="6446520"/>
            <a:ext cx="11292840" cy="0"/>
          </a:xfrm>
          <a:prstGeom prst="line">
            <a:avLst/>
          </a:prstGeom>
          <a:noFill/>
          <a:ln w="7620">
            <a:solidFill>
              <a:srgbClr val="CBD5E1">
                <a:alpha val="55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8912" y="6565392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Tan90 Manufacturing ERP MVP • Client-ready architecture deck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11228832" y="654710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25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329184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047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SPACE 06</a:t>
            </a:r>
            <a:endParaRPr lang="en-US" sz="820" dirty="0"/>
          </a:p>
        </p:txBody>
      </p:sp>
      <p:sp>
        <p:nvSpPr>
          <p:cNvPr id="3" name="Text 1"/>
          <p:cNvSpPr/>
          <p:nvPr/>
        </p:nvSpPr>
        <p:spPr>
          <a:xfrm>
            <a:off x="438912" y="566928"/>
            <a:ext cx="9875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Warehouse, orders &amp; delivery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38912" y="1133856"/>
            <a:ext cx="98755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Finished goods stock, reservations, pick-pack, dispatch, transporter handover, POD upload, returns and closure.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77240" y="1828800"/>
            <a:ext cx="1965960" cy="502920"/>
          </a:xfrm>
          <a:prstGeom prst="roundRect">
            <a:avLst>
              <a:gd name="adj" fmla="val 12727"/>
            </a:avLst>
          </a:prstGeom>
          <a:solidFill>
            <a:srgbClr val="E0F2FE"/>
          </a:solidFill>
          <a:ln w="10160">
            <a:solidFill>
              <a:srgbClr val="E0F2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883664"/>
            <a:ext cx="1819656" cy="393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FG Receipt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2743200" y="2084832"/>
            <a:ext cx="640080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520440" y="1828800"/>
            <a:ext cx="1965960" cy="502920"/>
          </a:xfrm>
          <a:prstGeom prst="roundRect">
            <a:avLst>
              <a:gd name="adj" fmla="val 12727"/>
            </a:avLst>
          </a:prstGeom>
          <a:solidFill>
            <a:srgbClr val="E0F2FE"/>
          </a:solidFill>
          <a:ln w="10160">
            <a:solidFill>
              <a:srgbClr val="E0F2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93592" y="1883664"/>
            <a:ext cx="1819656" cy="393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Reservation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5486400" y="2084832"/>
            <a:ext cx="640080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263640" y="1828800"/>
            <a:ext cx="1965960" cy="502920"/>
          </a:xfrm>
          <a:prstGeom prst="roundRect">
            <a:avLst>
              <a:gd name="adj" fmla="val 12727"/>
            </a:avLst>
          </a:prstGeom>
          <a:solidFill>
            <a:srgbClr val="E0F2FE"/>
          </a:solidFill>
          <a:ln w="10160">
            <a:solidFill>
              <a:srgbClr val="E0F2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36792" y="1883664"/>
            <a:ext cx="1819656" cy="393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Pick List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8229600" y="2084832"/>
            <a:ext cx="640080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9006840" y="1828800"/>
            <a:ext cx="1965960" cy="502920"/>
          </a:xfrm>
          <a:prstGeom prst="roundRect">
            <a:avLst>
              <a:gd name="adj" fmla="val 12727"/>
            </a:avLst>
          </a:prstGeom>
          <a:solidFill>
            <a:srgbClr val="E0F2FE"/>
          </a:solidFill>
          <a:ln w="10160">
            <a:solidFill>
              <a:srgbClr val="E0F2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79992" y="1883664"/>
            <a:ext cx="1819656" cy="393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Pack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9985248" y="2331720"/>
            <a:ext cx="0" cy="64008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77240" y="3200400"/>
            <a:ext cx="1965960" cy="502920"/>
          </a:xfrm>
          <a:prstGeom prst="roundRect">
            <a:avLst>
              <a:gd name="adj" fmla="val 12727"/>
            </a:avLst>
          </a:prstGeom>
          <a:solidFill>
            <a:srgbClr val="E0F2FE"/>
          </a:solidFill>
          <a:ln w="10160">
            <a:solidFill>
              <a:srgbClr val="E0F2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" y="3255264"/>
            <a:ext cx="1819656" cy="393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Dispatch Challan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2743200" y="3456432"/>
            <a:ext cx="640080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520440" y="3200400"/>
            <a:ext cx="1965960" cy="502920"/>
          </a:xfrm>
          <a:prstGeom prst="roundRect">
            <a:avLst>
              <a:gd name="adj" fmla="val 12727"/>
            </a:avLst>
          </a:prstGeom>
          <a:solidFill>
            <a:srgbClr val="E0F2FE"/>
          </a:solidFill>
          <a:ln w="10160">
            <a:solidFill>
              <a:srgbClr val="E0F2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93592" y="3255264"/>
            <a:ext cx="1819656" cy="393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Vehicle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5486400" y="3456432"/>
            <a:ext cx="640080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263640" y="3200400"/>
            <a:ext cx="1965960" cy="502920"/>
          </a:xfrm>
          <a:prstGeom prst="roundRect">
            <a:avLst>
              <a:gd name="adj" fmla="val 12727"/>
            </a:avLst>
          </a:prstGeom>
          <a:solidFill>
            <a:srgbClr val="EDE9FE"/>
          </a:solidFill>
          <a:ln w="10160">
            <a:solidFill>
              <a:srgbClr val="EDE9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36792" y="3255264"/>
            <a:ext cx="1819656" cy="393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POD Upload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8229600" y="3456432"/>
            <a:ext cx="640080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006840" y="3200400"/>
            <a:ext cx="1965960" cy="502920"/>
          </a:xfrm>
          <a:prstGeom prst="roundRect">
            <a:avLst>
              <a:gd name="adj" fmla="val 12727"/>
            </a:avLst>
          </a:prstGeom>
          <a:solidFill>
            <a:srgbClr val="DCFCE7"/>
          </a:solidFill>
          <a:ln w="10160">
            <a:solidFill>
              <a:srgbClr val="DCFC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079992" y="3255264"/>
            <a:ext cx="1819656" cy="393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47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Closure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1097280" y="4709160"/>
            <a:ext cx="292608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371600" y="4882896"/>
            <a:ext cx="23317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Stock accuracy</a:t>
            </a:r>
            <a:endParaRPr lang="en-US" sz="1240" dirty="0"/>
          </a:p>
        </p:txBody>
      </p:sp>
      <p:sp>
        <p:nvSpPr>
          <p:cNvPr id="30" name="Text 28"/>
          <p:cNvSpPr/>
          <p:nvPr/>
        </p:nvSpPr>
        <p:spPr>
          <a:xfrm>
            <a:off x="1371600" y="5212080"/>
            <a:ext cx="23317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bin-wise, batch-wise, FEFO/expiry, reserved vs available</a:t>
            </a:r>
            <a:endParaRPr lang="en-US" sz="780" dirty="0"/>
          </a:p>
        </p:txBody>
      </p:sp>
      <p:sp>
        <p:nvSpPr>
          <p:cNvPr id="31" name="Shape 29"/>
          <p:cNvSpPr/>
          <p:nvPr/>
        </p:nvSpPr>
        <p:spPr>
          <a:xfrm>
            <a:off x="4617720" y="4709160"/>
            <a:ext cx="292608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892040" y="4882896"/>
            <a:ext cx="23317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Dispatch closure</a:t>
            </a:r>
            <a:endParaRPr lang="en-US" sz="1240" dirty="0"/>
          </a:p>
        </p:txBody>
      </p:sp>
      <p:sp>
        <p:nvSpPr>
          <p:cNvPr id="33" name="Text 31"/>
          <p:cNvSpPr/>
          <p:nvPr/>
        </p:nvSpPr>
        <p:spPr>
          <a:xfrm>
            <a:off x="4892040" y="5212080"/>
            <a:ext cx="23317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vehicle, transporter, challan, invoice reference, POD status</a:t>
            </a:r>
            <a:endParaRPr lang="en-US" sz="780" dirty="0"/>
          </a:p>
        </p:txBody>
      </p:sp>
      <p:sp>
        <p:nvSpPr>
          <p:cNvPr id="34" name="Shape 32"/>
          <p:cNvSpPr/>
          <p:nvPr/>
        </p:nvSpPr>
        <p:spPr>
          <a:xfrm>
            <a:off x="8138160" y="4709160"/>
            <a:ext cx="292608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8412480" y="4882896"/>
            <a:ext cx="23317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traceability</a:t>
            </a:r>
            <a:endParaRPr lang="en-US" sz="1240" dirty="0"/>
          </a:p>
        </p:txBody>
      </p:sp>
      <p:sp>
        <p:nvSpPr>
          <p:cNvPr id="36" name="Text 34"/>
          <p:cNvSpPr/>
          <p:nvPr/>
        </p:nvSpPr>
        <p:spPr>
          <a:xfrm>
            <a:off x="8412480" y="5212080"/>
            <a:ext cx="23317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batch went to which customer and shipment</a:t>
            </a:r>
            <a:endParaRPr lang="en-US" sz="780" dirty="0"/>
          </a:p>
        </p:txBody>
      </p:sp>
      <p:sp>
        <p:nvSpPr>
          <p:cNvPr id="37" name="Shape 35"/>
          <p:cNvSpPr/>
          <p:nvPr/>
        </p:nvSpPr>
        <p:spPr>
          <a:xfrm>
            <a:off x="438912" y="6446520"/>
            <a:ext cx="11292840" cy="0"/>
          </a:xfrm>
          <a:prstGeom prst="line">
            <a:avLst/>
          </a:prstGeom>
          <a:noFill/>
          <a:ln w="7620">
            <a:solidFill>
              <a:srgbClr val="CBD5E1">
                <a:alpha val="55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8912" y="6565392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Tan90 Manufacturing ERP MVP • Client-ready architecture deck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11228832" y="654710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26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329184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047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SPACE 07</a:t>
            </a:r>
            <a:endParaRPr lang="en-US" sz="820" dirty="0"/>
          </a:p>
        </p:txBody>
      </p:sp>
      <p:sp>
        <p:nvSpPr>
          <p:cNvPr id="3" name="Text 1"/>
          <p:cNvSpPr/>
          <p:nvPr/>
        </p:nvSpPr>
        <p:spPr>
          <a:xfrm>
            <a:off x="438912" y="566928"/>
            <a:ext cx="9875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Finance, traceability &amp; intelligence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38912" y="1133856"/>
            <a:ext cx="98755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Finance gets reconciliation and cost visibility; management gets reports and traceability from vendor lot to customer dispatch.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68680" y="1755648"/>
            <a:ext cx="2377440" cy="2057400"/>
          </a:xfrm>
          <a:prstGeom prst="roundRect">
            <a:avLst>
              <a:gd name="adj" fmla="val 3111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24712" y="2084832"/>
            <a:ext cx="1865376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Finance controls</a:t>
            </a:r>
            <a:endParaRPr lang="en-US" sz="1320" dirty="0"/>
          </a:p>
        </p:txBody>
      </p:sp>
      <p:sp>
        <p:nvSpPr>
          <p:cNvPr id="7" name="Text 5"/>
          <p:cNvSpPr/>
          <p:nvPr/>
        </p:nvSpPr>
        <p:spPr>
          <a:xfrm>
            <a:off x="1143000" y="2596896"/>
            <a:ext cx="182880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Supplier invoice, PO-GRN-Invoice 3-way match, debit note, vendor claim</a:t>
            </a:r>
            <a:endParaRPr lang="en-US" sz="760" dirty="0"/>
          </a:p>
        </p:txBody>
      </p:sp>
      <p:sp>
        <p:nvSpPr>
          <p:cNvPr id="8" name="Shape 6"/>
          <p:cNvSpPr/>
          <p:nvPr/>
        </p:nvSpPr>
        <p:spPr>
          <a:xfrm>
            <a:off x="3657600" y="1755648"/>
            <a:ext cx="2377440" cy="2057400"/>
          </a:xfrm>
          <a:prstGeom prst="roundRect">
            <a:avLst>
              <a:gd name="adj" fmla="val 3111"/>
            </a:avLst>
          </a:prstGeom>
          <a:solidFill>
            <a:srgbClr val="ECFDF5"/>
          </a:solidFill>
          <a:ln w="10160">
            <a:solidFill>
              <a:srgbClr val="A7F3D0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913632" y="2084832"/>
            <a:ext cx="1865376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047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Traceability engine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3931920" y="2596896"/>
            <a:ext cx="182880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Backward/forward genealogy across vendor lot, GRN, QC, work order, dispatch</a:t>
            </a:r>
            <a:endParaRPr lang="en-US" sz="760" dirty="0"/>
          </a:p>
        </p:txBody>
      </p:sp>
      <p:sp>
        <p:nvSpPr>
          <p:cNvPr id="11" name="Shape 9"/>
          <p:cNvSpPr/>
          <p:nvPr/>
        </p:nvSpPr>
        <p:spPr>
          <a:xfrm>
            <a:off x="6446520" y="1755648"/>
            <a:ext cx="2377440" cy="2057400"/>
          </a:xfrm>
          <a:prstGeom prst="roundRect">
            <a:avLst>
              <a:gd name="adj" fmla="val 3111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702552" y="2084832"/>
            <a:ext cx="1865376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Reports &amp; analytics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6720840" y="2596896"/>
            <a:ext cx="182880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Stock aging, low stock, production efficiency, wastage, dispatch SLA, plant KPIs</a:t>
            </a:r>
            <a:endParaRPr lang="en-US" sz="760" dirty="0"/>
          </a:p>
        </p:txBody>
      </p:sp>
      <p:sp>
        <p:nvSpPr>
          <p:cNvPr id="14" name="Shape 12"/>
          <p:cNvSpPr/>
          <p:nvPr/>
        </p:nvSpPr>
        <p:spPr>
          <a:xfrm>
            <a:off x="9235440" y="1755648"/>
            <a:ext cx="2377440" cy="2057400"/>
          </a:xfrm>
          <a:prstGeom prst="roundRect">
            <a:avLst>
              <a:gd name="adj" fmla="val 3111"/>
            </a:avLst>
          </a:prstGeom>
          <a:solidFill>
            <a:srgbClr val="FEF3C7"/>
          </a:solidFill>
          <a:ln w="10160">
            <a:solidFill>
              <a:srgbClr val="FCD34D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491472" y="2084832"/>
            <a:ext cx="1865376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92400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&amp; compliance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9509760" y="2596896"/>
            <a:ext cx="182880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Approval trail, permission changes, export history, user activity, change logs</a:t>
            </a:r>
            <a:endParaRPr lang="en-US" sz="760" dirty="0"/>
          </a:p>
        </p:txBody>
      </p:sp>
      <p:sp>
        <p:nvSpPr>
          <p:cNvPr id="17" name="Shape 15"/>
          <p:cNvSpPr/>
          <p:nvPr/>
        </p:nvSpPr>
        <p:spPr>
          <a:xfrm>
            <a:off x="1097280" y="4800600"/>
            <a:ext cx="914400" cy="384048"/>
          </a:xfrm>
          <a:prstGeom prst="roundRect">
            <a:avLst>
              <a:gd name="adj" fmla="val 16667"/>
            </a:avLst>
          </a:prstGeom>
          <a:solidFill>
            <a:srgbClr val="E0F2FE"/>
          </a:solidFill>
          <a:ln w="10160">
            <a:solidFill>
              <a:srgbClr val="E0F2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70432" y="4855464"/>
            <a:ext cx="768096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Vendor lot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2011680" y="4992624"/>
            <a:ext cx="347472" cy="0"/>
          </a:xfrm>
          <a:prstGeom prst="line">
            <a:avLst/>
          </a:prstGeom>
          <a:noFill/>
          <a:ln w="1143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2423160" y="4800600"/>
            <a:ext cx="914400" cy="384048"/>
          </a:xfrm>
          <a:prstGeom prst="roundRect">
            <a:avLst>
              <a:gd name="adj" fmla="val 16667"/>
            </a:avLst>
          </a:prstGeom>
          <a:solidFill>
            <a:srgbClr val="E0F2FE"/>
          </a:solidFill>
          <a:ln w="10160">
            <a:solidFill>
              <a:srgbClr val="E0F2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96312" y="4855464"/>
            <a:ext cx="768096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GRN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337560" y="4992624"/>
            <a:ext cx="347472" cy="0"/>
          </a:xfrm>
          <a:prstGeom prst="line">
            <a:avLst/>
          </a:prstGeom>
          <a:noFill/>
          <a:ln w="1143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3749040" y="4800600"/>
            <a:ext cx="914400" cy="384048"/>
          </a:xfrm>
          <a:prstGeom prst="roundRect">
            <a:avLst>
              <a:gd name="adj" fmla="val 16667"/>
            </a:avLst>
          </a:prstGeom>
          <a:solidFill>
            <a:srgbClr val="E0F2FE"/>
          </a:solidFill>
          <a:ln w="10160">
            <a:solidFill>
              <a:srgbClr val="E0F2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22192" y="4855464"/>
            <a:ext cx="768096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QC release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4663440" y="4992624"/>
            <a:ext cx="347472" cy="0"/>
          </a:xfrm>
          <a:prstGeom prst="line">
            <a:avLst/>
          </a:prstGeom>
          <a:noFill/>
          <a:ln w="1143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074920" y="4800600"/>
            <a:ext cx="914400" cy="384048"/>
          </a:xfrm>
          <a:prstGeom prst="roundRect">
            <a:avLst>
              <a:gd name="adj" fmla="val 16667"/>
            </a:avLst>
          </a:prstGeom>
          <a:solidFill>
            <a:srgbClr val="E0F2FE"/>
          </a:solidFill>
          <a:ln w="10160">
            <a:solidFill>
              <a:srgbClr val="E0F2F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48072" y="4855464"/>
            <a:ext cx="768096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5989320" y="4992624"/>
            <a:ext cx="347472" cy="0"/>
          </a:xfrm>
          <a:prstGeom prst="line">
            <a:avLst/>
          </a:prstGeom>
          <a:noFill/>
          <a:ln w="1143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400800" y="4800600"/>
            <a:ext cx="914400" cy="384048"/>
          </a:xfrm>
          <a:prstGeom prst="roundRect">
            <a:avLst>
              <a:gd name="adj" fmla="val 16667"/>
            </a:avLst>
          </a:prstGeom>
          <a:solidFill>
            <a:srgbClr val="E0F2FE"/>
          </a:solidFill>
          <a:ln w="10160">
            <a:solidFill>
              <a:srgbClr val="E0F2F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73952" y="4855464"/>
            <a:ext cx="768096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batch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7315200" y="4992624"/>
            <a:ext cx="347472" cy="0"/>
          </a:xfrm>
          <a:prstGeom prst="line">
            <a:avLst/>
          </a:prstGeom>
          <a:noFill/>
          <a:ln w="1143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7726680" y="4800600"/>
            <a:ext cx="914400" cy="384048"/>
          </a:xfrm>
          <a:prstGeom prst="roundRect">
            <a:avLst>
              <a:gd name="adj" fmla="val 16667"/>
            </a:avLst>
          </a:prstGeom>
          <a:solidFill>
            <a:srgbClr val="E0F2FE"/>
          </a:solidFill>
          <a:ln w="10160">
            <a:solidFill>
              <a:srgbClr val="E0F2F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99832" y="4855464"/>
            <a:ext cx="768096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FG warehouse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641080" y="4992624"/>
            <a:ext cx="347472" cy="0"/>
          </a:xfrm>
          <a:prstGeom prst="line">
            <a:avLst/>
          </a:prstGeom>
          <a:noFill/>
          <a:ln w="1143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9052560" y="4800600"/>
            <a:ext cx="914400" cy="384048"/>
          </a:xfrm>
          <a:prstGeom prst="roundRect">
            <a:avLst>
              <a:gd name="adj" fmla="val 16667"/>
            </a:avLst>
          </a:prstGeom>
          <a:solidFill>
            <a:srgbClr val="E0F2FE"/>
          </a:solidFill>
          <a:ln w="10160">
            <a:solidFill>
              <a:srgbClr val="E0F2F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25712" y="4855464"/>
            <a:ext cx="768096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Dispatch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9966960" y="4992624"/>
            <a:ext cx="347472" cy="0"/>
          </a:xfrm>
          <a:prstGeom prst="line">
            <a:avLst/>
          </a:prstGeom>
          <a:noFill/>
          <a:ln w="1143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10378440" y="4800600"/>
            <a:ext cx="914400" cy="384048"/>
          </a:xfrm>
          <a:prstGeom prst="roundRect">
            <a:avLst>
              <a:gd name="adj" fmla="val 16667"/>
            </a:avLst>
          </a:prstGeom>
          <a:solidFill>
            <a:srgbClr val="EDE9FE"/>
          </a:solidFill>
          <a:ln w="10160">
            <a:solidFill>
              <a:srgbClr val="EDE9F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451592" y="4855464"/>
            <a:ext cx="768096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</a:t>
            </a:r>
            <a:endParaRPr lang="en-US" sz="740" dirty="0"/>
          </a:p>
        </p:txBody>
      </p:sp>
      <p:sp>
        <p:nvSpPr>
          <p:cNvPr id="40" name="Shape 38"/>
          <p:cNvSpPr/>
          <p:nvPr/>
        </p:nvSpPr>
        <p:spPr>
          <a:xfrm>
            <a:off x="438912" y="6446520"/>
            <a:ext cx="11292840" cy="0"/>
          </a:xfrm>
          <a:prstGeom prst="line">
            <a:avLst/>
          </a:prstGeom>
          <a:noFill/>
          <a:ln w="7620">
            <a:solidFill>
              <a:srgbClr val="CBD5E1">
                <a:alpha val="55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8912" y="6565392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Tan90 Manufacturing ERP MVP • Client-ready architecture deck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11228832" y="654710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27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329184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86EFA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TRACEABILITY DIAGRAM</a:t>
            </a:r>
            <a:endParaRPr lang="en-US" sz="820" dirty="0"/>
          </a:p>
        </p:txBody>
      </p:sp>
      <p:sp>
        <p:nvSpPr>
          <p:cNvPr id="3" name="Text 1"/>
          <p:cNvSpPr/>
          <p:nvPr/>
        </p:nvSpPr>
        <p:spPr>
          <a:xfrm>
            <a:off x="438912" y="566928"/>
            <a:ext cx="9875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Backward and forward batch genealogy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38912" y="1133856"/>
            <a:ext cx="98755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The MVP should answer both questions: what went into this finished batch, and where did an affected vendor lot go?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1508760" cy="420624"/>
          </a:xfrm>
          <a:prstGeom prst="roundRect">
            <a:avLst>
              <a:gd name="adj" fmla="val 15217"/>
            </a:avLst>
          </a:prstGeom>
          <a:solidFill>
            <a:srgbClr val="111827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746504"/>
            <a:ext cx="1362456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Vendor Lot PCM-001</a:t>
            </a:r>
            <a:endParaRPr lang="en-US" sz="760" dirty="0"/>
          </a:p>
        </p:txBody>
      </p:sp>
      <p:sp>
        <p:nvSpPr>
          <p:cNvPr id="7" name="Shape 5"/>
          <p:cNvSpPr/>
          <p:nvPr/>
        </p:nvSpPr>
        <p:spPr>
          <a:xfrm>
            <a:off x="2148840" y="1901952"/>
            <a:ext cx="685800" cy="27432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40080" y="2423160"/>
            <a:ext cx="1508760" cy="420624"/>
          </a:xfrm>
          <a:prstGeom prst="roundRect">
            <a:avLst>
              <a:gd name="adj" fmla="val 15217"/>
            </a:avLst>
          </a:prstGeom>
          <a:solidFill>
            <a:srgbClr val="111827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2478024"/>
            <a:ext cx="1362456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Film Lot FLM-078</a:t>
            </a:r>
            <a:endParaRPr lang="en-US" sz="760" dirty="0"/>
          </a:p>
        </p:txBody>
      </p:sp>
      <p:sp>
        <p:nvSpPr>
          <p:cNvPr id="10" name="Shape 8"/>
          <p:cNvSpPr/>
          <p:nvPr/>
        </p:nvSpPr>
        <p:spPr>
          <a:xfrm>
            <a:off x="2148840" y="2633472"/>
            <a:ext cx="685800" cy="-45720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40080" y="3154680"/>
            <a:ext cx="1508760" cy="420624"/>
          </a:xfrm>
          <a:prstGeom prst="roundRect">
            <a:avLst>
              <a:gd name="adj" fmla="val 15217"/>
            </a:avLst>
          </a:prstGeom>
          <a:solidFill>
            <a:srgbClr val="111827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3209544"/>
            <a:ext cx="1362456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Packaging Lot PKG-11</a:t>
            </a:r>
            <a:endParaRPr lang="en-US" sz="760" dirty="0"/>
          </a:p>
        </p:txBody>
      </p:sp>
      <p:sp>
        <p:nvSpPr>
          <p:cNvPr id="13" name="Shape 11"/>
          <p:cNvSpPr/>
          <p:nvPr/>
        </p:nvSpPr>
        <p:spPr>
          <a:xfrm>
            <a:off x="2148840" y="3364992"/>
            <a:ext cx="685800" cy="-118872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834640" y="1965960"/>
            <a:ext cx="1234440" cy="475488"/>
          </a:xfrm>
          <a:prstGeom prst="roundRect">
            <a:avLst>
              <a:gd name="adj" fmla="val 13462"/>
            </a:avLst>
          </a:prstGeom>
          <a:solidFill>
            <a:srgbClr val="E0F2FE"/>
          </a:solidFill>
          <a:ln w="10160">
            <a:solidFill>
              <a:srgbClr val="E0F2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07792" y="2020824"/>
            <a:ext cx="1088136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GRN-2026-001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4069080" y="2203704"/>
            <a:ext cx="3200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389120" y="1965960"/>
            <a:ext cx="1234440" cy="475488"/>
          </a:xfrm>
          <a:prstGeom prst="roundRect">
            <a:avLst>
              <a:gd name="adj" fmla="val 13462"/>
            </a:avLst>
          </a:prstGeom>
          <a:solidFill>
            <a:srgbClr val="FEF3C7"/>
          </a:solidFill>
          <a:ln w="10160">
            <a:solidFill>
              <a:srgbClr val="FEF3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62272" y="2020824"/>
            <a:ext cx="1088136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92400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Incoming QC Pass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5623560" y="2203704"/>
            <a:ext cx="3657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989320" y="1965960"/>
            <a:ext cx="1234440" cy="475488"/>
          </a:xfrm>
          <a:prstGeom prst="roundRect">
            <a:avLst>
              <a:gd name="adj" fmla="val 13462"/>
            </a:avLst>
          </a:prstGeom>
          <a:solidFill>
            <a:srgbClr val="E0F2FE"/>
          </a:solidFill>
          <a:ln w="10160">
            <a:solidFill>
              <a:srgbClr val="E0F2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62472" y="2020824"/>
            <a:ext cx="1088136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WO-TS-BLR-021</a:t>
            </a:r>
            <a:endParaRPr lang="en-US" sz="780" dirty="0"/>
          </a:p>
        </p:txBody>
      </p:sp>
      <p:sp>
        <p:nvSpPr>
          <p:cNvPr id="22" name="Shape 20"/>
          <p:cNvSpPr/>
          <p:nvPr/>
        </p:nvSpPr>
        <p:spPr>
          <a:xfrm>
            <a:off x="7223760" y="2203704"/>
            <a:ext cx="4114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635240" y="1965960"/>
            <a:ext cx="1234440" cy="475488"/>
          </a:xfrm>
          <a:prstGeom prst="roundRect">
            <a:avLst>
              <a:gd name="adj" fmla="val 13462"/>
            </a:avLst>
          </a:prstGeom>
          <a:solidFill>
            <a:srgbClr val="DCFCE7"/>
          </a:solidFill>
          <a:ln w="10160">
            <a:solidFill>
              <a:srgbClr val="DCFCE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08392" y="2020824"/>
            <a:ext cx="1088136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047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Batch TS-BLR-001</a:t>
            </a:r>
            <a:endParaRPr lang="en-US" sz="780" dirty="0"/>
          </a:p>
        </p:txBody>
      </p:sp>
      <p:sp>
        <p:nvSpPr>
          <p:cNvPr id="25" name="Shape 23"/>
          <p:cNvSpPr/>
          <p:nvPr/>
        </p:nvSpPr>
        <p:spPr>
          <a:xfrm>
            <a:off x="5989320" y="3794760"/>
            <a:ext cx="1234440" cy="475488"/>
          </a:xfrm>
          <a:prstGeom prst="roundRect">
            <a:avLst>
              <a:gd name="adj" fmla="val 13462"/>
            </a:avLst>
          </a:prstGeom>
          <a:solidFill>
            <a:srgbClr val="E0F2FE"/>
          </a:solidFill>
          <a:ln w="10160">
            <a:solidFill>
              <a:srgbClr val="E0F2F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62472" y="3849624"/>
            <a:ext cx="1088136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FG Warehouse BLR</a:t>
            </a:r>
            <a:endParaRPr lang="en-US" sz="780" dirty="0"/>
          </a:p>
        </p:txBody>
      </p:sp>
      <p:sp>
        <p:nvSpPr>
          <p:cNvPr id="27" name="Shape 25"/>
          <p:cNvSpPr/>
          <p:nvPr/>
        </p:nvSpPr>
        <p:spPr>
          <a:xfrm>
            <a:off x="7223760" y="4032504"/>
            <a:ext cx="4114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635240" y="3794760"/>
            <a:ext cx="1234440" cy="475488"/>
          </a:xfrm>
          <a:prstGeom prst="roundRect">
            <a:avLst>
              <a:gd name="adj" fmla="val 13462"/>
            </a:avLst>
          </a:prstGeom>
          <a:solidFill>
            <a:srgbClr val="E0F2FE"/>
          </a:solidFill>
          <a:ln w="10160">
            <a:solidFill>
              <a:srgbClr val="E0F2F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08392" y="3849624"/>
            <a:ext cx="1088136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Dispatch DSP-144</a:t>
            </a:r>
            <a:endParaRPr lang="en-US" sz="780" dirty="0"/>
          </a:p>
        </p:txBody>
      </p:sp>
      <p:sp>
        <p:nvSpPr>
          <p:cNvPr id="30" name="Shape 28"/>
          <p:cNvSpPr/>
          <p:nvPr/>
        </p:nvSpPr>
        <p:spPr>
          <a:xfrm>
            <a:off x="8869680" y="4032504"/>
            <a:ext cx="4114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9281160" y="3794760"/>
            <a:ext cx="1234440" cy="475488"/>
          </a:xfrm>
          <a:prstGeom prst="roundRect">
            <a:avLst>
              <a:gd name="adj" fmla="val 13462"/>
            </a:avLst>
          </a:prstGeom>
          <a:solidFill>
            <a:srgbClr val="EDE9FE"/>
          </a:solidFill>
          <a:ln w="10160">
            <a:solidFill>
              <a:srgbClr val="EDE9F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354312" y="3849624"/>
            <a:ext cx="1088136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ABC Pharma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8247888" y="2441448"/>
            <a:ext cx="-1645920" cy="1353312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1097280" y="5120640"/>
            <a:ext cx="9966960" cy="566928"/>
          </a:xfrm>
          <a:prstGeom prst="roundRect">
            <a:avLst>
              <a:gd name="adj" fmla="val 11290"/>
            </a:avLst>
          </a:prstGeom>
          <a:solidFill>
            <a:srgbClr val="064E3B"/>
          </a:solidFill>
          <a:ln w="10160">
            <a:solidFill>
              <a:srgbClr val="10B981">
                <a:alpha val="92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17320" y="5321808"/>
            <a:ext cx="932688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 report output: materials used, supplier, QC results, work order, machine/shift/operator, FG batch, warehouse, dispatch and customer.</a:t>
            </a:r>
            <a:endParaRPr lang="en-US" sz="960" dirty="0"/>
          </a:p>
        </p:txBody>
      </p:sp>
      <p:sp>
        <p:nvSpPr>
          <p:cNvPr id="36" name="Shape 34"/>
          <p:cNvSpPr/>
          <p:nvPr/>
        </p:nvSpPr>
        <p:spPr>
          <a:xfrm>
            <a:off x="438912" y="6446520"/>
            <a:ext cx="11292840" cy="0"/>
          </a:xfrm>
          <a:prstGeom prst="line">
            <a:avLst/>
          </a:prstGeom>
          <a:noFill/>
          <a:ln w="7620">
            <a:solidFill>
              <a:srgbClr val="CBD5E1">
                <a:alpha val="55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8912" y="6565392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Tan90 Manufacturing ERP MVP • Client-ready architecture deck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11228832" y="654710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28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329184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047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REPORTS AND KPI CATALOGUE</a:t>
            </a:r>
            <a:endParaRPr lang="en-US" sz="820" dirty="0"/>
          </a:p>
        </p:txBody>
      </p:sp>
      <p:sp>
        <p:nvSpPr>
          <p:cNvPr id="3" name="Text 1"/>
          <p:cNvSpPr/>
          <p:nvPr/>
        </p:nvSpPr>
        <p:spPr>
          <a:xfrm>
            <a:off x="438912" y="566928"/>
            <a:ext cx="9875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management should see from day one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38912" y="1133856"/>
            <a:ext cx="98755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Reports should be space-wise but linked through drilldown to the same batch, item, plant and period filters.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591056"/>
            <a:ext cx="233172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23544" y="1792224"/>
            <a:ext cx="18288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Stock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941832" y="2121408"/>
            <a:ext cx="178308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 stock, stock aging, batch balance, warehouse stock, ledger</a:t>
            </a:r>
            <a:endParaRPr lang="en-US" sz="740" dirty="0"/>
          </a:p>
        </p:txBody>
      </p:sp>
      <p:sp>
        <p:nvSpPr>
          <p:cNvPr id="8" name="Shape 6"/>
          <p:cNvSpPr/>
          <p:nvPr/>
        </p:nvSpPr>
        <p:spPr>
          <a:xfrm>
            <a:off x="3474720" y="1591056"/>
            <a:ext cx="233172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712464" y="1792224"/>
            <a:ext cx="18288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</a:t>
            </a:r>
            <a:endParaRPr lang="en-US" sz="1220" dirty="0"/>
          </a:p>
        </p:txBody>
      </p:sp>
      <p:sp>
        <p:nvSpPr>
          <p:cNvPr id="10" name="Text 8"/>
          <p:cNvSpPr/>
          <p:nvPr/>
        </p:nvSpPr>
        <p:spPr>
          <a:xfrm>
            <a:off x="3730752" y="2121408"/>
            <a:ext cx="178308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 vs actual, work order status, machine usage, output, downtime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6263640" y="1591056"/>
            <a:ext cx="233172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01384" y="1792224"/>
            <a:ext cx="18288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</a:t>
            </a:r>
            <a:endParaRPr lang="en-US" sz="1220" dirty="0"/>
          </a:p>
        </p:txBody>
      </p:sp>
      <p:sp>
        <p:nvSpPr>
          <p:cNvPr id="13" name="Text 11"/>
          <p:cNvSpPr/>
          <p:nvPr/>
        </p:nvSpPr>
        <p:spPr>
          <a:xfrm>
            <a:off x="6519672" y="2121408"/>
            <a:ext cx="178308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pending QC, rejection %, hold status, rework, supplier quality</a:t>
            </a:r>
            <a:endParaRPr lang="en-US" sz="740" dirty="0"/>
          </a:p>
        </p:txBody>
      </p:sp>
      <p:sp>
        <p:nvSpPr>
          <p:cNvPr id="14" name="Shape 12"/>
          <p:cNvSpPr/>
          <p:nvPr/>
        </p:nvSpPr>
        <p:spPr>
          <a:xfrm>
            <a:off x="9052560" y="1591056"/>
            <a:ext cx="233172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90304" y="1792224"/>
            <a:ext cx="18288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Wastage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9308592" y="2121408"/>
            <a:ext cx="178308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scrap %, material loss, reason trend, cost of waste</a:t>
            </a:r>
            <a:endParaRPr lang="en-US" sz="740" dirty="0"/>
          </a:p>
        </p:txBody>
      </p:sp>
      <p:sp>
        <p:nvSpPr>
          <p:cNvPr id="17" name="Shape 15"/>
          <p:cNvSpPr/>
          <p:nvPr/>
        </p:nvSpPr>
        <p:spPr>
          <a:xfrm>
            <a:off x="685800" y="2944368"/>
            <a:ext cx="233172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23544" y="3145536"/>
            <a:ext cx="18288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Dispatch</a:t>
            </a:r>
            <a:endParaRPr lang="en-US" sz="1220" dirty="0"/>
          </a:p>
        </p:txBody>
      </p:sp>
      <p:sp>
        <p:nvSpPr>
          <p:cNvPr id="19" name="Text 17"/>
          <p:cNvSpPr/>
          <p:nvPr/>
        </p:nvSpPr>
        <p:spPr>
          <a:xfrm>
            <a:off x="941832" y="3474720"/>
            <a:ext cx="178308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pending dispatch, POD %, delivery SLA, returns, transporter performance</a:t>
            </a:r>
            <a:endParaRPr lang="en-US" sz="740" dirty="0"/>
          </a:p>
        </p:txBody>
      </p:sp>
      <p:sp>
        <p:nvSpPr>
          <p:cNvPr id="20" name="Shape 18"/>
          <p:cNvSpPr/>
          <p:nvPr/>
        </p:nvSpPr>
        <p:spPr>
          <a:xfrm>
            <a:off x="3474720" y="2944368"/>
            <a:ext cx="233172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712464" y="3145536"/>
            <a:ext cx="18288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Finance</a:t>
            </a:r>
            <a:endParaRPr lang="en-US" sz="1220" dirty="0"/>
          </a:p>
        </p:txBody>
      </p:sp>
      <p:sp>
        <p:nvSpPr>
          <p:cNvPr id="22" name="Text 20"/>
          <p:cNvSpPr/>
          <p:nvPr/>
        </p:nvSpPr>
        <p:spPr>
          <a:xfrm>
            <a:off x="3730752" y="3474720"/>
            <a:ext cx="178308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3-way match, cost variance, vendor claims, open invoices</a:t>
            </a:r>
            <a:endParaRPr lang="en-US" sz="740" dirty="0"/>
          </a:p>
        </p:txBody>
      </p:sp>
      <p:sp>
        <p:nvSpPr>
          <p:cNvPr id="23" name="Shape 21"/>
          <p:cNvSpPr/>
          <p:nvPr/>
        </p:nvSpPr>
        <p:spPr>
          <a:xfrm>
            <a:off x="6263640" y="2944368"/>
            <a:ext cx="233172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501384" y="3145536"/>
            <a:ext cx="18288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People</a:t>
            </a:r>
            <a:endParaRPr lang="en-US" sz="1220" dirty="0"/>
          </a:p>
        </p:txBody>
      </p:sp>
      <p:sp>
        <p:nvSpPr>
          <p:cNvPr id="25" name="Text 23"/>
          <p:cNvSpPr/>
          <p:nvPr/>
        </p:nvSpPr>
        <p:spPr>
          <a:xfrm>
            <a:off x="6519672" y="3474720"/>
            <a:ext cx="178308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activity log, approvals, permission changes, login history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9052560" y="2944368"/>
            <a:ext cx="233172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0160">
            <a:solidFill>
              <a:srgbClr val="10B981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290304" y="3145536"/>
            <a:ext cx="18288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047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Traceability</a:t>
            </a:r>
            <a:endParaRPr lang="en-US" sz="1220" dirty="0"/>
          </a:p>
        </p:txBody>
      </p:sp>
      <p:sp>
        <p:nvSpPr>
          <p:cNvPr id="28" name="Text 26"/>
          <p:cNvSpPr/>
          <p:nvPr/>
        </p:nvSpPr>
        <p:spPr>
          <a:xfrm>
            <a:off x="9308592" y="3474720"/>
            <a:ext cx="178308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vendor lot to customer, customer to source lot, affected-batch recall</a:t>
            </a:r>
            <a:endParaRPr lang="en-US" sz="740" dirty="0"/>
          </a:p>
        </p:txBody>
      </p:sp>
      <p:sp>
        <p:nvSpPr>
          <p:cNvPr id="29" name="Shape 27"/>
          <p:cNvSpPr/>
          <p:nvPr/>
        </p:nvSpPr>
        <p:spPr>
          <a:xfrm>
            <a:off x="1828800" y="4983480"/>
            <a:ext cx="155448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901952" y="5102352"/>
            <a:ext cx="1408176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34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883664" y="5404104"/>
            <a:ext cx="1444752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EA58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Pending QC</a:t>
            </a:r>
            <a:endParaRPr lang="en-US" sz="650" dirty="0"/>
          </a:p>
        </p:txBody>
      </p:sp>
      <p:sp>
        <p:nvSpPr>
          <p:cNvPr id="32" name="Shape 30"/>
          <p:cNvSpPr/>
          <p:nvPr/>
        </p:nvSpPr>
        <p:spPr>
          <a:xfrm>
            <a:off x="3886200" y="4983480"/>
            <a:ext cx="155448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959352" y="5102352"/>
            <a:ext cx="1408176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91%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3941064" y="5404104"/>
            <a:ext cx="1444752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47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Dispatch POD</a:t>
            </a:r>
            <a:endParaRPr lang="en-US" sz="650" dirty="0"/>
          </a:p>
        </p:txBody>
      </p:sp>
      <p:sp>
        <p:nvSpPr>
          <p:cNvPr id="35" name="Shape 33"/>
          <p:cNvSpPr/>
          <p:nvPr/>
        </p:nvSpPr>
        <p:spPr>
          <a:xfrm>
            <a:off x="5943600" y="4983480"/>
            <a:ext cx="155448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016752" y="5102352"/>
            <a:ext cx="1408176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5998464" y="5404104"/>
            <a:ext cx="1444752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E11D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 Stock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8001000" y="4983480"/>
            <a:ext cx="155448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8074152" y="5102352"/>
            <a:ext cx="1408176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18,420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8055864" y="5404104"/>
            <a:ext cx="1444752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 Output</a:t>
            </a:r>
            <a:endParaRPr lang="en-US" sz="650" dirty="0"/>
          </a:p>
        </p:txBody>
      </p:sp>
      <p:sp>
        <p:nvSpPr>
          <p:cNvPr id="41" name="Shape 39"/>
          <p:cNvSpPr/>
          <p:nvPr/>
        </p:nvSpPr>
        <p:spPr>
          <a:xfrm>
            <a:off x="438912" y="6446520"/>
            <a:ext cx="11292840" cy="0"/>
          </a:xfrm>
          <a:prstGeom prst="line">
            <a:avLst/>
          </a:prstGeom>
          <a:noFill/>
          <a:ln w="7620">
            <a:solidFill>
              <a:srgbClr val="CBD5E1">
                <a:alpha val="55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38912" y="6565392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Tan90 Manufacturing ERP MVP • Client-ready architecture deck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11228832" y="654710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29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329184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047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 FEATURES BY SPACE</a:t>
            </a:r>
            <a:endParaRPr lang="en-US" sz="820" dirty="0"/>
          </a:p>
        </p:txBody>
      </p:sp>
      <p:sp>
        <p:nvSpPr>
          <p:cNvPr id="3" name="Text 1"/>
          <p:cNvSpPr/>
          <p:nvPr/>
        </p:nvSpPr>
        <p:spPr>
          <a:xfrm>
            <a:off x="438912" y="566928"/>
            <a:ext cx="9875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each persona can do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38912" y="1133856"/>
            <a:ext cx="98755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The MVP should make hierarchy visible in navigation, actions, dashboards, data scope and activity logs.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1920240" cy="384048"/>
          </a:xfrm>
          <a:prstGeom prst="roundRect">
            <a:avLst>
              <a:gd name="adj" fmla="val 16667"/>
            </a:avLst>
          </a:prstGeom>
          <a:solidFill>
            <a:srgbClr val="0B1220"/>
          </a:solidFill>
          <a:ln w="10160">
            <a:solidFill>
              <a:srgbClr val="334155">
                <a:alpha val="92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536192"/>
            <a:ext cx="1792224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Space</a:t>
            </a:r>
            <a:endParaRPr lang="en-US" sz="760" dirty="0"/>
          </a:p>
        </p:txBody>
      </p:sp>
      <p:sp>
        <p:nvSpPr>
          <p:cNvPr id="7" name="Shape 5"/>
          <p:cNvSpPr/>
          <p:nvPr/>
        </p:nvSpPr>
        <p:spPr>
          <a:xfrm>
            <a:off x="2331720" y="1417320"/>
            <a:ext cx="1874520" cy="384048"/>
          </a:xfrm>
          <a:prstGeom prst="roundRect">
            <a:avLst>
              <a:gd name="adj" fmla="val 16667"/>
            </a:avLst>
          </a:prstGeom>
          <a:solidFill>
            <a:srgbClr val="0B1220"/>
          </a:solidFill>
          <a:ln w="10160">
            <a:solidFill>
              <a:srgbClr val="334155">
                <a:alpha val="92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95728" y="1536192"/>
            <a:ext cx="1746504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Super Admin</a:t>
            </a:r>
            <a:endParaRPr lang="en-US" sz="760" dirty="0"/>
          </a:p>
        </p:txBody>
      </p:sp>
      <p:sp>
        <p:nvSpPr>
          <p:cNvPr id="9" name="Shape 7"/>
          <p:cNvSpPr/>
          <p:nvPr/>
        </p:nvSpPr>
        <p:spPr>
          <a:xfrm>
            <a:off x="4206240" y="1417320"/>
            <a:ext cx="1874520" cy="384048"/>
          </a:xfrm>
          <a:prstGeom prst="roundRect">
            <a:avLst>
              <a:gd name="adj" fmla="val 16667"/>
            </a:avLst>
          </a:prstGeom>
          <a:solidFill>
            <a:srgbClr val="0B1220"/>
          </a:solidFill>
          <a:ln w="10160">
            <a:solidFill>
              <a:srgbClr val="334155">
                <a:alpha val="92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70248" y="1536192"/>
            <a:ext cx="1746504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 of Vertical</a:t>
            </a:r>
            <a:endParaRPr lang="en-US" sz="760" dirty="0"/>
          </a:p>
        </p:txBody>
      </p:sp>
      <p:sp>
        <p:nvSpPr>
          <p:cNvPr id="11" name="Shape 9"/>
          <p:cNvSpPr/>
          <p:nvPr/>
        </p:nvSpPr>
        <p:spPr>
          <a:xfrm>
            <a:off x="6080760" y="1417320"/>
            <a:ext cx="1874520" cy="384048"/>
          </a:xfrm>
          <a:prstGeom prst="roundRect">
            <a:avLst>
              <a:gd name="adj" fmla="val 16667"/>
            </a:avLst>
          </a:prstGeom>
          <a:solidFill>
            <a:srgbClr val="0B1220"/>
          </a:solidFill>
          <a:ln w="10160">
            <a:solidFill>
              <a:srgbClr val="334155">
                <a:alpha val="92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44768" y="1536192"/>
            <a:ext cx="1746504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Manager</a:t>
            </a:r>
            <a:endParaRPr lang="en-US" sz="760" dirty="0"/>
          </a:p>
        </p:txBody>
      </p:sp>
      <p:sp>
        <p:nvSpPr>
          <p:cNvPr id="13" name="Shape 11"/>
          <p:cNvSpPr/>
          <p:nvPr/>
        </p:nvSpPr>
        <p:spPr>
          <a:xfrm>
            <a:off x="7955280" y="1417320"/>
            <a:ext cx="1874520" cy="384048"/>
          </a:xfrm>
          <a:prstGeom prst="roundRect">
            <a:avLst>
              <a:gd name="adj" fmla="val 16667"/>
            </a:avLst>
          </a:prstGeom>
          <a:solidFill>
            <a:srgbClr val="0B1220"/>
          </a:solidFill>
          <a:ln w="10160">
            <a:solidFill>
              <a:srgbClr val="334155">
                <a:alpha val="92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9288" y="1536192"/>
            <a:ext cx="1746504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</a:t>
            </a:r>
            <a:endParaRPr lang="en-US" sz="760" dirty="0"/>
          </a:p>
        </p:txBody>
      </p:sp>
      <p:sp>
        <p:nvSpPr>
          <p:cNvPr id="15" name="Shape 13"/>
          <p:cNvSpPr/>
          <p:nvPr/>
        </p:nvSpPr>
        <p:spPr>
          <a:xfrm>
            <a:off x="9829800" y="1417320"/>
            <a:ext cx="1874520" cy="384048"/>
          </a:xfrm>
          <a:prstGeom prst="roundRect">
            <a:avLst>
              <a:gd name="adj" fmla="val 16667"/>
            </a:avLst>
          </a:prstGeom>
          <a:solidFill>
            <a:srgbClr val="0B1220"/>
          </a:solidFill>
          <a:ln w="10160">
            <a:solidFill>
              <a:srgbClr val="334155">
                <a:alpha val="92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93808" y="1536192"/>
            <a:ext cx="1746504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Vendor / Guard</a:t>
            </a:r>
            <a:endParaRPr lang="en-US" sz="760" dirty="0"/>
          </a:p>
        </p:txBody>
      </p:sp>
      <p:sp>
        <p:nvSpPr>
          <p:cNvPr id="17" name="Shape 15"/>
          <p:cNvSpPr/>
          <p:nvPr/>
        </p:nvSpPr>
        <p:spPr>
          <a:xfrm>
            <a:off x="411480" y="1837944"/>
            <a:ext cx="1920240" cy="438912"/>
          </a:xfrm>
          <a:prstGeom prst="roundRect">
            <a:avLst>
              <a:gd name="adj" fmla="val 14583"/>
            </a:avLst>
          </a:prstGeom>
          <a:solidFill>
            <a:srgbClr val="F1F5F9"/>
          </a:solidFill>
          <a:ln w="10160">
            <a:solidFill>
              <a:srgbClr val="E5E7EB">
                <a:alpha val="92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1975104"/>
            <a:ext cx="1792224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Command Center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2331720" y="1837944"/>
            <a:ext cx="187452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95728" y="1975104"/>
            <a:ext cx="1746504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cockpit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4206240" y="1837944"/>
            <a:ext cx="187452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70248" y="1975104"/>
            <a:ext cx="1746504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Vertical cockpit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6080760" y="1837944"/>
            <a:ext cx="187452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44768" y="1975104"/>
            <a:ext cx="1746504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cockpit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7955280" y="1837944"/>
            <a:ext cx="187452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19288" y="1975104"/>
            <a:ext cx="1746504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work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9829800" y="1837944"/>
            <a:ext cx="187452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893808" y="1975104"/>
            <a:ext cx="1746504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Portal tasks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411480" y="2340864"/>
            <a:ext cx="1920240" cy="438912"/>
          </a:xfrm>
          <a:prstGeom prst="roundRect">
            <a:avLst>
              <a:gd name="adj" fmla="val 14583"/>
            </a:avLst>
          </a:prstGeom>
          <a:solidFill>
            <a:srgbClr val="F1F5F9"/>
          </a:solidFill>
          <a:ln w="10160">
            <a:solidFill>
              <a:srgbClr val="E5E7EB">
                <a:alpha val="92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" y="2478024"/>
            <a:ext cx="1792224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People &amp; Access</a:t>
            </a:r>
            <a:endParaRPr lang="en-US" sz="780" dirty="0"/>
          </a:p>
        </p:txBody>
      </p:sp>
      <p:sp>
        <p:nvSpPr>
          <p:cNvPr id="31" name="Shape 29"/>
          <p:cNvSpPr/>
          <p:nvPr/>
        </p:nvSpPr>
        <p:spPr>
          <a:xfrm>
            <a:off x="2331720" y="2340864"/>
            <a:ext cx="187452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395728" y="2478024"/>
            <a:ext cx="1746504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users/roles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4206240" y="2340864"/>
            <a:ext cx="187452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70248" y="2478024"/>
            <a:ext cx="1746504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vertical roles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6080760" y="2340864"/>
            <a:ext cx="187452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44768" y="2478024"/>
            <a:ext cx="1746504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users/direct grants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7955280" y="2340864"/>
            <a:ext cx="187452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019288" y="2478024"/>
            <a:ext cx="1746504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 access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9829800" y="2340864"/>
            <a:ext cx="187452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893808" y="2478024"/>
            <a:ext cx="1746504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none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411480" y="2843784"/>
            <a:ext cx="1920240" cy="438912"/>
          </a:xfrm>
          <a:prstGeom prst="roundRect">
            <a:avLst>
              <a:gd name="adj" fmla="val 14583"/>
            </a:avLst>
          </a:prstGeom>
          <a:solidFill>
            <a:srgbClr val="F1F5F9"/>
          </a:solidFill>
          <a:ln w="10160">
            <a:solidFill>
              <a:srgbClr val="E5E7EB">
                <a:alpha val="92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5488" y="2980944"/>
            <a:ext cx="1792224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Masters</a:t>
            </a:r>
            <a:endParaRPr lang="en-US" sz="780" dirty="0"/>
          </a:p>
        </p:txBody>
      </p:sp>
      <p:sp>
        <p:nvSpPr>
          <p:cNvPr id="43" name="Shape 41"/>
          <p:cNvSpPr/>
          <p:nvPr/>
        </p:nvSpPr>
        <p:spPr>
          <a:xfrm>
            <a:off x="2331720" y="2843784"/>
            <a:ext cx="187452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395728" y="2980944"/>
            <a:ext cx="1746504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masters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4206240" y="2843784"/>
            <a:ext cx="187452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270248" y="2980944"/>
            <a:ext cx="1746504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vertical masters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6080760" y="2843784"/>
            <a:ext cx="187452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44768" y="2980944"/>
            <a:ext cx="1746504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view/edit assigned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7955280" y="2843784"/>
            <a:ext cx="187452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019288" y="2980944"/>
            <a:ext cx="1746504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 needed fields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9829800" y="2843784"/>
            <a:ext cx="187452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893808" y="2980944"/>
            <a:ext cx="1746504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limited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411480" y="3346704"/>
            <a:ext cx="1920240" cy="438912"/>
          </a:xfrm>
          <a:prstGeom prst="roundRect">
            <a:avLst>
              <a:gd name="adj" fmla="val 14583"/>
            </a:avLst>
          </a:prstGeom>
          <a:solidFill>
            <a:srgbClr val="F1F5F9"/>
          </a:solidFill>
          <a:ln w="10160">
            <a:solidFill>
              <a:srgbClr val="E5E7EB">
                <a:alpha val="92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75488" y="3483864"/>
            <a:ext cx="1792224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to Stock</a:t>
            </a:r>
            <a:endParaRPr lang="en-US" sz="780" dirty="0"/>
          </a:p>
        </p:txBody>
      </p:sp>
      <p:sp>
        <p:nvSpPr>
          <p:cNvPr id="55" name="Shape 53"/>
          <p:cNvSpPr/>
          <p:nvPr/>
        </p:nvSpPr>
        <p:spPr>
          <a:xfrm>
            <a:off x="2331720" y="3346704"/>
            <a:ext cx="187452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395728" y="3483864"/>
            <a:ext cx="1746504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plants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4206240" y="3346704"/>
            <a:ext cx="187452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270248" y="3483864"/>
            <a:ext cx="1746504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vertical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6080760" y="3346704"/>
            <a:ext cx="187452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144768" y="3483864"/>
            <a:ext cx="1746504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queues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7955280" y="3346704"/>
            <a:ext cx="187452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019288" y="3483864"/>
            <a:ext cx="1746504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GRN/QC assigned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9829800" y="3346704"/>
            <a:ext cx="187452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893808" y="3483864"/>
            <a:ext cx="1746504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ASN/gate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411480" y="3849624"/>
            <a:ext cx="1920240" cy="438912"/>
          </a:xfrm>
          <a:prstGeom prst="roundRect">
            <a:avLst>
              <a:gd name="adj" fmla="val 14583"/>
            </a:avLst>
          </a:prstGeom>
          <a:solidFill>
            <a:srgbClr val="F1F5F9"/>
          </a:solidFill>
          <a:ln w="10160">
            <a:solidFill>
              <a:srgbClr val="E5E7EB">
                <a:alpha val="9200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75488" y="3986784"/>
            <a:ext cx="1792224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</a:t>
            </a:r>
            <a:endParaRPr lang="en-US" sz="780" dirty="0"/>
          </a:p>
        </p:txBody>
      </p:sp>
      <p:sp>
        <p:nvSpPr>
          <p:cNvPr id="67" name="Shape 65"/>
          <p:cNvSpPr/>
          <p:nvPr/>
        </p:nvSpPr>
        <p:spPr>
          <a:xfrm>
            <a:off x="2331720" y="3849624"/>
            <a:ext cx="187452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395728" y="3986784"/>
            <a:ext cx="1746504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production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4206240" y="3849624"/>
            <a:ext cx="187452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270248" y="3986784"/>
            <a:ext cx="1746504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 vertical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6080760" y="3849624"/>
            <a:ext cx="187452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144768" y="3986784"/>
            <a:ext cx="1746504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WO/job cards</a:t>
            </a:r>
            <a:endParaRPr lang="en-US" sz="700" dirty="0"/>
          </a:p>
        </p:txBody>
      </p:sp>
      <p:sp>
        <p:nvSpPr>
          <p:cNvPr id="73" name="Shape 71"/>
          <p:cNvSpPr/>
          <p:nvPr/>
        </p:nvSpPr>
        <p:spPr>
          <a:xfrm>
            <a:off x="7955280" y="3849624"/>
            <a:ext cx="187452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8019288" y="3986784"/>
            <a:ext cx="1746504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assigned job cards</a:t>
            </a:r>
            <a:endParaRPr lang="en-US" sz="700" dirty="0"/>
          </a:p>
        </p:txBody>
      </p:sp>
      <p:sp>
        <p:nvSpPr>
          <p:cNvPr id="75" name="Shape 73"/>
          <p:cNvSpPr/>
          <p:nvPr/>
        </p:nvSpPr>
        <p:spPr>
          <a:xfrm>
            <a:off x="9829800" y="3849624"/>
            <a:ext cx="187452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9893808" y="3986784"/>
            <a:ext cx="1746504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none</a:t>
            </a:r>
            <a:endParaRPr lang="en-US" sz="700" dirty="0"/>
          </a:p>
        </p:txBody>
      </p:sp>
      <p:sp>
        <p:nvSpPr>
          <p:cNvPr id="77" name="Shape 75"/>
          <p:cNvSpPr/>
          <p:nvPr/>
        </p:nvSpPr>
        <p:spPr>
          <a:xfrm>
            <a:off x="411480" y="4352544"/>
            <a:ext cx="1920240" cy="438912"/>
          </a:xfrm>
          <a:prstGeom prst="roundRect">
            <a:avLst>
              <a:gd name="adj" fmla="val 14583"/>
            </a:avLst>
          </a:prstGeom>
          <a:solidFill>
            <a:srgbClr val="F1F5F9"/>
          </a:solidFill>
          <a:ln w="10160">
            <a:solidFill>
              <a:srgbClr val="E5E7EB">
                <a:alpha val="92000"/>
              </a:srgbClr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75488" y="4489704"/>
            <a:ext cx="1792224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Warehouse &amp; Delivery</a:t>
            </a:r>
            <a:endParaRPr lang="en-US" sz="780" dirty="0"/>
          </a:p>
        </p:txBody>
      </p:sp>
      <p:sp>
        <p:nvSpPr>
          <p:cNvPr id="79" name="Shape 77"/>
          <p:cNvSpPr/>
          <p:nvPr/>
        </p:nvSpPr>
        <p:spPr>
          <a:xfrm>
            <a:off x="2331720" y="4352544"/>
            <a:ext cx="187452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2395728" y="4489704"/>
            <a:ext cx="1746504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warehouses</a:t>
            </a:r>
            <a:endParaRPr lang="en-US" sz="700" dirty="0"/>
          </a:p>
        </p:txBody>
      </p:sp>
      <p:sp>
        <p:nvSpPr>
          <p:cNvPr id="81" name="Shape 79"/>
          <p:cNvSpPr/>
          <p:nvPr/>
        </p:nvSpPr>
        <p:spPr>
          <a:xfrm>
            <a:off x="4206240" y="4352544"/>
            <a:ext cx="187452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270248" y="4489704"/>
            <a:ext cx="1746504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 vertical</a:t>
            </a:r>
            <a:endParaRPr lang="en-US" sz="700" dirty="0"/>
          </a:p>
        </p:txBody>
      </p:sp>
      <p:sp>
        <p:nvSpPr>
          <p:cNvPr id="83" name="Shape 81"/>
          <p:cNvSpPr/>
          <p:nvPr/>
        </p:nvSpPr>
        <p:spPr>
          <a:xfrm>
            <a:off x="6080760" y="4352544"/>
            <a:ext cx="187452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144768" y="4489704"/>
            <a:ext cx="1746504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dispatch</a:t>
            </a:r>
            <a:endParaRPr lang="en-US" sz="700" dirty="0"/>
          </a:p>
        </p:txBody>
      </p:sp>
      <p:sp>
        <p:nvSpPr>
          <p:cNvPr id="85" name="Shape 83"/>
          <p:cNvSpPr/>
          <p:nvPr/>
        </p:nvSpPr>
        <p:spPr>
          <a:xfrm>
            <a:off x="7955280" y="4352544"/>
            <a:ext cx="187452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019288" y="4489704"/>
            <a:ext cx="1746504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assigned pick/POD</a:t>
            </a:r>
            <a:endParaRPr lang="en-US" sz="700" dirty="0"/>
          </a:p>
        </p:txBody>
      </p:sp>
      <p:sp>
        <p:nvSpPr>
          <p:cNvPr id="87" name="Shape 85"/>
          <p:cNvSpPr/>
          <p:nvPr/>
        </p:nvSpPr>
        <p:spPr>
          <a:xfrm>
            <a:off x="9829800" y="4352544"/>
            <a:ext cx="187452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9893808" y="4489704"/>
            <a:ext cx="1746504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 docs</a:t>
            </a:r>
            <a:endParaRPr lang="en-US" sz="700" dirty="0"/>
          </a:p>
        </p:txBody>
      </p:sp>
      <p:sp>
        <p:nvSpPr>
          <p:cNvPr id="89" name="Shape 87"/>
          <p:cNvSpPr/>
          <p:nvPr/>
        </p:nvSpPr>
        <p:spPr>
          <a:xfrm>
            <a:off x="411480" y="4855464"/>
            <a:ext cx="1920240" cy="438912"/>
          </a:xfrm>
          <a:prstGeom prst="roundRect">
            <a:avLst>
              <a:gd name="adj" fmla="val 14583"/>
            </a:avLst>
          </a:prstGeom>
          <a:solidFill>
            <a:srgbClr val="F1F5F9"/>
          </a:solidFill>
          <a:ln w="10160">
            <a:solidFill>
              <a:srgbClr val="E5E7EB">
                <a:alpha val="92000"/>
              </a:srgbClr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75488" y="4992624"/>
            <a:ext cx="1792224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Traceability</a:t>
            </a:r>
            <a:endParaRPr lang="en-US" sz="780" dirty="0"/>
          </a:p>
        </p:txBody>
      </p:sp>
      <p:sp>
        <p:nvSpPr>
          <p:cNvPr id="91" name="Shape 89"/>
          <p:cNvSpPr/>
          <p:nvPr/>
        </p:nvSpPr>
        <p:spPr>
          <a:xfrm>
            <a:off x="2331720" y="4855464"/>
            <a:ext cx="187452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2395728" y="4992624"/>
            <a:ext cx="1746504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reports</a:t>
            </a:r>
            <a:endParaRPr lang="en-US" sz="700" dirty="0"/>
          </a:p>
        </p:txBody>
      </p:sp>
      <p:sp>
        <p:nvSpPr>
          <p:cNvPr id="93" name="Shape 91"/>
          <p:cNvSpPr/>
          <p:nvPr/>
        </p:nvSpPr>
        <p:spPr>
          <a:xfrm>
            <a:off x="4206240" y="4855464"/>
            <a:ext cx="187452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4270248" y="4992624"/>
            <a:ext cx="1746504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vertical reports</a:t>
            </a:r>
            <a:endParaRPr lang="en-US" sz="700" dirty="0"/>
          </a:p>
        </p:txBody>
      </p:sp>
      <p:sp>
        <p:nvSpPr>
          <p:cNvPr id="95" name="Shape 93"/>
          <p:cNvSpPr/>
          <p:nvPr/>
        </p:nvSpPr>
        <p:spPr>
          <a:xfrm>
            <a:off x="6080760" y="4855464"/>
            <a:ext cx="187452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6144768" y="4992624"/>
            <a:ext cx="1746504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reports</a:t>
            </a:r>
            <a:endParaRPr lang="en-US" sz="700" dirty="0"/>
          </a:p>
        </p:txBody>
      </p:sp>
      <p:sp>
        <p:nvSpPr>
          <p:cNvPr id="97" name="Shape 95"/>
          <p:cNvSpPr/>
          <p:nvPr/>
        </p:nvSpPr>
        <p:spPr>
          <a:xfrm>
            <a:off x="7955280" y="4855464"/>
            <a:ext cx="187452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8019288" y="4992624"/>
            <a:ext cx="1746504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 scope</a:t>
            </a:r>
            <a:endParaRPr lang="en-US" sz="700" dirty="0"/>
          </a:p>
        </p:txBody>
      </p:sp>
      <p:sp>
        <p:nvSpPr>
          <p:cNvPr id="99" name="Shape 97"/>
          <p:cNvSpPr/>
          <p:nvPr/>
        </p:nvSpPr>
        <p:spPr>
          <a:xfrm>
            <a:off x="9829800" y="4855464"/>
            <a:ext cx="187452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9893808" y="4992624"/>
            <a:ext cx="1746504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 docs</a:t>
            </a:r>
            <a:endParaRPr lang="en-US" sz="700" dirty="0"/>
          </a:p>
        </p:txBody>
      </p:sp>
      <p:sp>
        <p:nvSpPr>
          <p:cNvPr id="101" name="Shape 99"/>
          <p:cNvSpPr/>
          <p:nvPr/>
        </p:nvSpPr>
        <p:spPr>
          <a:xfrm>
            <a:off x="438912" y="6446520"/>
            <a:ext cx="11292840" cy="0"/>
          </a:xfrm>
          <a:prstGeom prst="line">
            <a:avLst/>
          </a:prstGeom>
          <a:noFill/>
          <a:ln w="7620">
            <a:solidFill>
              <a:srgbClr val="CBD5E1">
                <a:alpha val="55000"/>
              </a:srgbClr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438912" y="6565392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Tan90 Manufacturing ERP MVP • Client-ready architecture deck</a:t>
            </a:r>
            <a:endParaRPr lang="en-US" sz="700" dirty="0"/>
          </a:p>
        </p:txBody>
      </p:sp>
      <p:sp>
        <p:nvSpPr>
          <p:cNvPr id="103" name="Text 101"/>
          <p:cNvSpPr/>
          <p:nvPr/>
        </p:nvSpPr>
        <p:spPr>
          <a:xfrm>
            <a:off x="11228832" y="654710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30</a:t>
            </a:r>
            <a:endParaRPr lang="en-US" sz="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329184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047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MVP SCREEN MAP</a:t>
            </a:r>
            <a:endParaRPr lang="en-US" sz="820" dirty="0"/>
          </a:p>
        </p:txBody>
      </p:sp>
      <p:sp>
        <p:nvSpPr>
          <p:cNvPr id="3" name="Text 1"/>
          <p:cNvSpPr/>
          <p:nvPr/>
        </p:nvSpPr>
        <p:spPr>
          <a:xfrm>
            <a:off x="438912" y="566928"/>
            <a:ext cx="9875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Screens needed for a complete demo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38912" y="1133856"/>
            <a:ext cx="98755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These are the minimum screen families to make the ERP look complete and operational.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097280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" y="1554480"/>
            <a:ext cx="310896" cy="256032"/>
          </a:xfrm>
          <a:prstGeom prst="roundRect">
            <a:avLst>
              <a:gd name="adj" fmla="val 28571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1604772"/>
            <a:ext cx="164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2563EB"/>
                </a:solidFill>
              </a:rPr>
              <a:t>1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225296" y="1554480"/>
            <a:ext cx="155448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Command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2971800" y="1554480"/>
            <a:ext cx="804672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Dashboard, My Tasks, Approvals, Alerts, Exceptions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94360" y="2075688"/>
            <a:ext cx="1097280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6384" y="2212848"/>
            <a:ext cx="310896" cy="256032"/>
          </a:xfrm>
          <a:prstGeom prst="roundRect">
            <a:avLst>
              <a:gd name="adj" fmla="val 28571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" y="2263140"/>
            <a:ext cx="164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2563EB"/>
                </a:solidFill>
              </a:rPr>
              <a:t>2</a:t>
            </a:r>
            <a:endParaRPr lang="en-US" sz="730" dirty="0"/>
          </a:p>
        </p:txBody>
      </p:sp>
      <p:sp>
        <p:nvSpPr>
          <p:cNvPr id="13" name="Text 11"/>
          <p:cNvSpPr/>
          <p:nvPr/>
        </p:nvSpPr>
        <p:spPr>
          <a:xfrm>
            <a:off x="1225296" y="2212848"/>
            <a:ext cx="155448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2971800" y="2212848"/>
            <a:ext cx="804672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 Users, Manage Roles, Edit Role, Direct Grant, Saved View, Dashboard Builder, Activity Log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94360" y="2734056"/>
            <a:ext cx="1097280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86384" y="2871216"/>
            <a:ext cx="310896" cy="256032"/>
          </a:xfrm>
          <a:prstGeom prst="roundRect">
            <a:avLst>
              <a:gd name="adj" fmla="val 28571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9536" y="2921508"/>
            <a:ext cx="164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2563EB"/>
                </a:solidFill>
              </a:rPr>
              <a:t>3</a:t>
            </a:r>
            <a:endParaRPr lang="en-US" sz="730" dirty="0"/>
          </a:p>
        </p:txBody>
      </p:sp>
      <p:sp>
        <p:nvSpPr>
          <p:cNvPr id="18" name="Text 16"/>
          <p:cNvSpPr/>
          <p:nvPr/>
        </p:nvSpPr>
        <p:spPr>
          <a:xfrm>
            <a:off x="1225296" y="2871216"/>
            <a:ext cx="155448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Masters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2971800" y="2871216"/>
            <a:ext cx="804672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Company, Plant, Warehouse, Bin, SKU, Raw Material, Vendor, Customer, Machine, QC Spec, BOM/Recipe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94360" y="3392424"/>
            <a:ext cx="1097280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86384" y="3529584"/>
            <a:ext cx="310896" cy="256032"/>
          </a:xfrm>
          <a:prstGeom prst="roundRect">
            <a:avLst>
              <a:gd name="adj" fmla="val 28571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9536" y="3579876"/>
            <a:ext cx="164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2563EB"/>
                </a:solidFill>
              </a:rPr>
              <a:t>4</a:t>
            </a:r>
            <a:endParaRPr lang="en-US" sz="730" dirty="0"/>
          </a:p>
        </p:txBody>
      </p:sp>
      <p:sp>
        <p:nvSpPr>
          <p:cNvPr id="23" name="Text 21"/>
          <p:cNvSpPr/>
          <p:nvPr/>
        </p:nvSpPr>
        <p:spPr>
          <a:xfrm>
            <a:off x="1225296" y="3529584"/>
            <a:ext cx="155448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2971800" y="3529584"/>
            <a:ext cx="804672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MRP Shortage, PR, PO, ASN, Gate Entry, Unloading, QC, GRN, Putaway, Stock Ledger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94360" y="4050792"/>
            <a:ext cx="10972800" cy="502920"/>
          </a:xfrm>
          <a:prstGeom prst="roundRect">
            <a:avLst>
              <a:gd name="adj" fmla="val 12727"/>
            </a:avLst>
          </a:prstGeom>
          <a:solidFill>
            <a:srgbClr val="ECFDF5"/>
          </a:solidFill>
          <a:ln w="10160">
            <a:solidFill>
              <a:srgbClr val="10B981">
                <a:alpha val="92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6384" y="4187952"/>
            <a:ext cx="310896" cy="256032"/>
          </a:xfrm>
          <a:prstGeom prst="roundRect">
            <a:avLst>
              <a:gd name="adj" fmla="val 28571"/>
            </a:avLst>
          </a:prstGeom>
          <a:solidFill>
            <a:srgbClr val="A7F3D0"/>
          </a:solidFill>
          <a:ln w="12700">
            <a:solidFill>
              <a:srgbClr val="A7F3D0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9536" y="4238244"/>
            <a:ext cx="164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047857"/>
                </a:solidFill>
              </a:rPr>
              <a:t>5</a:t>
            </a:r>
            <a:endParaRPr lang="en-US" sz="730" dirty="0"/>
          </a:p>
        </p:txBody>
      </p:sp>
      <p:sp>
        <p:nvSpPr>
          <p:cNvPr id="28" name="Text 26"/>
          <p:cNvSpPr/>
          <p:nvPr/>
        </p:nvSpPr>
        <p:spPr>
          <a:xfrm>
            <a:off x="1225296" y="4187952"/>
            <a:ext cx="155448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</a:t>
            </a:r>
            <a:endParaRPr lang="en-US" sz="1080" dirty="0"/>
          </a:p>
        </p:txBody>
      </p:sp>
      <p:sp>
        <p:nvSpPr>
          <p:cNvPr id="29" name="Text 27"/>
          <p:cNvSpPr/>
          <p:nvPr/>
        </p:nvSpPr>
        <p:spPr>
          <a:xfrm>
            <a:off x="2971800" y="4187952"/>
            <a:ext cx="804672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Plan, MRP, Work Order, Material Request, Issue, Job Card, Output, Machine, Wastage, Final QC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94360" y="4709160"/>
            <a:ext cx="1097280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86384" y="4846320"/>
            <a:ext cx="310896" cy="256032"/>
          </a:xfrm>
          <a:prstGeom prst="roundRect">
            <a:avLst>
              <a:gd name="adj" fmla="val 28571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9536" y="4896612"/>
            <a:ext cx="164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2563EB"/>
                </a:solidFill>
              </a:rPr>
              <a:t>6</a:t>
            </a:r>
            <a:endParaRPr lang="en-US" sz="730" dirty="0"/>
          </a:p>
        </p:txBody>
      </p:sp>
      <p:sp>
        <p:nvSpPr>
          <p:cNvPr id="33" name="Text 31"/>
          <p:cNvSpPr/>
          <p:nvPr/>
        </p:nvSpPr>
        <p:spPr>
          <a:xfrm>
            <a:off x="1225296" y="4846320"/>
            <a:ext cx="155448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</a:t>
            </a:r>
            <a:endParaRPr lang="en-US" sz="1080" dirty="0"/>
          </a:p>
        </p:txBody>
      </p:sp>
      <p:sp>
        <p:nvSpPr>
          <p:cNvPr id="34" name="Text 32"/>
          <p:cNvSpPr/>
          <p:nvPr/>
        </p:nvSpPr>
        <p:spPr>
          <a:xfrm>
            <a:off x="2971800" y="4846320"/>
            <a:ext cx="804672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FG Receipt, Transfer, Allocation, Pick Pack, Dispatch Challan, Vehicle, POD, Return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94360" y="5367528"/>
            <a:ext cx="1097280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86384" y="5504688"/>
            <a:ext cx="310896" cy="256032"/>
          </a:xfrm>
          <a:prstGeom prst="roundRect">
            <a:avLst>
              <a:gd name="adj" fmla="val 28571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59536" y="5554980"/>
            <a:ext cx="164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2563EB"/>
                </a:solidFill>
              </a:rPr>
              <a:t>7</a:t>
            </a:r>
            <a:endParaRPr lang="en-US" sz="730" dirty="0"/>
          </a:p>
        </p:txBody>
      </p:sp>
      <p:sp>
        <p:nvSpPr>
          <p:cNvPr id="38" name="Text 36"/>
          <p:cNvSpPr/>
          <p:nvPr/>
        </p:nvSpPr>
        <p:spPr>
          <a:xfrm>
            <a:off x="1225296" y="5504688"/>
            <a:ext cx="155448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Finance/Reports</a:t>
            </a:r>
            <a:endParaRPr lang="en-US" sz="1080" dirty="0"/>
          </a:p>
        </p:txBody>
      </p:sp>
      <p:sp>
        <p:nvSpPr>
          <p:cNvPr id="39" name="Text 37"/>
          <p:cNvSpPr/>
          <p:nvPr/>
        </p:nvSpPr>
        <p:spPr>
          <a:xfrm>
            <a:off x="2971800" y="5504688"/>
            <a:ext cx="804672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3-way Match, Claims, Cost Variance, Traceability, Stock, Production, QC, Wastage, Dispatch Reports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38912" y="6446520"/>
            <a:ext cx="11292840" cy="0"/>
          </a:xfrm>
          <a:prstGeom prst="line">
            <a:avLst/>
          </a:prstGeom>
          <a:noFill/>
          <a:ln w="7620">
            <a:solidFill>
              <a:srgbClr val="CBD5E1">
                <a:alpha val="55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8912" y="6565392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Tan90 Manufacturing ERP MVP • Client-ready architecture deck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11228832" y="654710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31</a:t>
            </a:r>
            <a:endParaRPr lang="en-US" sz="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329184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047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ARCHITECTURE</a:t>
            </a:r>
            <a:endParaRPr lang="en-US" sz="820" dirty="0"/>
          </a:p>
        </p:txBody>
      </p:sp>
      <p:sp>
        <p:nvSpPr>
          <p:cNvPr id="3" name="Text 1"/>
          <p:cNvSpPr/>
          <p:nvPr/>
        </p:nvSpPr>
        <p:spPr>
          <a:xfrm>
            <a:off x="438912" y="566928"/>
            <a:ext cx="9875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MVP database domains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38912" y="1133856"/>
            <a:ext cx="98755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Instead of hundreds of random tables, group data around domains and event ledgers.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1481328"/>
            <a:ext cx="3182112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673352"/>
            <a:ext cx="269748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Organisation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1993392"/>
            <a:ext cx="260604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companies, units, plants, warehouses, bins, teams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4297680" y="1481328"/>
            <a:ext cx="3182112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26280" y="1673352"/>
            <a:ext cx="269748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 &amp; Access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0" y="1993392"/>
            <a:ext cx="260604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users, roles, permissions, scopes, direct grants, dashboards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8001000" y="1481328"/>
            <a:ext cx="3182112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9600" y="1673352"/>
            <a:ext cx="269748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Engineering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75320" y="1993392"/>
            <a:ext cx="260604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items, BOMs, recipes, routings, QC specs, versions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94360" y="2715768"/>
            <a:ext cx="3182112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2960" y="2907792"/>
            <a:ext cx="269748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Procurement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68680" y="3227832"/>
            <a:ext cx="260604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PR, PO, vendor ASN, gate entry, unloading docs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4297680" y="2715768"/>
            <a:ext cx="3182112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26280" y="2907792"/>
            <a:ext cx="269748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Inventory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0" y="3227832"/>
            <a:ext cx="260604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stock lots, inventory transactions, bins, reservations, transfers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8001000" y="2715768"/>
            <a:ext cx="3182112" cy="841248"/>
          </a:xfrm>
          <a:prstGeom prst="roundRect">
            <a:avLst>
              <a:gd name="adj" fmla="val 7609"/>
            </a:avLst>
          </a:prstGeom>
          <a:solidFill>
            <a:srgbClr val="ECFDF5"/>
          </a:solidFill>
          <a:ln w="10160">
            <a:solidFill>
              <a:srgbClr val="10B981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229600" y="2907792"/>
            <a:ext cx="269748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47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75320" y="3227832"/>
            <a:ext cx="260604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plans, MRP runs, work orders, job cards, outputs, wastage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594360" y="3950208"/>
            <a:ext cx="3182112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22960" y="4142232"/>
            <a:ext cx="269748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68680" y="4462272"/>
            <a:ext cx="260604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inspections, holds, rework, rejection, release certificates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4297680" y="3950208"/>
            <a:ext cx="3182112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526280" y="4142232"/>
            <a:ext cx="269748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Fulfilment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0" y="4462272"/>
            <a:ext cx="260604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 demand, pick lists, dispatch, vehicle, POD, returns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8001000" y="3950208"/>
            <a:ext cx="3182112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229600" y="4142232"/>
            <a:ext cx="269748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Finance &amp; Audit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275320" y="4462272"/>
            <a:ext cx="260604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invoice match, claims, cost events, audit logs, reports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438912" y="6446520"/>
            <a:ext cx="11292840" cy="0"/>
          </a:xfrm>
          <a:prstGeom prst="line">
            <a:avLst/>
          </a:prstGeom>
          <a:noFill/>
          <a:ln w="7620">
            <a:solidFill>
              <a:srgbClr val="CBD5E1">
                <a:alpha val="5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8912" y="6565392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Tan90 Manufacturing ERP MVP • Client-ready architecture deck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11228832" y="654710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32</a:t>
            </a:r>
            <a:endParaRPr lang="en-US" sz="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329184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86EFA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IMPLEMENTATION</a:t>
            </a:r>
            <a:endParaRPr lang="en-US" sz="820" dirty="0"/>
          </a:p>
        </p:txBody>
      </p:sp>
      <p:sp>
        <p:nvSpPr>
          <p:cNvPr id="3" name="Text 1"/>
          <p:cNvSpPr/>
          <p:nvPr/>
        </p:nvSpPr>
        <p:spPr>
          <a:xfrm>
            <a:off x="438912" y="566928"/>
            <a:ext cx="9875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Additive Laravel MVP layer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38912" y="1133856"/>
            <a:ext cx="98755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Build the new spaces beside existing Tan90 pages using Laravel policies, services and event ledgers. Existing workflows continue to work.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60120" y="1554480"/>
            <a:ext cx="10287000" cy="438912"/>
          </a:xfrm>
          <a:prstGeom prst="roundRect">
            <a:avLst>
              <a:gd name="adj" fmla="val 14583"/>
            </a:avLst>
          </a:prstGeom>
          <a:solidFill>
            <a:srgbClr val="111827"/>
          </a:solidFill>
          <a:ln w="10160">
            <a:solidFill>
              <a:srgbClr val="334155">
                <a:alpha val="92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34440" y="1682496"/>
            <a:ext cx="1965960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Existing Tan90 pages</a:t>
            </a:r>
            <a:endParaRPr lang="en-US" sz="930" dirty="0"/>
          </a:p>
        </p:txBody>
      </p:sp>
      <p:sp>
        <p:nvSpPr>
          <p:cNvPr id="7" name="Text 5"/>
          <p:cNvSpPr/>
          <p:nvPr/>
        </p:nvSpPr>
        <p:spPr>
          <a:xfrm>
            <a:off x="3474720" y="1682496"/>
            <a:ext cx="7223760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Guard, vendor, unloading, QC, GRN, finance, master data, BOM/recipe/costing</a:t>
            </a:r>
            <a:endParaRPr lang="en-US" sz="780" dirty="0"/>
          </a:p>
        </p:txBody>
      </p:sp>
      <p:sp>
        <p:nvSpPr>
          <p:cNvPr id="8" name="Shape 6"/>
          <p:cNvSpPr/>
          <p:nvPr/>
        </p:nvSpPr>
        <p:spPr>
          <a:xfrm>
            <a:off x="960120" y="2176272"/>
            <a:ext cx="10287000" cy="438912"/>
          </a:xfrm>
          <a:prstGeom prst="roundRect">
            <a:avLst>
              <a:gd name="adj" fmla="val 14583"/>
            </a:avLst>
          </a:prstGeom>
          <a:solidFill>
            <a:srgbClr val="111827"/>
          </a:solidFill>
          <a:ln w="10160">
            <a:solidFill>
              <a:srgbClr val="334155">
                <a:alpha val="92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34440" y="2304288"/>
            <a:ext cx="1965960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workspace shell</a:t>
            </a:r>
            <a:endParaRPr lang="en-US" sz="930" dirty="0"/>
          </a:p>
        </p:txBody>
      </p:sp>
      <p:sp>
        <p:nvSpPr>
          <p:cNvPr id="10" name="Text 8"/>
          <p:cNvSpPr/>
          <p:nvPr/>
        </p:nvSpPr>
        <p:spPr>
          <a:xfrm>
            <a:off x="3474720" y="2304288"/>
            <a:ext cx="7223760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Space landing pages, unified navigation, dashboard panels, role-aware menus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960120" y="2798064"/>
            <a:ext cx="10287000" cy="438912"/>
          </a:xfrm>
          <a:prstGeom prst="roundRect">
            <a:avLst>
              <a:gd name="adj" fmla="val 14583"/>
            </a:avLst>
          </a:prstGeom>
          <a:solidFill>
            <a:srgbClr val="064E3B"/>
          </a:solidFill>
          <a:ln w="10160">
            <a:solidFill>
              <a:srgbClr val="10B981">
                <a:alpha val="92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4440" y="2926080"/>
            <a:ext cx="1965960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 engine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3474720" y="2926080"/>
            <a:ext cx="7223760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Hierarchy, roles, direct grants, field rules, route middleware, data scopes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960120" y="3419856"/>
            <a:ext cx="10287000" cy="438912"/>
          </a:xfrm>
          <a:prstGeom prst="roundRect">
            <a:avLst>
              <a:gd name="adj" fmla="val 14583"/>
            </a:avLst>
          </a:prstGeom>
          <a:solidFill>
            <a:srgbClr val="111827"/>
          </a:solidFill>
          <a:ln w="10160">
            <a:solidFill>
              <a:srgbClr val="334155">
                <a:alpha val="92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34440" y="3547872"/>
            <a:ext cx="1965960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Domain services</a:t>
            </a:r>
            <a:endParaRPr lang="en-US" sz="930" dirty="0"/>
          </a:p>
        </p:txBody>
      </p:sp>
      <p:sp>
        <p:nvSpPr>
          <p:cNvPr id="16" name="Text 14"/>
          <p:cNvSpPr/>
          <p:nvPr/>
        </p:nvSpPr>
        <p:spPr>
          <a:xfrm>
            <a:off x="3474720" y="3547872"/>
            <a:ext cx="7223760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Source-to-stock, production, quality, warehouse, finance, traceability</a:t>
            </a:r>
            <a:endParaRPr lang="en-US" sz="780" dirty="0"/>
          </a:p>
        </p:txBody>
      </p:sp>
      <p:sp>
        <p:nvSpPr>
          <p:cNvPr id="17" name="Shape 15"/>
          <p:cNvSpPr/>
          <p:nvPr/>
        </p:nvSpPr>
        <p:spPr>
          <a:xfrm>
            <a:off x="960120" y="4041648"/>
            <a:ext cx="10287000" cy="438912"/>
          </a:xfrm>
          <a:prstGeom prst="roundRect">
            <a:avLst>
              <a:gd name="adj" fmla="val 14583"/>
            </a:avLst>
          </a:prstGeom>
          <a:solidFill>
            <a:srgbClr val="111827"/>
          </a:solidFill>
          <a:ln w="10160">
            <a:solidFill>
              <a:srgbClr val="334155">
                <a:alpha val="92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34440" y="4169664"/>
            <a:ext cx="1965960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 ledgers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>
            <a:off x="3474720" y="4169664"/>
            <a:ext cx="7223760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inventory, batch, cost and audit events</a:t>
            </a:r>
            <a:endParaRPr lang="en-US" sz="780" dirty="0"/>
          </a:p>
        </p:txBody>
      </p:sp>
      <p:sp>
        <p:nvSpPr>
          <p:cNvPr id="20" name="Shape 18"/>
          <p:cNvSpPr/>
          <p:nvPr/>
        </p:nvSpPr>
        <p:spPr>
          <a:xfrm>
            <a:off x="960120" y="4663440"/>
            <a:ext cx="10287000" cy="438912"/>
          </a:xfrm>
          <a:prstGeom prst="roundRect">
            <a:avLst>
              <a:gd name="adj" fmla="val 14583"/>
            </a:avLst>
          </a:prstGeom>
          <a:solidFill>
            <a:srgbClr val="111827"/>
          </a:solidFill>
          <a:ln w="10160">
            <a:solidFill>
              <a:srgbClr val="334155">
                <a:alpha val="92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34440" y="4791456"/>
            <a:ext cx="1965960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 integrations</a:t>
            </a:r>
            <a:endParaRPr lang="en-US" sz="930" dirty="0"/>
          </a:p>
        </p:txBody>
      </p:sp>
      <p:sp>
        <p:nvSpPr>
          <p:cNvPr id="22" name="Text 20"/>
          <p:cNvSpPr/>
          <p:nvPr/>
        </p:nvSpPr>
        <p:spPr>
          <a:xfrm>
            <a:off x="3474720" y="4791456"/>
            <a:ext cx="7223760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Tally/Zoho, WhatsApp/SMS, barcode/QR, vendor/customer portal, optional IoT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1097280" y="5577840"/>
            <a:ext cx="9966960" cy="457200"/>
          </a:xfrm>
          <a:prstGeom prst="roundRect">
            <a:avLst>
              <a:gd name="adj" fmla="val 14000"/>
            </a:avLst>
          </a:prstGeom>
          <a:solidFill>
            <a:srgbClr val="FEF3C7"/>
          </a:solidFill>
          <a:ln w="10160">
            <a:solidFill>
              <a:srgbClr val="FCD34D">
                <a:alpha val="92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417320" y="5715000"/>
            <a:ext cx="9326880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2400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 rollout modes: legacy → hybrid → advanced. New permission checks apply first to new workspaces and opted-in users.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38912" y="6446520"/>
            <a:ext cx="11292840" cy="0"/>
          </a:xfrm>
          <a:prstGeom prst="line">
            <a:avLst/>
          </a:prstGeom>
          <a:noFill/>
          <a:ln w="7620">
            <a:solidFill>
              <a:srgbClr val="CBD5E1">
                <a:alpha val="5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" y="6565392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Tan90 Manufacturing ERP MVP • Client-ready architecture deck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11228832" y="654710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33</a:t>
            </a:r>
            <a:endParaRPr lang="en-US" sz="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329184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047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MVP ROADMAP</a:t>
            </a:r>
            <a:endParaRPr lang="en-US" sz="820" dirty="0"/>
          </a:p>
        </p:txBody>
      </p:sp>
      <p:sp>
        <p:nvSpPr>
          <p:cNvPr id="3" name="Text 1"/>
          <p:cNvSpPr/>
          <p:nvPr/>
        </p:nvSpPr>
        <p:spPr>
          <a:xfrm>
            <a:off x="438912" y="566928"/>
            <a:ext cx="9875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Client-demoable delivery in practical phases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38912" y="1133856"/>
            <a:ext cx="98755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Phase by business value and a complete operating story, not by department wishlist.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691640"/>
            <a:ext cx="2377440" cy="2743200"/>
          </a:xfrm>
          <a:prstGeom prst="roundRect">
            <a:avLst>
              <a:gd name="adj" fmla="val 2692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69848" y="1938528"/>
            <a:ext cx="1572768" cy="256032"/>
          </a:xfrm>
          <a:prstGeom prst="roundRect">
            <a:avLst>
              <a:gd name="adj" fmla="val 28571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1988820"/>
            <a:ext cx="14264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2563EB"/>
                </a:solidFill>
              </a:rPr>
              <a:t>Phase 1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914400" y="2468880"/>
            <a:ext cx="1901952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78408" y="2999232"/>
            <a:ext cx="1783080" cy="7132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spaces shell, hierarchy, demo logins, users/roles, masters, dashboard base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502152" y="1691640"/>
            <a:ext cx="2377440" cy="2743200"/>
          </a:xfrm>
          <a:prstGeom prst="roundRect">
            <a:avLst>
              <a:gd name="adj" fmla="val 2692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886200" y="1938528"/>
            <a:ext cx="1572768" cy="256032"/>
          </a:xfrm>
          <a:prstGeom prst="roundRect">
            <a:avLst>
              <a:gd name="adj" fmla="val 28571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59352" y="1988820"/>
            <a:ext cx="14264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2563EB"/>
                </a:solidFill>
              </a:rPr>
              <a:t>Phase 2</a:t>
            </a:r>
            <a:endParaRPr lang="en-US" sz="730" dirty="0"/>
          </a:p>
        </p:txBody>
      </p:sp>
      <p:sp>
        <p:nvSpPr>
          <p:cNvPr id="13" name="Text 11"/>
          <p:cNvSpPr/>
          <p:nvPr/>
        </p:nvSpPr>
        <p:spPr>
          <a:xfrm>
            <a:off x="3730752" y="2468880"/>
            <a:ext cx="1901952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to Stock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794760" y="2999232"/>
            <a:ext cx="1783080" cy="7132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MRP shortage, PR/PO, gate, unloading, QC, GRN, stock ledger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318504" y="1691640"/>
            <a:ext cx="2377440" cy="2743200"/>
          </a:xfrm>
          <a:prstGeom prst="roundRect">
            <a:avLst>
              <a:gd name="adj" fmla="val 2692"/>
            </a:avLst>
          </a:prstGeom>
          <a:solidFill>
            <a:srgbClr val="ECFDF5"/>
          </a:solidFill>
          <a:ln w="10160">
            <a:solidFill>
              <a:srgbClr val="10B981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702552" y="1938528"/>
            <a:ext cx="1572768" cy="256032"/>
          </a:xfrm>
          <a:prstGeom prst="roundRect">
            <a:avLst>
              <a:gd name="adj" fmla="val 28571"/>
            </a:avLst>
          </a:prstGeom>
          <a:solidFill>
            <a:srgbClr val="A7F3D0"/>
          </a:solidFill>
          <a:ln w="12700">
            <a:solidFill>
              <a:srgbClr val="A7F3D0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75704" y="1988820"/>
            <a:ext cx="14264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047857"/>
                </a:solidFill>
              </a:rPr>
              <a:t>Phase 3</a:t>
            </a:r>
            <a:endParaRPr lang="en-US" sz="730" dirty="0"/>
          </a:p>
        </p:txBody>
      </p:sp>
      <p:sp>
        <p:nvSpPr>
          <p:cNvPr id="18" name="Text 16"/>
          <p:cNvSpPr/>
          <p:nvPr/>
        </p:nvSpPr>
        <p:spPr>
          <a:xfrm>
            <a:off x="6547104" y="2468880"/>
            <a:ext cx="1901952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 Space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611112" y="2999232"/>
            <a:ext cx="1783080" cy="7132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plan, MRP, work order, material issue, job card, output, wastage, final QC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9134856" y="1691640"/>
            <a:ext cx="2377440" cy="2743200"/>
          </a:xfrm>
          <a:prstGeom prst="roundRect">
            <a:avLst>
              <a:gd name="adj" fmla="val 2692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518904" y="1938528"/>
            <a:ext cx="1572768" cy="256032"/>
          </a:xfrm>
          <a:prstGeom prst="roundRect">
            <a:avLst>
              <a:gd name="adj" fmla="val 28571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92056" y="1988820"/>
            <a:ext cx="14264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2563EB"/>
                </a:solidFill>
              </a:rPr>
              <a:t>Phase 4</a:t>
            </a:r>
            <a:endParaRPr lang="en-US" sz="730" dirty="0"/>
          </a:p>
        </p:txBody>
      </p:sp>
      <p:sp>
        <p:nvSpPr>
          <p:cNvPr id="23" name="Text 21"/>
          <p:cNvSpPr/>
          <p:nvPr/>
        </p:nvSpPr>
        <p:spPr>
          <a:xfrm>
            <a:off x="9363456" y="2468880"/>
            <a:ext cx="1901952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 + Intelligence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427464" y="2999232"/>
            <a:ext cx="1783080" cy="7132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FG warehouse, dispatch/POD, 3-way match, traceability, reports, dashboard builder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005840" y="5074920"/>
            <a:ext cx="10195560" cy="658368"/>
          </a:xfrm>
          <a:prstGeom prst="roundRect">
            <a:avLst>
              <a:gd name="adj" fmla="val 9722"/>
            </a:avLst>
          </a:prstGeom>
          <a:solidFill>
            <a:srgbClr val="ECFDF5"/>
          </a:solidFill>
          <a:ln w="10160">
            <a:solidFill>
              <a:srgbClr val="A7F3D0">
                <a:alpha val="92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325880" y="5303520"/>
            <a:ext cx="9555480" cy="137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047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MVP acceptance: one real sample order can move from demand through production and dispatch while roles, dashboards, reports and traceability update.</a:t>
            </a:r>
            <a:endParaRPr lang="en-US" sz="980" dirty="0"/>
          </a:p>
        </p:txBody>
      </p:sp>
      <p:sp>
        <p:nvSpPr>
          <p:cNvPr id="27" name="Shape 25"/>
          <p:cNvSpPr/>
          <p:nvPr/>
        </p:nvSpPr>
        <p:spPr>
          <a:xfrm>
            <a:off x="438912" y="6446520"/>
            <a:ext cx="11292840" cy="0"/>
          </a:xfrm>
          <a:prstGeom prst="line">
            <a:avLst/>
          </a:prstGeom>
          <a:noFill/>
          <a:ln w="7620">
            <a:solidFill>
              <a:srgbClr val="CBD5E1">
                <a:alpha val="5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8912" y="6565392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Tan90 Manufacturing ERP MVP • Client-ready architecture deck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11228832" y="654710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34</a:t>
            </a:r>
            <a:endParaRPr lang="en-US" sz="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329184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047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DEMO SCRIPT</a:t>
            </a:r>
            <a:endParaRPr lang="en-US" sz="820" dirty="0"/>
          </a:p>
        </p:txBody>
      </p:sp>
      <p:sp>
        <p:nvSpPr>
          <p:cNvPr id="3" name="Text 1"/>
          <p:cNvSpPr/>
          <p:nvPr/>
        </p:nvSpPr>
        <p:spPr>
          <a:xfrm>
            <a:off x="438912" y="566928"/>
            <a:ext cx="9875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to show in the first walkthrough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38912" y="1133856"/>
            <a:ext cx="98755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Use one Thermal Sachet batch and switch persona at each step to prove hierarchy, controls and traceability.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0972800" cy="420624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" y="1517904"/>
            <a:ext cx="310896" cy="256032"/>
          </a:xfrm>
          <a:prstGeom prst="roundRect">
            <a:avLst>
              <a:gd name="adj" fmla="val 28571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1568196"/>
            <a:ext cx="164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2563EB"/>
                </a:solidFill>
              </a:rPr>
              <a:t>1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261872" y="1517904"/>
            <a:ext cx="1965960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Super Admin</a:t>
            </a:r>
            <a:endParaRPr lang="en-US" sz="940" dirty="0"/>
          </a:p>
        </p:txBody>
      </p:sp>
      <p:sp>
        <p:nvSpPr>
          <p:cNvPr id="9" name="Text 7"/>
          <p:cNvSpPr/>
          <p:nvPr/>
        </p:nvSpPr>
        <p:spPr>
          <a:xfrm>
            <a:off x="3429000" y="1517904"/>
            <a:ext cx="7223760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command dashboard; show all spaces, hierarchy and seed data</a:t>
            </a:r>
            <a:endParaRPr lang="en-US" sz="780" dirty="0"/>
          </a:p>
        </p:txBody>
      </p:sp>
      <p:sp>
        <p:nvSpPr>
          <p:cNvPr id="10" name="Shape 8"/>
          <p:cNvSpPr/>
          <p:nvPr/>
        </p:nvSpPr>
        <p:spPr>
          <a:xfrm>
            <a:off x="594360" y="1975104"/>
            <a:ext cx="10972800" cy="420624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6384" y="2075688"/>
            <a:ext cx="310896" cy="256032"/>
          </a:xfrm>
          <a:prstGeom prst="roundRect">
            <a:avLst>
              <a:gd name="adj" fmla="val 28571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" y="2125980"/>
            <a:ext cx="164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2563EB"/>
                </a:solidFill>
              </a:rPr>
              <a:t>2</a:t>
            </a:r>
            <a:endParaRPr lang="en-US" sz="730" dirty="0"/>
          </a:p>
        </p:txBody>
      </p:sp>
      <p:sp>
        <p:nvSpPr>
          <p:cNvPr id="13" name="Text 11"/>
          <p:cNvSpPr/>
          <p:nvPr/>
        </p:nvSpPr>
        <p:spPr>
          <a:xfrm>
            <a:off x="1261872" y="2075688"/>
            <a:ext cx="1965960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 / Source</a:t>
            </a:r>
            <a:endParaRPr lang="en-US" sz="940" dirty="0"/>
          </a:p>
        </p:txBody>
      </p:sp>
      <p:sp>
        <p:nvSpPr>
          <p:cNvPr id="14" name="Text 12"/>
          <p:cNvSpPr/>
          <p:nvPr/>
        </p:nvSpPr>
        <p:spPr>
          <a:xfrm>
            <a:off x="3429000" y="2075688"/>
            <a:ext cx="7223760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MRP shortage creates PR/PO; vendor ASN appears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594360" y="2532888"/>
            <a:ext cx="10972800" cy="420624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86384" y="2633472"/>
            <a:ext cx="310896" cy="256032"/>
          </a:xfrm>
          <a:prstGeom prst="roundRect">
            <a:avLst>
              <a:gd name="adj" fmla="val 28571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9536" y="2683764"/>
            <a:ext cx="164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2563EB"/>
                </a:solidFill>
              </a:rPr>
              <a:t>3</a:t>
            </a:r>
            <a:endParaRPr lang="en-US" sz="730" dirty="0"/>
          </a:p>
        </p:txBody>
      </p:sp>
      <p:sp>
        <p:nvSpPr>
          <p:cNvPr id="18" name="Text 16"/>
          <p:cNvSpPr/>
          <p:nvPr/>
        </p:nvSpPr>
        <p:spPr>
          <a:xfrm>
            <a:off x="1261872" y="2633472"/>
            <a:ext cx="1965960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 / Store / QC</a:t>
            </a:r>
            <a:endParaRPr lang="en-US" sz="940" dirty="0"/>
          </a:p>
        </p:txBody>
      </p:sp>
      <p:sp>
        <p:nvSpPr>
          <p:cNvPr id="19" name="Text 17"/>
          <p:cNvSpPr/>
          <p:nvPr/>
        </p:nvSpPr>
        <p:spPr>
          <a:xfrm>
            <a:off x="3429000" y="2633472"/>
            <a:ext cx="7223760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Gate entry → unloading → incoming QC → GRN posts accepted qty</a:t>
            </a:r>
            <a:endParaRPr lang="en-US" sz="780" dirty="0"/>
          </a:p>
        </p:txBody>
      </p:sp>
      <p:sp>
        <p:nvSpPr>
          <p:cNvPr id="20" name="Shape 18"/>
          <p:cNvSpPr/>
          <p:nvPr/>
        </p:nvSpPr>
        <p:spPr>
          <a:xfrm>
            <a:off x="594360" y="3090672"/>
            <a:ext cx="10972800" cy="420624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86384" y="3191256"/>
            <a:ext cx="310896" cy="256032"/>
          </a:xfrm>
          <a:prstGeom prst="roundRect">
            <a:avLst>
              <a:gd name="adj" fmla="val 28571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9536" y="3241548"/>
            <a:ext cx="164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2563EB"/>
                </a:solidFill>
              </a:rPr>
              <a:t>4</a:t>
            </a:r>
            <a:endParaRPr lang="en-US" sz="730" dirty="0"/>
          </a:p>
        </p:txBody>
      </p:sp>
      <p:sp>
        <p:nvSpPr>
          <p:cNvPr id="23" name="Text 21"/>
          <p:cNvSpPr/>
          <p:nvPr/>
        </p:nvSpPr>
        <p:spPr>
          <a:xfrm>
            <a:off x="1261872" y="3191256"/>
            <a:ext cx="1965960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 Manager</a:t>
            </a:r>
            <a:endParaRPr lang="en-US" sz="940" dirty="0"/>
          </a:p>
        </p:txBody>
      </p:sp>
      <p:sp>
        <p:nvSpPr>
          <p:cNvPr id="24" name="Text 22"/>
          <p:cNvSpPr/>
          <p:nvPr/>
        </p:nvSpPr>
        <p:spPr>
          <a:xfrm>
            <a:off x="3429000" y="3191256"/>
            <a:ext cx="7223760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work order, issue material, start job card</a:t>
            </a:r>
            <a:endParaRPr lang="en-US" sz="780" dirty="0"/>
          </a:p>
        </p:txBody>
      </p:sp>
      <p:sp>
        <p:nvSpPr>
          <p:cNvPr id="25" name="Shape 23"/>
          <p:cNvSpPr/>
          <p:nvPr/>
        </p:nvSpPr>
        <p:spPr>
          <a:xfrm>
            <a:off x="594360" y="3648456"/>
            <a:ext cx="10972800" cy="420624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6384" y="3749040"/>
            <a:ext cx="310896" cy="256032"/>
          </a:xfrm>
          <a:prstGeom prst="roundRect">
            <a:avLst>
              <a:gd name="adj" fmla="val 28571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9536" y="3799332"/>
            <a:ext cx="164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2563EB"/>
                </a:solidFill>
              </a:rPr>
              <a:t>5</a:t>
            </a:r>
            <a:endParaRPr lang="en-US" sz="730" dirty="0"/>
          </a:p>
        </p:txBody>
      </p:sp>
      <p:sp>
        <p:nvSpPr>
          <p:cNvPr id="28" name="Text 26"/>
          <p:cNvSpPr/>
          <p:nvPr/>
        </p:nvSpPr>
        <p:spPr>
          <a:xfrm>
            <a:off x="1261872" y="3749040"/>
            <a:ext cx="1965960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</a:t>
            </a:r>
            <a:endParaRPr lang="en-US" sz="940" dirty="0"/>
          </a:p>
        </p:txBody>
      </p:sp>
      <p:sp>
        <p:nvSpPr>
          <p:cNvPr id="29" name="Text 27"/>
          <p:cNvSpPr/>
          <p:nvPr/>
        </p:nvSpPr>
        <p:spPr>
          <a:xfrm>
            <a:off x="3429000" y="3749040"/>
            <a:ext cx="7223760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 output, wastage, downtime and in-process QC result</a:t>
            </a:r>
            <a:endParaRPr lang="en-US" sz="780" dirty="0"/>
          </a:p>
        </p:txBody>
      </p:sp>
      <p:sp>
        <p:nvSpPr>
          <p:cNvPr id="30" name="Shape 28"/>
          <p:cNvSpPr/>
          <p:nvPr/>
        </p:nvSpPr>
        <p:spPr>
          <a:xfrm>
            <a:off x="594360" y="4206240"/>
            <a:ext cx="10972800" cy="420624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86384" y="4306824"/>
            <a:ext cx="310896" cy="256032"/>
          </a:xfrm>
          <a:prstGeom prst="roundRect">
            <a:avLst>
              <a:gd name="adj" fmla="val 28571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9536" y="4357116"/>
            <a:ext cx="164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2563EB"/>
                </a:solidFill>
              </a:rPr>
              <a:t>6</a:t>
            </a:r>
            <a:endParaRPr lang="en-US" sz="730" dirty="0"/>
          </a:p>
        </p:txBody>
      </p:sp>
      <p:sp>
        <p:nvSpPr>
          <p:cNvPr id="33" name="Text 31"/>
          <p:cNvSpPr/>
          <p:nvPr/>
        </p:nvSpPr>
        <p:spPr>
          <a:xfrm>
            <a:off x="1261872" y="4306824"/>
            <a:ext cx="1965960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Warehouse / Logistics</a:t>
            </a:r>
            <a:endParaRPr lang="en-US" sz="940" dirty="0"/>
          </a:p>
        </p:txBody>
      </p:sp>
      <p:sp>
        <p:nvSpPr>
          <p:cNvPr id="34" name="Text 32"/>
          <p:cNvSpPr/>
          <p:nvPr/>
        </p:nvSpPr>
        <p:spPr>
          <a:xfrm>
            <a:off x="3429000" y="4306824"/>
            <a:ext cx="7223760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FG receipt → pick pack → dispatch → POD closure</a:t>
            </a:r>
            <a:endParaRPr lang="en-US" sz="780" dirty="0"/>
          </a:p>
        </p:txBody>
      </p:sp>
      <p:sp>
        <p:nvSpPr>
          <p:cNvPr id="35" name="Shape 33"/>
          <p:cNvSpPr/>
          <p:nvPr/>
        </p:nvSpPr>
        <p:spPr>
          <a:xfrm>
            <a:off x="594360" y="4764024"/>
            <a:ext cx="10972800" cy="420624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86384" y="4864608"/>
            <a:ext cx="310896" cy="256032"/>
          </a:xfrm>
          <a:prstGeom prst="roundRect">
            <a:avLst>
              <a:gd name="adj" fmla="val 28571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59536" y="4914900"/>
            <a:ext cx="164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2563EB"/>
                </a:solidFill>
              </a:rPr>
              <a:t>7</a:t>
            </a:r>
            <a:endParaRPr lang="en-US" sz="730" dirty="0"/>
          </a:p>
        </p:txBody>
      </p:sp>
      <p:sp>
        <p:nvSpPr>
          <p:cNvPr id="38" name="Text 36"/>
          <p:cNvSpPr/>
          <p:nvPr/>
        </p:nvSpPr>
        <p:spPr>
          <a:xfrm>
            <a:off x="1261872" y="4864608"/>
            <a:ext cx="1965960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Management</a:t>
            </a:r>
            <a:endParaRPr lang="en-US" sz="940" dirty="0"/>
          </a:p>
        </p:txBody>
      </p:sp>
      <p:sp>
        <p:nvSpPr>
          <p:cNvPr id="39" name="Text 37"/>
          <p:cNvSpPr/>
          <p:nvPr/>
        </p:nvSpPr>
        <p:spPr>
          <a:xfrm>
            <a:off x="3429000" y="4864608"/>
            <a:ext cx="7223760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traceability report and KPI dashboards</a:t>
            </a:r>
            <a:endParaRPr lang="en-US" sz="780" dirty="0"/>
          </a:p>
        </p:txBody>
      </p:sp>
      <p:sp>
        <p:nvSpPr>
          <p:cNvPr id="40" name="Shape 38"/>
          <p:cNvSpPr/>
          <p:nvPr/>
        </p:nvSpPr>
        <p:spPr>
          <a:xfrm>
            <a:off x="594360" y="5321808"/>
            <a:ext cx="10972800" cy="420624"/>
          </a:xfrm>
          <a:prstGeom prst="roundRect">
            <a:avLst>
              <a:gd name="adj" fmla="val 15217"/>
            </a:avLst>
          </a:prstGeom>
          <a:solidFill>
            <a:srgbClr val="ECFDF5"/>
          </a:solidFill>
          <a:ln w="10160">
            <a:solidFill>
              <a:srgbClr val="10B981">
                <a:alpha val="92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86384" y="5422392"/>
            <a:ext cx="310896" cy="256032"/>
          </a:xfrm>
          <a:prstGeom prst="roundRect">
            <a:avLst>
              <a:gd name="adj" fmla="val 28571"/>
            </a:avLst>
          </a:prstGeom>
          <a:solidFill>
            <a:srgbClr val="A7F3D0"/>
          </a:solidFill>
          <a:ln w="12700">
            <a:solidFill>
              <a:srgbClr val="A7F3D0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59536" y="5472684"/>
            <a:ext cx="164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047857"/>
                </a:solidFill>
              </a:rPr>
              <a:t>8</a:t>
            </a:r>
            <a:endParaRPr lang="en-US" sz="730" dirty="0"/>
          </a:p>
        </p:txBody>
      </p:sp>
      <p:sp>
        <p:nvSpPr>
          <p:cNvPr id="43" name="Text 41"/>
          <p:cNvSpPr/>
          <p:nvPr/>
        </p:nvSpPr>
        <p:spPr>
          <a:xfrm>
            <a:off x="1261872" y="5422392"/>
            <a:ext cx="1965960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Manager</a:t>
            </a:r>
            <a:endParaRPr lang="en-US" sz="940" dirty="0"/>
          </a:p>
        </p:txBody>
      </p:sp>
      <p:sp>
        <p:nvSpPr>
          <p:cNvPr id="44" name="Text 42"/>
          <p:cNvSpPr/>
          <p:nvPr/>
        </p:nvSpPr>
        <p:spPr>
          <a:xfrm>
            <a:off x="3429000" y="5422392"/>
            <a:ext cx="7223760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Grant temporary extra view to one employee and show activity log</a:t>
            </a:r>
            <a:endParaRPr lang="en-US" sz="780" dirty="0"/>
          </a:p>
        </p:txBody>
      </p:sp>
      <p:sp>
        <p:nvSpPr>
          <p:cNvPr id="45" name="Shape 43"/>
          <p:cNvSpPr/>
          <p:nvPr/>
        </p:nvSpPr>
        <p:spPr>
          <a:xfrm>
            <a:off x="438912" y="6446520"/>
            <a:ext cx="11292840" cy="0"/>
          </a:xfrm>
          <a:prstGeom prst="line">
            <a:avLst/>
          </a:prstGeom>
          <a:noFill/>
          <a:ln w="7620">
            <a:solidFill>
              <a:srgbClr val="CBD5E1">
                <a:alpha val="55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38912" y="6565392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Tan90 Manufacturing ERP MVP • Client-ready architecture deck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11228832" y="654710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35</a:t>
            </a:r>
            <a:endParaRPr lang="en-US" sz="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329184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047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MVP ACCEPTANCE CRITERIA</a:t>
            </a:r>
            <a:endParaRPr lang="en-US" sz="820" dirty="0"/>
          </a:p>
        </p:txBody>
      </p:sp>
      <p:sp>
        <p:nvSpPr>
          <p:cNvPr id="3" name="Text 1"/>
          <p:cNvSpPr/>
          <p:nvPr/>
        </p:nvSpPr>
        <p:spPr>
          <a:xfrm>
            <a:off x="438912" y="566928"/>
            <a:ext cx="9875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we know the MVP is complete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38912" y="1133856"/>
            <a:ext cx="98755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The MVP is complete when it can run the full demo story and prove access control without breaking current pages.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600200"/>
            <a:ext cx="5102352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1810512"/>
            <a:ext cx="329184" cy="256032"/>
          </a:xfrm>
          <a:prstGeom prst="roundRect">
            <a:avLst>
              <a:gd name="adj" fmla="val 28571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9264" y="1860804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2563EB"/>
                </a:solidFill>
              </a:rPr>
              <a:t>1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344168" y="1801368"/>
            <a:ext cx="146304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 flow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898648" y="1801368"/>
            <a:ext cx="251460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Demand → MRP → PO → Gate → QC → GRN → Stock → WO → Output → Final QC → Dispatch → POD</a:t>
            </a:r>
            <a:endParaRPr lang="en-US" sz="760" dirty="0"/>
          </a:p>
        </p:txBody>
      </p:sp>
      <p:sp>
        <p:nvSpPr>
          <p:cNvPr id="10" name="Shape 8"/>
          <p:cNvSpPr/>
          <p:nvPr/>
        </p:nvSpPr>
        <p:spPr>
          <a:xfrm>
            <a:off x="6217920" y="1600200"/>
            <a:ext cx="5102352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28232" y="1810512"/>
            <a:ext cx="329184" cy="256032"/>
          </a:xfrm>
          <a:prstGeom prst="roundRect">
            <a:avLst>
              <a:gd name="adj" fmla="val 28571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01384" y="1860804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2563EB"/>
                </a:solidFill>
              </a:rPr>
              <a:t>2</a:t>
            </a:r>
            <a:endParaRPr lang="en-US" sz="730" dirty="0"/>
          </a:p>
        </p:txBody>
      </p:sp>
      <p:sp>
        <p:nvSpPr>
          <p:cNvPr id="13" name="Text 11"/>
          <p:cNvSpPr/>
          <p:nvPr/>
        </p:nvSpPr>
        <p:spPr>
          <a:xfrm>
            <a:off x="6876288" y="1801368"/>
            <a:ext cx="146304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 hierarchy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430768" y="1801368"/>
            <a:ext cx="251460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Super Admin, Head, Manager, Executive, Guard/Vendor demo logins with correct menus and data</a:t>
            </a:r>
            <a:endParaRPr lang="en-US" sz="760" dirty="0"/>
          </a:p>
        </p:txBody>
      </p:sp>
      <p:sp>
        <p:nvSpPr>
          <p:cNvPr id="15" name="Shape 13"/>
          <p:cNvSpPr/>
          <p:nvPr/>
        </p:nvSpPr>
        <p:spPr>
          <a:xfrm>
            <a:off x="685800" y="2679192"/>
            <a:ext cx="5102352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96112" y="2889504"/>
            <a:ext cx="329184" cy="256032"/>
          </a:xfrm>
          <a:prstGeom prst="roundRect">
            <a:avLst>
              <a:gd name="adj" fmla="val 28571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9264" y="2939796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2563EB"/>
                </a:solidFill>
              </a:rPr>
              <a:t>3</a:t>
            </a:r>
            <a:endParaRPr lang="en-US" sz="730" dirty="0"/>
          </a:p>
        </p:txBody>
      </p:sp>
      <p:sp>
        <p:nvSpPr>
          <p:cNvPr id="18" name="Text 16"/>
          <p:cNvSpPr/>
          <p:nvPr/>
        </p:nvSpPr>
        <p:spPr>
          <a:xfrm>
            <a:off x="1344168" y="2880360"/>
            <a:ext cx="146304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permissions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898648" y="2880360"/>
            <a:ext cx="251460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Route/action/field/data/widget decisions are enforced server-side and logged</a:t>
            </a:r>
            <a:endParaRPr lang="en-US" sz="760" dirty="0"/>
          </a:p>
        </p:txBody>
      </p:sp>
      <p:sp>
        <p:nvSpPr>
          <p:cNvPr id="20" name="Shape 18"/>
          <p:cNvSpPr/>
          <p:nvPr/>
        </p:nvSpPr>
        <p:spPr>
          <a:xfrm>
            <a:off x="6217920" y="2679192"/>
            <a:ext cx="5102352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28232" y="2889504"/>
            <a:ext cx="329184" cy="256032"/>
          </a:xfrm>
          <a:prstGeom prst="roundRect">
            <a:avLst>
              <a:gd name="adj" fmla="val 28571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01384" y="2939796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2563EB"/>
                </a:solidFill>
              </a:rPr>
              <a:t>4</a:t>
            </a:r>
            <a:endParaRPr lang="en-US" sz="730" dirty="0"/>
          </a:p>
        </p:txBody>
      </p:sp>
      <p:sp>
        <p:nvSpPr>
          <p:cNvPr id="23" name="Text 21"/>
          <p:cNvSpPr/>
          <p:nvPr/>
        </p:nvSpPr>
        <p:spPr>
          <a:xfrm>
            <a:off x="6876288" y="2880360"/>
            <a:ext cx="146304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 builder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430768" y="2880360"/>
            <a:ext cx="251460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Org, vertical, role, team and user dashboards can be published and customised safely</a:t>
            </a:r>
            <a:endParaRPr lang="en-US" sz="760" dirty="0"/>
          </a:p>
        </p:txBody>
      </p:sp>
      <p:sp>
        <p:nvSpPr>
          <p:cNvPr id="25" name="Shape 23"/>
          <p:cNvSpPr/>
          <p:nvPr/>
        </p:nvSpPr>
        <p:spPr>
          <a:xfrm>
            <a:off x="685800" y="3758184"/>
            <a:ext cx="5102352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96112" y="3968496"/>
            <a:ext cx="329184" cy="256032"/>
          </a:xfrm>
          <a:prstGeom prst="roundRect">
            <a:avLst>
              <a:gd name="adj" fmla="val 28571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9264" y="4018788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2563EB"/>
                </a:solidFill>
              </a:rPr>
              <a:t>5</a:t>
            </a:r>
            <a:endParaRPr lang="en-US" sz="730" dirty="0"/>
          </a:p>
        </p:txBody>
      </p:sp>
      <p:sp>
        <p:nvSpPr>
          <p:cNvPr id="28" name="Text 26"/>
          <p:cNvSpPr/>
          <p:nvPr/>
        </p:nvSpPr>
        <p:spPr>
          <a:xfrm>
            <a:off x="1344168" y="3959352"/>
            <a:ext cx="146304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Traceability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2898648" y="3959352"/>
            <a:ext cx="251460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Finished batch traces backward to vendor lots and forward to dispatch/customer</a:t>
            </a:r>
            <a:endParaRPr lang="en-US" sz="760" dirty="0"/>
          </a:p>
        </p:txBody>
      </p:sp>
      <p:sp>
        <p:nvSpPr>
          <p:cNvPr id="30" name="Shape 28"/>
          <p:cNvSpPr/>
          <p:nvPr/>
        </p:nvSpPr>
        <p:spPr>
          <a:xfrm>
            <a:off x="6217920" y="3758184"/>
            <a:ext cx="5102352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0160">
            <a:solidFill>
              <a:srgbClr val="10B981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428232" y="3968496"/>
            <a:ext cx="329184" cy="256032"/>
          </a:xfrm>
          <a:prstGeom prst="roundRect">
            <a:avLst>
              <a:gd name="adj" fmla="val 28571"/>
            </a:avLst>
          </a:prstGeom>
          <a:solidFill>
            <a:srgbClr val="A7F3D0"/>
          </a:solidFill>
          <a:ln w="12700">
            <a:solidFill>
              <a:srgbClr val="A7F3D0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01384" y="4018788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047857"/>
                </a:solidFill>
              </a:rPr>
              <a:t>6</a:t>
            </a:r>
            <a:endParaRPr lang="en-US" sz="730" dirty="0"/>
          </a:p>
        </p:txBody>
      </p:sp>
      <p:sp>
        <p:nvSpPr>
          <p:cNvPr id="33" name="Text 31"/>
          <p:cNvSpPr/>
          <p:nvPr/>
        </p:nvSpPr>
        <p:spPr>
          <a:xfrm>
            <a:off x="6876288" y="3959352"/>
            <a:ext cx="146304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Compatibility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430768" y="3959352"/>
            <a:ext cx="251460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Existing Tan90 pages and current workflows remain unchanged unless user is opted into advanced mode</a:t>
            </a:r>
            <a:endParaRPr lang="en-US" sz="760" dirty="0"/>
          </a:p>
        </p:txBody>
      </p:sp>
      <p:sp>
        <p:nvSpPr>
          <p:cNvPr id="35" name="Shape 33"/>
          <p:cNvSpPr/>
          <p:nvPr/>
        </p:nvSpPr>
        <p:spPr>
          <a:xfrm>
            <a:off x="438912" y="6446520"/>
            <a:ext cx="11292840" cy="0"/>
          </a:xfrm>
          <a:prstGeom prst="line">
            <a:avLst/>
          </a:prstGeom>
          <a:noFill/>
          <a:ln w="7620">
            <a:solidFill>
              <a:srgbClr val="CBD5E1">
                <a:alpha val="55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8912" y="6565392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Tan90 Manufacturing ERP MVP • Client-ready architecture deck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11228832" y="654710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36</a:t>
            </a:r>
            <a:endParaRPr lang="en-US" sz="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329184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047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DECISIONS NEEDED</a:t>
            </a:r>
            <a:endParaRPr lang="en-US" sz="820" dirty="0"/>
          </a:p>
        </p:txBody>
      </p:sp>
      <p:sp>
        <p:nvSpPr>
          <p:cNvPr id="3" name="Text 1"/>
          <p:cNvSpPr/>
          <p:nvPr/>
        </p:nvSpPr>
        <p:spPr>
          <a:xfrm>
            <a:off x="438912" y="566928"/>
            <a:ext cx="9875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Confirm before implementation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38912" y="1133856"/>
            <a:ext cx="98755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These decisions will lock scope and prevent overbuilding.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664208"/>
            <a:ext cx="3090672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87552" y="1920240"/>
            <a:ext cx="251460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Plants and warehouses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1042416" y="2267712"/>
            <a:ext cx="242316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list of manufacturing units, raw-material warehouses and FG warehouses.</a:t>
            </a:r>
            <a:endParaRPr lang="en-US" sz="780" dirty="0"/>
          </a:p>
        </p:txBody>
      </p:sp>
      <p:sp>
        <p:nvSpPr>
          <p:cNvPr id="8" name="Shape 6"/>
          <p:cNvSpPr/>
          <p:nvPr/>
        </p:nvSpPr>
        <p:spPr>
          <a:xfrm>
            <a:off x="4389120" y="1664208"/>
            <a:ext cx="3090672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45152" y="1920240"/>
            <a:ext cx="251460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Products and BOMs</a:t>
            </a:r>
            <a:endParaRPr lang="en-US" sz="1220" dirty="0"/>
          </a:p>
        </p:txBody>
      </p:sp>
      <p:sp>
        <p:nvSpPr>
          <p:cNvPr id="10" name="Text 8"/>
          <p:cNvSpPr/>
          <p:nvPr/>
        </p:nvSpPr>
        <p:spPr>
          <a:xfrm>
            <a:off x="4700016" y="2267712"/>
            <a:ext cx="242316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Thermal Sachet, Thermal Panel and top SKUs to seed in demo data.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8046720" y="1664208"/>
            <a:ext cx="3090672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02752" y="1920240"/>
            <a:ext cx="251460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QC parameters</a:t>
            </a:r>
            <a:endParaRPr lang="en-US" sz="1220" dirty="0"/>
          </a:p>
        </p:txBody>
      </p:sp>
      <p:sp>
        <p:nvSpPr>
          <p:cNvPr id="13" name="Text 11"/>
          <p:cNvSpPr/>
          <p:nvPr/>
        </p:nvSpPr>
        <p:spPr>
          <a:xfrm>
            <a:off x="8357616" y="2267712"/>
            <a:ext cx="242316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Incoming, in-process and final QC specification fields.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731520" y="3108960"/>
            <a:ext cx="3090672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87552" y="3364992"/>
            <a:ext cx="251460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hierarchy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1042416" y="3712464"/>
            <a:ext cx="242316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 department heads, managers, teams and approval limits.</a:t>
            </a:r>
            <a:endParaRPr lang="en-US" sz="780" dirty="0"/>
          </a:p>
        </p:txBody>
      </p:sp>
      <p:sp>
        <p:nvSpPr>
          <p:cNvPr id="17" name="Shape 15"/>
          <p:cNvSpPr/>
          <p:nvPr/>
        </p:nvSpPr>
        <p:spPr>
          <a:xfrm>
            <a:off x="4389120" y="3108960"/>
            <a:ext cx="3090672" cy="960120"/>
          </a:xfrm>
          <a:prstGeom prst="roundRect">
            <a:avLst>
              <a:gd name="adj" fmla="val 6667"/>
            </a:avLst>
          </a:prstGeom>
          <a:solidFill>
            <a:srgbClr val="FEF3C7"/>
          </a:solidFill>
          <a:ln w="10160">
            <a:solidFill>
              <a:srgbClr val="FCD34D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645152" y="3364992"/>
            <a:ext cx="251460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92400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Barcode / QR</a:t>
            </a:r>
            <a:endParaRPr lang="en-US" sz="1220" dirty="0"/>
          </a:p>
        </p:txBody>
      </p:sp>
      <p:sp>
        <p:nvSpPr>
          <p:cNvPr id="19" name="Text 17"/>
          <p:cNvSpPr/>
          <p:nvPr/>
        </p:nvSpPr>
        <p:spPr>
          <a:xfrm>
            <a:off x="4700016" y="3712464"/>
            <a:ext cx="242316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Needed in MVP or Phase 2?</a:t>
            </a:r>
            <a:endParaRPr lang="en-US" sz="780" dirty="0"/>
          </a:p>
        </p:txBody>
      </p:sp>
      <p:sp>
        <p:nvSpPr>
          <p:cNvPr id="20" name="Shape 18"/>
          <p:cNvSpPr/>
          <p:nvPr/>
        </p:nvSpPr>
        <p:spPr>
          <a:xfrm>
            <a:off x="8046720" y="3108960"/>
            <a:ext cx="3090672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E5E7EB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302752" y="3364992"/>
            <a:ext cx="251460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Finance integration</a:t>
            </a:r>
            <a:endParaRPr lang="en-US" sz="1220" dirty="0"/>
          </a:p>
        </p:txBody>
      </p:sp>
      <p:sp>
        <p:nvSpPr>
          <p:cNvPr id="22" name="Text 20"/>
          <p:cNvSpPr/>
          <p:nvPr/>
        </p:nvSpPr>
        <p:spPr>
          <a:xfrm>
            <a:off x="8357616" y="3712464"/>
            <a:ext cx="242316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3-way match first, or immediate Tally/Zoho integration?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1005840" y="4983480"/>
            <a:ext cx="10195560" cy="658368"/>
          </a:xfrm>
          <a:prstGeom prst="roundRect">
            <a:avLst>
              <a:gd name="adj" fmla="val 9722"/>
            </a:avLst>
          </a:prstGeom>
          <a:solidFill>
            <a:srgbClr val="ECFDF5"/>
          </a:solidFill>
          <a:ln w="10160">
            <a:solidFill>
              <a:srgbClr val="A7F3D0">
                <a:alpha val="92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325880" y="5212080"/>
            <a:ext cx="960120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47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decisions: convert this deck into Codex implementation plan + Laravel migrations/services/policies/UI tasks.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38912" y="6446520"/>
            <a:ext cx="11292840" cy="0"/>
          </a:xfrm>
          <a:prstGeom prst="line">
            <a:avLst/>
          </a:prstGeom>
          <a:noFill/>
          <a:ln w="7620">
            <a:solidFill>
              <a:srgbClr val="CBD5E1">
                <a:alpha val="5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" y="6565392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Tan90 Manufacturing ERP MVP • Client-ready architecture deck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11228832" y="654710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37</a:t>
            </a:r>
            <a:endParaRPr lang="en-US" sz="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329184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047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 REFERENCE BOARD</a:t>
            </a:r>
            <a:endParaRPr lang="en-US" sz="820" dirty="0"/>
          </a:p>
        </p:txBody>
      </p:sp>
      <p:sp>
        <p:nvSpPr>
          <p:cNvPr id="3" name="Text 1"/>
          <p:cNvSpPr/>
          <p:nvPr/>
        </p:nvSpPr>
        <p:spPr>
          <a:xfrm>
            <a:off x="438912" y="566928"/>
            <a:ext cx="9875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Screens already aligned for MVP approval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38912" y="1133856"/>
            <a:ext cx="98755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These screens communicate the desired visual direction for the client walkthrough.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16636" y="1431036"/>
            <a:ext cx="3337560" cy="1581912"/>
          </a:xfrm>
          <a:prstGeom prst="roundRect">
            <a:avLst>
              <a:gd name="adj" fmla="val 4046"/>
            </a:avLst>
          </a:prstGeom>
          <a:solidFill>
            <a:srgbClr val="FFFFFF"/>
          </a:solidFill>
          <a:ln w="10160">
            <a:solidFill>
              <a:srgbClr val="CBD5E1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pic>
        <p:nvPicPr>
          <p:cNvPr id="6" name="Image 0" descr="/mnt/data/tan90-unified-mvp/preview-dashboard.png">    </p:cNvPr>
          <p:cNvPicPr>
            <a:picLocks noChangeAspect="1"/>
          </p:cNvPicPr>
          <p:nvPr/>
        </p:nvPicPr>
        <p:blipFill>
          <a:blip r:embed="rId1"/>
          <a:srcRect l="3000" r="-15386" t="3000" b="21000"/>
          <a:stretch/>
        </p:blipFill>
        <p:spPr>
          <a:xfrm>
            <a:off x="530352" y="1444752"/>
            <a:ext cx="3310128" cy="1554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311396" y="1431036"/>
            <a:ext cx="3337560" cy="1581912"/>
          </a:xfrm>
          <a:prstGeom prst="roundRect">
            <a:avLst>
              <a:gd name="adj" fmla="val 4046"/>
            </a:avLst>
          </a:prstGeom>
          <a:solidFill>
            <a:srgbClr val="FFFFFF"/>
          </a:solidFill>
          <a:ln w="10160">
            <a:solidFill>
              <a:srgbClr val="CBD5E1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pic>
        <p:nvPicPr>
          <p:cNvPr id="8" name="Image 1" descr="/mnt/data/tan90-unified-mvp/preview-source-stock.png">    </p:cNvPr>
          <p:cNvPicPr>
            <a:picLocks noChangeAspect="1"/>
          </p:cNvPicPr>
          <p:nvPr/>
        </p:nvPicPr>
        <p:blipFill>
          <a:blip r:embed="rId2"/>
          <a:srcRect l="3000" r="-15386" t="3000" b="21000"/>
          <a:stretch/>
        </p:blipFill>
        <p:spPr>
          <a:xfrm>
            <a:off x="4325112" y="1444752"/>
            <a:ext cx="3310128" cy="155448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8106156" y="1431036"/>
            <a:ext cx="3337560" cy="1581912"/>
          </a:xfrm>
          <a:prstGeom prst="roundRect">
            <a:avLst>
              <a:gd name="adj" fmla="val 4046"/>
            </a:avLst>
          </a:prstGeom>
          <a:solidFill>
            <a:srgbClr val="FFFFFF"/>
          </a:solidFill>
          <a:ln w="10160">
            <a:solidFill>
              <a:srgbClr val="CBD5E1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pic>
        <p:nvPicPr>
          <p:cNvPr id="10" name="Image 2" descr="/mnt/data/tan90-unified-mvp/preview-role-studio.png">    </p:cNvPr>
          <p:cNvPicPr>
            <a:picLocks noChangeAspect="1"/>
          </p:cNvPicPr>
          <p:nvPr/>
        </p:nvPicPr>
        <p:blipFill>
          <a:blip r:embed="rId3"/>
          <a:srcRect l="3000" r="-15386" t="3000" b="21000"/>
          <a:stretch/>
        </p:blipFill>
        <p:spPr>
          <a:xfrm>
            <a:off x="8119872" y="1444752"/>
            <a:ext cx="3310128" cy="155448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516636" y="3488436"/>
            <a:ext cx="3337560" cy="1581912"/>
          </a:xfrm>
          <a:prstGeom prst="roundRect">
            <a:avLst>
              <a:gd name="adj" fmla="val 4046"/>
            </a:avLst>
          </a:prstGeom>
          <a:solidFill>
            <a:srgbClr val="FFFFFF"/>
          </a:solidFill>
          <a:ln w="10160">
            <a:solidFill>
              <a:srgbClr val="CBD5E1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pic>
        <p:nvPicPr>
          <p:cNvPr id="12" name="Image 3" descr="/mnt/data/tan90-unified-mvp/preview-dashboard-builder.png">    </p:cNvPr>
          <p:cNvPicPr>
            <a:picLocks noChangeAspect="1"/>
          </p:cNvPicPr>
          <p:nvPr/>
        </p:nvPicPr>
        <p:blipFill>
          <a:blip r:embed="rId4"/>
          <a:srcRect l="3000" r="-15386" t="3000" b="21000"/>
          <a:stretch/>
        </p:blipFill>
        <p:spPr>
          <a:xfrm>
            <a:off x="530352" y="3502152"/>
            <a:ext cx="3310128" cy="1554480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4311396" y="3488436"/>
            <a:ext cx="3337560" cy="1581912"/>
          </a:xfrm>
          <a:prstGeom prst="roundRect">
            <a:avLst>
              <a:gd name="adj" fmla="val 4046"/>
            </a:avLst>
          </a:prstGeom>
          <a:solidFill>
            <a:srgbClr val="FFFFFF"/>
          </a:solidFill>
          <a:ln w="10160">
            <a:solidFill>
              <a:srgbClr val="CBD5E1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pic>
        <p:nvPicPr>
          <p:cNvPr id="14" name="Image 4" descr="/mnt/data/4d72ca3d-117c-4ed2-9c70-71e82e00067d.png">    </p:cNvPr>
          <p:cNvPicPr>
            <a:picLocks noChangeAspect="1"/>
          </p:cNvPicPr>
          <p:nvPr/>
        </p:nvPicPr>
        <p:blipFill>
          <a:blip r:embed="rId5"/>
          <a:srcRect l="3000" r="-80" t="3000" b="21000"/>
          <a:stretch/>
        </p:blipFill>
        <p:spPr>
          <a:xfrm>
            <a:off x="4325112" y="3502152"/>
            <a:ext cx="3310128" cy="1554480"/>
          </a:xfrm>
          <a:prstGeom prst="rect">
            <a:avLst/>
          </a:prstGeom>
        </p:spPr>
      </p:pic>
      <p:sp>
        <p:nvSpPr>
          <p:cNvPr id="15" name="Shape 8"/>
          <p:cNvSpPr/>
          <p:nvPr/>
        </p:nvSpPr>
        <p:spPr>
          <a:xfrm>
            <a:off x="8106156" y="3488436"/>
            <a:ext cx="3337560" cy="1581912"/>
          </a:xfrm>
          <a:prstGeom prst="roundRect">
            <a:avLst>
              <a:gd name="adj" fmla="val 4046"/>
            </a:avLst>
          </a:prstGeom>
          <a:solidFill>
            <a:srgbClr val="FFFFFF"/>
          </a:solidFill>
          <a:ln w="10160">
            <a:solidFill>
              <a:srgbClr val="CBD5E1">
                <a:alpha val="92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4A3B8">
                <a:alpha val="18000"/>
              </a:srgbClr>
            </a:outerShdw>
          </a:effectLst>
        </p:spPr>
      </p:sp>
      <p:pic>
        <p:nvPicPr>
          <p:cNvPr id="16" name="Image 5" descr="/mnt/data/6ecec036-17ed-457e-a912-8f0f40556ab3.png">    </p:cNvPr>
          <p:cNvPicPr>
            <a:picLocks noChangeAspect="1"/>
          </p:cNvPicPr>
          <p:nvPr/>
        </p:nvPicPr>
        <p:blipFill>
          <a:blip r:embed="rId6"/>
          <a:srcRect l="3000" r="2262" t="3000" b="21000"/>
          <a:stretch/>
        </p:blipFill>
        <p:spPr>
          <a:xfrm>
            <a:off x="8119872" y="3502152"/>
            <a:ext cx="3310128" cy="1554480"/>
          </a:xfrm>
          <a:prstGeom prst="rect">
            <a:avLst/>
          </a:prstGeom>
        </p:spPr>
      </p:pic>
      <p:sp>
        <p:nvSpPr>
          <p:cNvPr id="17" name="Shape 9"/>
          <p:cNvSpPr/>
          <p:nvPr/>
        </p:nvSpPr>
        <p:spPr>
          <a:xfrm>
            <a:off x="1325880" y="3090672"/>
            <a:ext cx="1691640" cy="256032"/>
          </a:xfrm>
          <a:prstGeom prst="roundRect">
            <a:avLst>
              <a:gd name="adj" fmla="val 28571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1399032" y="3140964"/>
            <a:ext cx="1545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2563EB"/>
                </a:solidFill>
              </a:rPr>
              <a:t>Dynamic dashboard</a:t>
            </a:r>
            <a:endParaRPr lang="en-US" sz="730" dirty="0"/>
          </a:p>
        </p:txBody>
      </p:sp>
      <p:sp>
        <p:nvSpPr>
          <p:cNvPr id="19" name="Shape 11"/>
          <p:cNvSpPr/>
          <p:nvPr/>
        </p:nvSpPr>
        <p:spPr>
          <a:xfrm>
            <a:off x="5120640" y="3090672"/>
            <a:ext cx="1691640" cy="256032"/>
          </a:xfrm>
          <a:prstGeom prst="roundRect">
            <a:avLst>
              <a:gd name="adj" fmla="val 28571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20" name="Text 12"/>
          <p:cNvSpPr/>
          <p:nvPr/>
        </p:nvSpPr>
        <p:spPr>
          <a:xfrm>
            <a:off x="5193792" y="3140964"/>
            <a:ext cx="1545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2563EB"/>
                </a:solidFill>
              </a:rPr>
              <a:t>Source to Stock</a:t>
            </a:r>
            <a:endParaRPr lang="en-US" sz="730" dirty="0"/>
          </a:p>
        </p:txBody>
      </p:sp>
      <p:sp>
        <p:nvSpPr>
          <p:cNvPr id="21" name="Shape 13"/>
          <p:cNvSpPr/>
          <p:nvPr/>
        </p:nvSpPr>
        <p:spPr>
          <a:xfrm>
            <a:off x="8915400" y="3090672"/>
            <a:ext cx="1691640" cy="256032"/>
          </a:xfrm>
          <a:prstGeom prst="roundRect">
            <a:avLst>
              <a:gd name="adj" fmla="val 28571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22" name="Text 14"/>
          <p:cNvSpPr/>
          <p:nvPr/>
        </p:nvSpPr>
        <p:spPr>
          <a:xfrm>
            <a:off x="8988552" y="3140964"/>
            <a:ext cx="1545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2563EB"/>
                </a:solidFill>
              </a:rPr>
              <a:t>Role Studio</a:t>
            </a:r>
            <a:endParaRPr lang="en-US" sz="730" dirty="0"/>
          </a:p>
        </p:txBody>
      </p:sp>
      <p:sp>
        <p:nvSpPr>
          <p:cNvPr id="23" name="Shape 15"/>
          <p:cNvSpPr/>
          <p:nvPr/>
        </p:nvSpPr>
        <p:spPr>
          <a:xfrm>
            <a:off x="1325880" y="5148072"/>
            <a:ext cx="1691640" cy="256032"/>
          </a:xfrm>
          <a:prstGeom prst="roundRect">
            <a:avLst>
              <a:gd name="adj" fmla="val 28571"/>
            </a:avLst>
          </a:prstGeom>
          <a:solidFill>
            <a:srgbClr val="DCFCE7"/>
          </a:solidFill>
          <a:ln w="12700">
            <a:solidFill>
              <a:srgbClr val="DCFCE7">
                <a:alpha val="0"/>
              </a:srgbClr>
            </a:solidFill>
            <a:prstDash val="solid"/>
          </a:ln>
        </p:spPr>
      </p:sp>
      <p:sp>
        <p:nvSpPr>
          <p:cNvPr id="24" name="Text 16"/>
          <p:cNvSpPr/>
          <p:nvPr/>
        </p:nvSpPr>
        <p:spPr>
          <a:xfrm>
            <a:off x="1399032" y="5198364"/>
            <a:ext cx="1545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047857"/>
                </a:solidFill>
              </a:rPr>
              <a:t>Dashboard Builder</a:t>
            </a:r>
            <a:endParaRPr lang="en-US" sz="730" dirty="0"/>
          </a:p>
        </p:txBody>
      </p:sp>
      <p:sp>
        <p:nvSpPr>
          <p:cNvPr id="25" name="Shape 17"/>
          <p:cNvSpPr/>
          <p:nvPr/>
        </p:nvSpPr>
        <p:spPr>
          <a:xfrm>
            <a:off x="5120640" y="5148072"/>
            <a:ext cx="1691640" cy="256032"/>
          </a:xfrm>
          <a:prstGeom prst="roundRect">
            <a:avLst>
              <a:gd name="adj" fmla="val 28571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26" name="Text 18"/>
          <p:cNvSpPr/>
          <p:nvPr/>
        </p:nvSpPr>
        <p:spPr>
          <a:xfrm>
            <a:off x="5193792" y="5198364"/>
            <a:ext cx="1545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2563EB"/>
                </a:solidFill>
              </a:rPr>
              <a:t>Manage Roles</a:t>
            </a:r>
            <a:endParaRPr lang="en-US" sz="730" dirty="0"/>
          </a:p>
        </p:txBody>
      </p:sp>
      <p:sp>
        <p:nvSpPr>
          <p:cNvPr id="27" name="Shape 19"/>
          <p:cNvSpPr/>
          <p:nvPr/>
        </p:nvSpPr>
        <p:spPr>
          <a:xfrm>
            <a:off x="8915400" y="5148072"/>
            <a:ext cx="1691640" cy="256032"/>
          </a:xfrm>
          <a:prstGeom prst="roundRect">
            <a:avLst>
              <a:gd name="adj" fmla="val 28571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28" name="Text 20"/>
          <p:cNvSpPr/>
          <p:nvPr/>
        </p:nvSpPr>
        <p:spPr>
          <a:xfrm>
            <a:off x="8988552" y="5198364"/>
            <a:ext cx="1545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2563EB"/>
                </a:solidFill>
              </a:rPr>
              <a:t>Manage Users</a:t>
            </a:r>
            <a:endParaRPr lang="en-US" sz="730" dirty="0"/>
          </a:p>
        </p:txBody>
      </p:sp>
      <p:sp>
        <p:nvSpPr>
          <p:cNvPr id="29" name="Shape 21"/>
          <p:cNvSpPr/>
          <p:nvPr/>
        </p:nvSpPr>
        <p:spPr>
          <a:xfrm>
            <a:off x="438912" y="6446520"/>
            <a:ext cx="11292840" cy="0"/>
          </a:xfrm>
          <a:prstGeom prst="line">
            <a:avLst/>
          </a:prstGeom>
          <a:noFill/>
          <a:ln w="7620">
            <a:solidFill>
              <a:srgbClr val="CBD5E1">
                <a:alpha val="55000"/>
              </a:srgbClr>
            </a:solidFill>
            <a:prstDash val="solid"/>
          </a:ln>
        </p:spPr>
      </p:sp>
      <p:sp>
        <p:nvSpPr>
          <p:cNvPr id="30" name="Text 22"/>
          <p:cNvSpPr/>
          <p:nvPr/>
        </p:nvSpPr>
        <p:spPr>
          <a:xfrm>
            <a:off x="438912" y="6565392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Tan90 Manufacturing ERP MVP • Client-ready architecture deck</a:t>
            </a:r>
            <a:endParaRPr lang="en-US" sz="700" dirty="0"/>
          </a:p>
        </p:txBody>
      </p:sp>
      <p:sp>
        <p:nvSpPr>
          <p:cNvPr id="31" name="Text 23"/>
          <p:cNvSpPr/>
          <p:nvPr/>
        </p:nvSpPr>
        <p:spPr>
          <a:xfrm>
            <a:off x="11228832" y="654710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38</a:t>
            </a:r>
            <a:endParaRPr lang="en-US" sz="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329184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86EFA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REFERENCES</a:t>
            </a:r>
            <a:endParaRPr lang="en-US" sz="820" dirty="0"/>
          </a:p>
        </p:txBody>
      </p:sp>
      <p:sp>
        <p:nvSpPr>
          <p:cNvPr id="3" name="Text 1"/>
          <p:cNvSpPr/>
          <p:nvPr/>
        </p:nvSpPr>
        <p:spPr>
          <a:xfrm>
            <a:off x="438912" y="566928"/>
            <a:ext cx="9875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 sources used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38912" y="1133856"/>
            <a:ext cx="98755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Sources are used to support the MVP scope, access-control model and traceability approach.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1481328"/>
            <a:ext cx="10881360" cy="347472"/>
          </a:xfrm>
          <a:prstGeom prst="roundRect">
            <a:avLst>
              <a:gd name="adj" fmla="val 18421"/>
            </a:avLst>
          </a:prstGeom>
          <a:solidFill>
            <a:srgbClr val="0F172A"/>
          </a:solidFill>
          <a:ln w="10160">
            <a:solidFill>
              <a:srgbClr val="334155">
                <a:alpha val="92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572768"/>
            <a:ext cx="2331720" cy="731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Tan90 live blueprint</a:t>
            </a:r>
            <a:endParaRPr lang="en-US" sz="830" dirty="0"/>
          </a:p>
        </p:txBody>
      </p:sp>
      <p:sp>
        <p:nvSpPr>
          <p:cNvPr id="7" name="Text 5"/>
          <p:cNvSpPr/>
          <p:nvPr/>
        </p:nvSpPr>
        <p:spPr>
          <a:xfrm>
            <a:off x="3520440" y="1572768"/>
            <a:ext cx="7269480" cy="731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tan90.tesmed.in — MVP scope and cockpit direction</a:t>
            </a:r>
            <a:endParaRPr lang="en-US" sz="730" dirty="0"/>
          </a:p>
        </p:txBody>
      </p:sp>
      <p:sp>
        <p:nvSpPr>
          <p:cNvPr id="8" name="Shape 6"/>
          <p:cNvSpPr/>
          <p:nvPr/>
        </p:nvSpPr>
        <p:spPr>
          <a:xfrm>
            <a:off x="658368" y="1956816"/>
            <a:ext cx="10881360" cy="347472"/>
          </a:xfrm>
          <a:prstGeom prst="roundRect">
            <a:avLst>
              <a:gd name="adj" fmla="val 18421"/>
            </a:avLst>
          </a:prstGeom>
          <a:solidFill>
            <a:srgbClr val="111827"/>
          </a:solidFill>
          <a:ln w="10160">
            <a:solidFill>
              <a:srgbClr val="334155">
                <a:alpha val="92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048256"/>
            <a:ext cx="2331720" cy="731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Tan90 modules page</a:t>
            </a:r>
            <a:endParaRPr lang="en-US" sz="830" dirty="0"/>
          </a:p>
        </p:txBody>
      </p:sp>
      <p:sp>
        <p:nvSpPr>
          <p:cNvPr id="10" name="Text 8"/>
          <p:cNvSpPr/>
          <p:nvPr/>
        </p:nvSpPr>
        <p:spPr>
          <a:xfrm>
            <a:off x="3520440" y="2048256"/>
            <a:ext cx="7269480" cy="731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tan90.tesmed.in/modules.html — module explorer intent</a:t>
            </a:r>
            <a:endParaRPr lang="en-US" sz="730" dirty="0"/>
          </a:p>
        </p:txBody>
      </p:sp>
      <p:sp>
        <p:nvSpPr>
          <p:cNvPr id="11" name="Shape 9"/>
          <p:cNvSpPr/>
          <p:nvPr/>
        </p:nvSpPr>
        <p:spPr>
          <a:xfrm>
            <a:off x="658368" y="2432304"/>
            <a:ext cx="10881360" cy="347472"/>
          </a:xfrm>
          <a:prstGeom prst="roundRect">
            <a:avLst>
              <a:gd name="adj" fmla="val 18421"/>
            </a:avLst>
          </a:prstGeom>
          <a:solidFill>
            <a:srgbClr val="0F172A"/>
          </a:solidFill>
          <a:ln w="10160">
            <a:solidFill>
              <a:srgbClr val="334155">
                <a:alpha val="92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523744"/>
            <a:ext cx="2331720" cy="731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Tan90 roadmap</a:t>
            </a:r>
            <a:endParaRPr lang="en-US" sz="830" dirty="0"/>
          </a:p>
        </p:txBody>
      </p:sp>
      <p:sp>
        <p:nvSpPr>
          <p:cNvPr id="13" name="Text 11"/>
          <p:cNvSpPr/>
          <p:nvPr/>
        </p:nvSpPr>
        <p:spPr>
          <a:xfrm>
            <a:off x="3520440" y="2523744"/>
            <a:ext cx="7269480" cy="731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tan90.tesmed.in/roadmap.html — MVP phases and demo script</a:t>
            </a:r>
            <a:endParaRPr lang="en-US" sz="730" dirty="0"/>
          </a:p>
        </p:txBody>
      </p:sp>
      <p:sp>
        <p:nvSpPr>
          <p:cNvPr id="14" name="Shape 12"/>
          <p:cNvSpPr/>
          <p:nvPr/>
        </p:nvSpPr>
        <p:spPr>
          <a:xfrm>
            <a:off x="658368" y="2907792"/>
            <a:ext cx="10881360" cy="347472"/>
          </a:xfrm>
          <a:prstGeom prst="roundRect">
            <a:avLst>
              <a:gd name="adj" fmla="val 18421"/>
            </a:avLst>
          </a:prstGeom>
          <a:solidFill>
            <a:srgbClr val="111827"/>
          </a:solidFill>
          <a:ln w="10160">
            <a:solidFill>
              <a:srgbClr val="334155">
                <a:alpha val="92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999232"/>
            <a:ext cx="2331720" cy="731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Uploaded Tan90 requirement notes</a:t>
            </a:r>
            <a:endParaRPr lang="en-US" sz="830" dirty="0"/>
          </a:p>
        </p:txBody>
      </p:sp>
      <p:sp>
        <p:nvSpPr>
          <p:cNvPr id="16" name="Text 14"/>
          <p:cNvSpPr/>
          <p:nvPr/>
        </p:nvSpPr>
        <p:spPr>
          <a:xfrm>
            <a:off x="3520440" y="2999232"/>
            <a:ext cx="7269480" cy="731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E2E flow, 10 core modules and 16 full modules</a:t>
            </a:r>
            <a:endParaRPr lang="en-US" sz="730" dirty="0"/>
          </a:p>
        </p:txBody>
      </p:sp>
      <p:sp>
        <p:nvSpPr>
          <p:cNvPr id="17" name="Shape 15"/>
          <p:cNvSpPr/>
          <p:nvPr/>
        </p:nvSpPr>
        <p:spPr>
          <a:xfrm>
            <a:off x="658368" y="3383280"/>
            <a:ext cx="10881360" cy="347472"/>
          </a:xfrm>
          <a:prstGeom prst="roundRect">
            <a:avLst>
              <a:gd name="adj" fmla="val 18421"/>
            </a:avLst>
          </a:prstGeom>
          <a:solidFill>
            <a:srgbClr val="0F172A"/>
          </a:solidFill>
          <a:ln w="10160">
            <a:solidFill>
              <a:srgbClr val="334155">
                <a:alpha val="92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474720"/>
            <a:ext cx="2331720" cy="731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Laravel repository</a:t>
            </a:r>
            <a:endParaRPr lang="en-US" sz="830" dirty="0"/>
          </a:p>
        </p:txBody>
      </p:sp>
      <p:sp>
        <p:nvSpPr>
          <p:cNvPr id="19" name="Text 17"/>
          <p:cNvSpPr/>
          <p:nvPr/>
        </p:nvSpPr>
        <p:spPr>
          <a:xfrm>
            <a:off x="3520440" y="3474720"/>
            <a:ext cx="7269480" cy="731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Laravel 13.8, Livewire/Volt, operational roles, master-data and BOM registries</a:t>
            </a:r>
            <a:endParaRPr lang="en-US" sz="730" dirty="0"/>
          </a:p>
        </p:txBody>
      </p:sp>
      <p:sp>
        <p:nvSpPr>
          <p:cNvPr id="20" name="Shape 18"/>
          <p:cNvSpPr/>
          <p:nvPr/>
        </p:nvSpPr>
        <p:spPr>
          <a:xfrm>
            <a:off x="658368" y="3858768"/>
            <a:ext cx="10881360" cy="347472"/>
          </a:xfrm>
          <a:prstGeom prst="roundRect">
            <a:avLst>
              <a:gd name="adj" fmla="val 18421"/>
            </a:avLst>
          </a:prstGeom>
          <a:solidFill>
            <a:srgbClr val="111827"/>
          </a:solidFill>
          <a:ln w="10160">
            <a:solidFill>
              <a:srgbClr val="334155">
                <a:alpha val="92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3950208"/>
            <a:ext cx="2331720" cy="731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NIST RBAC</a:t>
            </a:r>
            <a:endParaRPr lang="en-US" sz="830" dirty="0"/>
          </a:p>
        </p:txBody>
      </p:sp>
      <p:sp>
        <p:nvSpPr>
          <p:cNvPr id="22" name="Text 20"/>
          <p:cNvSpPr/>
          <p:nvPr/>
        </p:nvSpPr>
        <p:spPr>
          <a:xfrm>
            <a:off x="3520440" y="3950208"/>
            <a:ext cx="7269480" cy="731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and hierarchical RBAC model for role inheritance</a:t>
            </a:r>
            <a:endParaRPr lang="en-US" sz="730" dirty="0"/>
          </a:p>
        </p:txBody>
      </p:sp>
      <p:sp>
        <p:nvSpPr>
          <p:cNvPr id="23" name="Shape 21"/>
          <p:cNvSpPr/>
          <p:nvPr/>
        </p:nvSpPr>
        <p:spPr>
          <a:xfrm>
            <a:off x="658368" y="4334256"/>
            <a:ext cx="10881360" cy="347472"/>
          </a:xfrm>
          <a:prstGeom prst="roundRect">
            <a:avLst>
              <a:gd name="adj" fmla="val 18421"/>
            </a:avLst>
          </a:prstGeom>
          <a:solidFill>
            <a:srgbClr val="0F172A"/>
          </a:solidFill>
          <a:ln w="10160">
            <a:solidFill>
              <a:srgbClr val="334155">
                <a:alpha val="92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4425696"/>
            <a:ext cx="2331720" cy="731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OWASP Authorization Cheat Sheet</a:t>
            </a:r>
            <a:endParaRPr lang="en-US" sz="830" dirty="0"/>
          </a:p>
        </p:txBody>
      </p:sp>
      <p:sp>
        <p:nvSpPr>
          <p:cNvPr id="25" name="Text 23"/>
          <p:cNvSpPr/>
          <p:nvPr/>
        </p:nvSpPr>
        <p:spPr>
          <a:xfrm>
            <a:off x="3520440" y="4425696"/>
            <a:ext cx="7269480" cy="731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Least privilege, deny by default, validate every request</a:t>
            </a:r>
            <a:endParaRPr lang="en-US" sz="730" dirty="0"/>
          </a:p>
        </p:txBody>
      </p:sp>
      <p:sp>
        <p:nvSpPr>
          <p:cNvPr id="26" name="Shape 24"/>
          <p:cNvSpPr/>
          <p:nvPr/>
        </p:nvSpPr>
        <p:spPr>
          <a:xfrm>
            <a:off x="658368" y="4809744"/>
            <a:ext cx="10881360" cy="347472"/>
          </a:xfrm>
          <a:prstGeom prst="roundRect">
            <a:avLst>
              <a:gd name="adj" fmla="val 18421"/>
            </a:avLst>
          </a:prstGeom>
          <a:solidFill>
            <a:srgbClr val="111827"/>
          </a:solidFill>
          <a:ln w="10160">
            <a:solidFill>
              <a:srgbClr val="334155">
                <a:alpha val="92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4901184"/>
            <a:ext cx="2331720" cy="731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GS1 Traceability</a:t>
            </a:r>
            <a:endParaRPr lang="en-US" sz="830" dirty="0"/>
          </a:p>
        </p:txBody>
      </p:sp>
      <p:sp>
        <p:nvSpPr>
          <p:cNvPr id="28" name="Text 26"/>
          <p:cNvSpPr/>
          <p:nvPr/>
        </p:nvSpPr>
        <p:spPr>
          <a:xfrm>
            <a:off x="3520440" y="4901184"/>
            <a:ext cx="7269480" cy="731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Critical Tracking Events and Key Data Elements for lifecycle traceability</a:t>
            </a:r>
            <a:endParaRPr lang="en-US" sz="730" dirty="0"/>
          </a:p>
        </p:txBody>
      </p:sp>
      <p:sp>
        <p:nvSpPr>
          <p:cNvPr id="29" name="Shape 27"/>
          <p:cNvSpPr/>
          <p:nvPr/>
        </p:nvSpPr>
        <p:spPr>
          <a:xfrm>
            <a:off x="658368" y="5285232"/>
            <a:ext cx="10881360" cy="347472"/>
          </a:xfrm>
          <a:prstGeom prst="roundRect">
            <a:avLst>
              <a:gd name="adj" fmla="val 18421"/>
            </a:avLst>
          </a:prstGeom>
          <a:solidFill>
            <a:srgbClr val="0F172A"/>
          </a:solidFill>
          <a:ln w="10160">
            <a:solidFill>
              <a:srgbClr val="334155">
                <a:alpha val="92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5376672"/>
            <a:ext cx="2331720" cy="731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ISA-95</a:t>
            </a:r>
            <a:endParaRPr lang="en-US" sz="830" dirty="0"/>
          </a:p>
        </p:txBody>
      </p:sp>
      <p:sp>
        <p:nvSpPr>
          <p:cNvPr id="31" name="Text 29"/>
          <p:cNvSpPr/>
          <p:nvPr/>
        </p:nvSpPr>
        <p:spPr>
          <a:xfrm>
            <a:off x="3520440" y="5376672"/>
            <a:ext cx="7269480" cy="731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Manufacturing operations management and enterprise-control integration model</a:t>
            </a:r>
            <a:endParaRPr lang="en-US" sz="730" dirty="0"/>
          </a:p>
        </p:txBody>
      </p:sp>
      <p:sp>
        <p:nvSpPr>
          <p:cNvPr id="32" name="Shape 30"/>
          <p:cNvSpPr/>
          <p:nvPr/>
        </p:nvSpPr>
        <p:spPr>
          <a:xfrm>
            <a:off x="438912" y="6446520"/>
            <a:ext cx="11292840" cy="0"/>
          </a:xfrm>
          <a:prstGeom prst="line">
            <a:avLst/>
          </a:prstGeom>
          <a:noFill/>
          <a:ln w="7620">
            <a:solidFill>
              <a:srgbClr val="CBD5E1">
                <a:alpha val="5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8912" y="6565392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Tan90 Manufacturing ERP MVP • Client-ready architecture deck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11228832" y="654710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39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Teslian Tech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Tan90 Client-Ready MVP Architecture — Spaces, Modules, Roles &amp; Features</dc:title>
  <dc:subject>Tan90 Manufacturing ERP MVP Architecture</dc:subject>
  <dc:creator>OpenAI</dc:creator>
  <cp:lastModifiedBy>OpenAI</cp:lastModifiedBy>
  <cp:revision>1</cp:revision>
  <dcterms:created xsi:type="dcterms:W3CDTF">2026-08-03T21:03:17Z</dcterms:created>
  <dcterms:modified xsi:type="dcterms:W3CDTF">2026-08-03T21:03:17Z</dcterms:modified>
</cp:coreProperties>
</file>